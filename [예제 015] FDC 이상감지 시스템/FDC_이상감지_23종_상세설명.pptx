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Default Extension="xlsx" ContentType="application/vnd.openxmlformats-officedocument.spreadsheetml.sheet"/>
  <Default Extension="xlsx" ContentType="application/vnd.openxmlformats-officedocument.spreadsheetml.sheet"/>
  <Default Extension="xlsx" ContentType="application/vnd.openxmlformats-officedocument.spreadsheetml.sheet"/>
  <Default Extension="xlsx" ContentType="application/vnd.openxmlformats-officedocument.spreadsheetml.sheet"/>
  <Default Extension="xlsx" ContentType="application/vnd.openxmlformats-officedocument.spreadsheetml.sheet"/>
  <Default Extension="xlsx" ContentType="application/vnd.openxmlformats-officedocument.spreadsheetml.sheet"/>
  <Default Extension="xlsx" ContentType="application/vnd.openxmlformats-officedocument.spreadsheetml.sheet"/>
  <Default Extension="xlsx" ContentType="application/vnd.openxmlformats-officedocument.spreadsheetml.shee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  <Relationship Id="rId34" Type="http://schemas.openxmlformats.org/officeDocument/2006/relationships/slide" Target="slides/slide28.xml"/>
  <Relationship Id="rId35" Type="http://schemas.openxmlformats.org/officeDocument/2006/relationships/slide" Target="slides/slide29.xml"/>
  <Relationship Id="rId36" Type="http://schemas.openxmlformats.org/officeDocument/2006/relationships/slide" Target="slides/slide30.xml"/>
  <Relationship Id="rId37" Type="http://schemas.openxmlformats.org/officeDocument/2006/relationships/slide" Target="slides/slide31.xml"/>
  <Relationship Id="rId38" Type="http://schemas.openxmlformats.org/officeDocument/2006/relationships/slide" Target="slides/slide32.xml"/>
  <Relationship Id="rId39" Type="http://schemas.openxmlformats.org/officeDocument/2006/relationships/slide" Target="slides/slide33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정상 측정값</c:v>
                </c:pt>
              </c:strCache>
            </c:strRef>
          </c:tx>
          <c:spPr>
            <a:solidFill>
              <a:srgbClr val="3FB9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Sheet1!$A$2:$A$31</c:f>
              <c:multiLvlStrCache>
                <c:ptCount val="30"/>
                <c:lvl>
                  <c:pt idx="0">
                    <c:v>#1</c:v>
                  </c:pt>
                  <c:pt idx="1">
                    <c:v>#2</c:v>
                  </c:pt>
                  <c:pt idx="2">
                    <c:v>#3</c:v>
                  </c:pt>
                  <c:pt idx="3">
                    <c:v>#4</c:v>
                  </c:pt>
                  <c:pt idx="4">
                    <c:v>#5</c:v>
                  </c:pt>
                  <c:pt idx="5">
                    <c:v>#6</c:v>
                  </c:pt>
                  <c:pt idx="6">
                    <c:v>#7</c:v>
                  </c:pt>
                  <c:pt idx="7">
                    <c:v>#8</c:v>
                  </c:pt>
                  <c:pt idx="8">
                    <c:v>#9</c:v>
                  </c:pt>
                  <c:pt idx="9">
                    <c:v>#10</c:v>
                  </c:pt>
                  <c:pt idx="10">
                    <c:v>#11</c:v>
                  </c:pt>
                  <c:pt idx="11">
                    <c:v>#12</c:v>
                  </c:pt>
                  <c:pt idx="12">
                    <c:v>#13</c:v>
                  </c:pt>
                  <c:pt idx="13">
                    <c:v>#14</c:v>
                  </c:pt>
                  <c:pt idx="14">
                    <c:v>#15</c:v>
                  </c:pt>
                  <c:pt idx="15">
                    <c:v>#16</c:v>
                  </c:pt>
                  <c:pt idx="16">
                    <c:v>#17</c:v>
                  </c:pt>
                  <c:pt idx="17">
                    <c:v>#18</c:v>
                  </c:pt>
                  <c:pt idx="18">
                    <c:v>#19</c:v>
                  </c:pt>
                  <c:pt idx="19">
                    <c:v>#20</c:v>
                  </c:pt>
                  <c:pt idx="20">
                    <c:v>#21</c:v>
                  </c:pt>
                  <c:pt idx="21">
                    <c:v>#22</c:v>
                  </c:pt>
                  <c:pt idx="22">
                    <c:v>#23</c:v>
                  </c:pt>
                  <c:pt idx="23">
                    <c:v>#24</c:v>
                  </c:pt>
                  <c:pt idx="24">
                    <c:v>#25</c:v>
                  </c:pt>
                  <c:pt idx="25">
                    <c:v>#26</c:v>
                  </c:pt>
                  <c:pt idx="26">
                    <c:v>#27</c:v>
                  </c:pt>
                  <c:pt idx="27">
                    <c:v>#28</c:v>
                  </c:pt>
                  <c:pt idx="28">
                    <c:v>#29</c:v>
                  </c:pt>
                  <c:pt idx="29">
                    <c:v>#30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100.2</c:v>
                </c:pt>
                <c:pt idx="1">
                  <c:v>99.8</c:v>
                </c:pt>
                <c:pt idx="2">
                  <c:v>100.5</c:v>
                </c:pt>
                <c:pt idx="3">
                  <c:v>101.1</c:v>
                </c:pt>
                <c:pt idx="4">
                  <c:v>99.4</c:v>
                </c:pt>
                <c:pt idx="5">
                  <c:v>100.7</c:v>
                </c:pt>
                <c:pt idx="6">
                  <c:v>0.001</c:v>
                </c:pt>
                <c:pt idx="7">
                  <c:v>100.3</c:v>
                </c:pt>
                <c:pt idx="8">
                  <c:v>99.6</c:v>
                </c:pt>
                <c:pt idx="9">
                  <c:v>101</c:v>
                </c:pt>
                <c:pt idx="10">
                  <c:v>100.1</c:v>
                </c:pt>
                <c:pt idx="11">
                  <c:v>99.7</c:v>
                </c:pt>
                <c:pt idx="12">
                  <c:v>0.001</c:v>
                </c:pt>
                <c:pt idx="13">
                  <c:v>98.8</c:v>
                </c:pt>
                <c:pt idx="14">
                  <c:v>100.6</c:v>
                </c:pt>
                <c:pt idx="15">
                  <c:v>99.3</c:v>
                </c:pt>
                <c:pt idx="16">
                  <c:v>101.2</c:v>
                </c:pt>
                <c:pt idx="17">
                  <c:v>100</c:v>
                </c:pt>
                <c:pt idx="18">
                  <c:v>99.5</c:v>
                </c:pt>
                <c:pt idx="19">
                  <c:v>0.001</c:v>
                </c:pt>
                <c:pt idx="20">
                  <c:v>99.1</c:v>
                </c:pt>
                <c:pt idx="21">
                  <c:v>100.9</c:v>
                </c:pt>
                <c:pt idx="22">
                  <c:v>99.9</c:v>
                </c:pt>
                <c:pt idx="23">
                  <c:v>100.2</c:v>
                </c:pt>
                <c:pt idx="24">
                  <c:v>0.001</c:v>
                </c:pt>
                <c:pt idx="25">
                  <c:v>99.6</c:v>
                </c:pt>
                <c:pt idx="26">
                  <c:v>100.4</c:v>
                </c:pt>
                <c:pt idx="27">
                  <c:v>98.7</c:v>
                </c:pt>
                <c:pt idx="28">
                  <c:v>100.5</c:v>
                </c:pt>
                <c:pt idx="29">
                  <c:v>0.001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이상 측정값</c:v>
                </c:pt>
              </c:strCache>
            </c:strRef>
          </c:tx>
          <c:spPr>
            <a:solidFill>
              <a:srgbClr val="F851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Sheet1!$A$2:$A$31</c:f>
              <c:multiLvlStrCache>
                <c:ptCount val="30"/>
                <c:lvl>
                  <c:pt idx="0">
                    <c:v>#1</c:v>
                  </c:pt>
                  <c:pt idx="1">
                    <c:v>#2</c:v>
                  </c:pt>
                  <c:pt idx="2">
                    <c:v>#3</c:v>
                  </c:pt>
                  <c:pt idx="3">
                    <c:v>#4</c:v>
                  </c:pt>
                  <c:pt idx="4">
                    <c:v>#5</c:v>
                  </c:pt>
                  <c:pt idx="5">
                    <c:v>#6</c:v>
                  </c:pt>
                  <c:pt idx="6">
                    <c:v>#7</c:v>
                  </c:pt>
                  <c:pt idx="7">
                    <c:v>#8</c:v>
                  </c:pt>
                  <c:pt idx="8">
                    <c:v>#9</c:v>
                  </c:pt>
                  <c:pt idx="9">
                    <c:v>#10</c:v>
                  </c:pt>
                  <c:pt idx="10">
                    <c:v>#11</c:v>
                  </c:pt>
                  <c:pt idx="11">
                    <c:v>#12</c:v>
                  </c:pt>
                  <c:pt idx="12">
                    <c:v>#13</c:v>
                  </c:pt>
                  <c:pt idx="13">
                    <c:v>#14</c:v>
                  </c:pt>
                  <c:pt idx="14">
                    <c:v>#15</c:v>
                  </c:pt>
                  <c:pt idx="15">
                    <c:v>#16</c:v>
                  </c:pt>
                  <c:pt idx="16">
                    <c:v>#17</c:v>
                  </c:pt>
                  <c:pt idx="17">
                    <c:v>#18</c:v>
                  </c:pt>
                  <c:pt idx="18">
                    <c:v>#19</c:v>
                  </c:pt>
                  <c:pt idx="19">
                    <c:v>#20</c:v>
                  </c:pt>
                  <c:pt idx="20">
                    <c:v>#21</c:v>
                  </c:pt>
                  <c:pt idx="21">
                    <c:v>#22</c:v>
                  </c:pt>
                  <c:pt idx="22">
                    <c:v>#23</c:v>
                  </c:pt>
                  <c:pt idx="23">
                    <c:v>#24</c:v>
                  </c:pt>
                  <c:pt idx="24">
                    <c:v>#25</c:v>
                  </c:pt>
                  <c:pt idx="25">
                    <c:v>#26</c:v>
                  </c:pt>
                  <c:pt idx="26">
                    <c:v>#27</c:v>
                  </c:pt>
                  <c:pt idx="27">
                    <c:v>#28</c:v>
                  </c:pt>
                  <c:pt idx="28">
                    <c:v>#29</c:v>
                  </c:pt>
                  <c:pt idx="29">
                    <c:v>#30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0.001</c:v>
                </c:pt>
                <c:pt idx="1">
                  <c:v>0.001</c:v>
                </c:pt>
                <c:pt idx="2">
                  <c:v>0.001</c:v>
                </c:pt>
                <c:pt idx="3">
                  <c:v>0.001</c:v>
                </c:pt>
                <c:pt idx="4">
                  <c:v>0.001</c:v>
                </c:pt>
                <c:pt idx="5">
                  <c:v>0.001</c:v>
                </c:pt>
                <c:pt idx="6">
                  <c:v>118.3</c:v>
                </c:pt>
                <c:pt idx="7">
                  <c:v>0.001</c:v>
                </c:pt>
                <c:pt idx="8">
                  <c:v>0.001</c:v>
                </c:pt>
                <c:pt idx="9">
                  <c:v>0.001</c:v>
                </c:pt>
                <c:pt idx="10">
                  <c:v>0.001</c:v>
                </c:pt>
                <c:pt idx="11">
                  <c:v>0.001</c:v>
                </c:pt>
                <c:pt idx="12">
                  <c:v>76.4</c:v>
                </c:pt>
                <c:pt idx="13">
                  <c:v>0.001</c:v>
                </c:pt>
                <c:pt idx="14">
                  <c:v>0.001</c:v>
                </c:pt>
                <c:pt idx="15">
                  <c:v>0.001</c:v>
                </c:pt>
                <c:pt idx="16">
                  <c:v>0.001</c:v>
                </c:pt>
                <c:pt idx="17">
                  <c:v>0.001</c:v>
                </c:pt>
                <c:pt idx="18">
                  <c:v>0.001</c:v>
                </c:pt>
                <c:pt idx="19">
                  <c:v>122.7</c:v>
                </c:pt>
                <c:pt idx="20">
                  <c:v>0.001</c:v>
                </c:pt>
                <c:pt idx="21">
                  <c:v>0.001</c:v>
                </c:pt>
                <c:pt idx="22">
                  <c:v>0.001</c:v>
                </c:pt>
                <c:pt idx="23">
                  <c:v>0.001</c:v>
                </c:pt>
                <c:pt idx="24">
                  <c:v>80.1</c:v>
                </c:pt>
                <c:pt idx="25">
                  <c:v>0.001</c:v>
                </c:pt>
                <c:pt idx="26">
                  <c:v>0.001</c:v>
                </c:pt>
                <c:pt idx="27">
                  <c:v>0.001</c:v>
                </c:pt>
                <c:pt idx="28">
                  <c:v>0.001</c:v>
                </c:pt>
                <c:pt idx="29">
                  <c:v>119.5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70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정상 점수</c:v>
                </c:pt>
              </c:strCache>
            </c:strRef>
          </c:tx>
          <c:spPr>
            <a:solidFill>
              <a:srgbClr val="8B94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Sheet1!$A$2:$A$31</c:f>
              <c:multiLvlStrCache>
                <c:ptCount val="30"/>
                <c:lvl>
                  <c:pt idx="0">
                    <c:v>#1</c:v>
                  </c:pt>
                  <c:pt idx="1">
                    <c:v>#2</c:v>
                  </c:pt>
                  <c:pt idx="2">
                    <c:v>#3</c:v>
                  </c:pt>
                  <c:pt idx="3">
                    <c:v>#4</c:v>
                  </c:pt>
                  <c:pt idx="4">
                    <c:v>#5</c:v>
                  </c:pt>
                  <c:pt idx="5">
                    <c:v>#6</c:v>
                  </c:pt>
                  <c:pt idx="6">
                    <c:v>#7</c:v>
                  </c:pt>
                  <c:pt idx="7">
                    <c:v>#8</c:v>
                  </c:pt>
                  <c:pt idx="8">
                    <c:v>#9</c:v>
                  </c:pt>
                  <c:pt idx="9">
                    <c:v>#10</c:v>
                  </c:pt>
                  <c:pt idx="10">
                    <c:v>#11</c:v>
                  </c:pt>
                  <c:pt idx="11">
                    <c:v>#12</c:v>
                  </c:pt>
                  <c:pt idx="12">
                    <c:v>#13</c:v>
                  </c:pt>
                  <c:pt idx="13">
                    <c:v>#14</c:v>
                  </c:pt>
                  <c:pt idx="14">
                    <c:v>#15</c:v>
                  </c:pt>
                  <c:pt idx="15">
                    <c:v>#16</c:v>
                  </c:pt>
                  <c:pt idx="16">
                    <c:v>#17</c:v>
                  </c:pt>
                  <c:pt idx="17">
                    <c:v>#18</c:v>
                  </c:pt>
                  <c:pt idx="18">
                    <c:v>#19</c:v>
                  </c:pt>
                  <c:pt idx="19">
                    <c:v>#20</c:v>
                  </c:pt>
                  <c:pt idx="20">
                    <c:v>#21</c:v>
                  </c:pt>
                  <c:pt idx="21">
                    <c:v>#22</c:v>
                  </c:pt>
                  <c:pt idx="22">
                    <c:v>#23</c:v>
                  </c:pt>
                  <c:pt idx="23">
                    <c:v>#24</c:v>
                  </c:pt>
                  <c:pt idx="24">
                    <c:v>#25</c:v>
                  </c:pt>
                  <c:pt idx="25">
                    <c:v>#26</c:v>
                  </c:pt>
                  <c:pt idx="26">
                    <c:v>#27</c:v>
                  </c:pt>
                  <c:pt idx="27">
                    <c:v>#28</c:v>
                  </c:pt>
                  <c:pt idx="28">
                    <c:v>#29</c:v>
                  </c:pt>
                  <c:pt idx="29">
                    <c:v>#30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-0.054</c:v>
                </c:pt>
                <c:pt idx="1">
                  <c:v>-0.056</c:v>
                </c:pt>
                <c:pt idx="2">
                  <c:v>-0.075</c:v>
                </c:pt>
                <c:pt idx="3">
                  <c:v>-0.06</c:v>
                </c:pt>
                <c:pt idx="4">
                  <c:v>-0.055</c:v>
                </c:pt>
                <c:pt idx="5">
                  <c:v>-0.051</c:v>
                </c:pt>
                <c:pt idx="6">
                  <c:v>-0.001</c:v>
                </c:pt>
                <c:pt idx="7">
                  <c:v>-0.082</c:v>
                </c:pt>
                <c:pt idx="8">
                  <c:v>-0.077</c:v>
                </c:pt>
                <c:pt idx="9">
                  <c:v>-0.081</c:v>
                </c:pt>
                <c:pt idx="10">
                  <c:v>-0.056</c:v>
                </c:pt>
                <c:pt idx="11">
                  <c:v>-0.093</c:v>
                </c:pt>
                <c:pt idx="12">
                  <c:v>-0.001</c:v>
                </c:pt>
                <c:pt idx="13">
                  <c:v>-0.064</c:v>
                </c:pt>
                <c:pt idx="14">
                  <c:v>-0.061</c:v>
                </c:pt>
                <c:pt idx="15">
                  <c:v>-0.081</c:v>
                </c:pt>
                <c:pt idx="16">
                  <c:v>-0.093</c:v>
                </c:pt>
                <c:pt idx="17">
                  <c:v>-0.077</c:v>
                </c:pt>
                <c:pt idx="18">
                  <c:v>-0.054</c:v>
                </c:pt>
                <c:pt idx="19">
                  <c:v>-0.001</c:v>
                </c:pt>
                <c:pt idx="20">
                  <c:v>-0.061</c:v>
                </c:pt>
                <c:pt idx="21">
                  <c:v>-0.099</c:v>
                </c:pt>
                <c:pt idx="22">
                  <c:v>-0.098</c:v>
                </c:pt>
                <c:pt idx="23">
                  <c:v>-0.057</c:v>
                </c:pt>
                <c:pt idx="24">
                  <c:v>-0.001</c:v>
                </c:pt>
                <c:pt idx="25">
                  <c:v>-0.096</c:v>
                </c:pt>
                <c:pt idx="26">
                  <c:v>-0.09</c:v>
                </c:pt>
                <c:pt idx="27">
                  <c:v>-0.058</c:v>
                </c:pt>
                <c:pt idx="28">
                  <c:v>-0.11</c:v>
                </c:pt>
                <c:pt idx="29">
                  <c:v>-0.001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이상 점수</c:v>
                </c:pt>
              </c:strCache>
            </c:strRef>
          </c:tx>
          <c:spPr>
            <a:solidFill>
              <a:srgbClr val="F851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Sheet1!$A$2:$A$31</c:f>
              <c:multiLvlStrCache>
                <c:ptCount val="30"/>
                <c:lvl>
                  <c:pt idx="0">
                    <c:v>#1</c:v>
                  </c:pt>
                  <c:pt idx="1">
                    <c:v>#2</c:v>
                  </c:pt>
                  <c:pt idx="2">
                    <c:v>#3</c:v>
                  </c:pt>
                  <c:pt idx="3">
                    <c:v>#4</c:v>
                  </c:pt>
                  <c:pt idx="4">
                    <c:v>#5</c:v>
                  </c:pt>
                  <c:pt idx="5">
                    <c:v>#6</c:v>
                  </c:pt>
                  <c:pt idx="6">
                    <c:v>#7</c:v>
                  </c:pt>
                  <c:pt idx="7">
                    <c:v>#8</c:v>
                  </c:pt>
                  <c:pt idx="8">
                    <c:v>#9</c:v>
                  </c:pt>
                  <c:pt idx="9">
                    <c:v>#10</c:v>
                  </c:pt>
                  <c:pt idx="10">
                    <c:v>#11</c:v>
                  </c:pt>
                  <c:pt idx="11">
                    <c:v>#12</c:v>
                  </c:pt>
                  <c:pt idx="12">
                    <c:v>#13</c:v>
                  </c:pt>
                  <c:pt idx="13">
                    <c:v>#14</c:v>
                  </c:pt>
                  <c:pt idx="14">
                    <c:v>#15</c:v>
                  </c:pt>
                  <c:pt idx="15">
                    <c:v>#16</c:v>
                  </c:pt>
                  <c:pt idx="16">
                    <c:v>#17</c:v>
                  </c:pt>
                  <c:pt idx="17">
                    <c:v>#18</c:v>
                  </c:pt>
                  <c:pt idx="18">
                    <c:v>#19</c:v>
                  </c:pt>
                  <c:pt idx="19">
                    <c:v>#20</c:v>
                  </c:pt>
                  <c:pt idx="20">
                    <c:v>#21</c:v>
                  </c:pt>
                  <c:pt idx="21">
                    <c:v>#22</c:v>
                  </c:pt>
                  <c:pt idx="22">
                    <c:v>#23</c:v>
                  </c:pt>
                  <c:pt idx="23">
                    <c:v>#24</c:v>
                  </c:pt>
                  <c:pt idx="24">
                    <c:v>#25</c:v>
                  </c:pt>
                  <c:pt idx="25">
                    <c:v>#26</c:v>
                  </c:pt>
                  <c:pt idx="26">
                    <c:v>#27</c:v>
                  </c:pt>
                  <c:pt idx="27">
                    <c:v>#28</c:v>
                  </c:pt>
                  <c:pt idx="28">
                    <c:v>#29</c:v>
                  </c:pt>
                  <c:pt idx="29">
                    <c:v>#30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-0.001</c:v>
                </c:pt>
                <c:pt idx="1">
                  <c:v>-0.001</c:v>
                </c:pt>
                <c:pt idx="2">
                  <c:v>-0.001</c:v>
                </c:pt>
                <c:pt idx="3">
                  <c:v>-0.001</c:v>
                </c:pt>
                <c:pt idx="4">
                  <c:v>-0.001</c:v>
                </c:pt>
                <c:pt idx="5">
                  <c:v>-0.001</c:v>
                </c:pt>
                <c:pt idx="6">
                  <c:v>-0.39</c:v>
                </c:pt>
                <c:pt idx="7">
                  <c:v>-0.001</c:v>
                </c:pt>
                <c:pt idx="8">
                  <c:v>-0.001</c:v>
                </c:pt>
                <c:pt idx="9">
                  <c:v>-0.001</c:v>
                </c:pt>
                <c:pt idx="10">
                  <c:v>-0.001</c:v>
                </c:pt>
                <c:pt idx="11">
                  <c:v>-0.001</c:v>
                </c:pt>
                <c:pt idx="12">
                  <c:v>-0.36</c:v>
                </c:pt>
                <c:pt idx="13">
                  <c:v>-0.001</c:v>
                </c:pt>
                <c:pt idx="14">
                  <c:v>-0.001</c:v>
                </c:pt>
                <c:pt idx="15">
                  <c:v>-0.001</c:v>
                </c:pt>
                <c:pt idx="16">
                  <c:v>-0.001</c:v>
                </c:pt>
                <c:pt idx="17">
                  <c:v>-0.001</c:v>
                </c:pt>
                <c:pt idx="18">
                  <c:v>-0.001</c:v>
                </c:pt>
                <c:pt idx="19">
                  <c:v>-0.355</c:v>
                </c:pt>
                <c:pt idx="20">
                  <c:v>-0.001</c:v>
                </c:pt>
                <c:pt idx="21">
                  <c:v>-0.001</c:v>
                </c:pt>
                <c:pt idx="22">
                  <c:v>-0.001</c:v>
                </c:pt>
                <c:pt idx="23">
                  <c:v>-0.001</c:v>
                </c:pt>
                <c:pt idx="24">
                  <c:v>-0.358</c:v>
                </c:pt>
                <c:pt idx="25">
                  <c:v>-0.001</c:v>
                </c:pt>
                <c:pt idx="26">
                  <c:v>-0.001</c:v>
                </c:pt>
                <c:pt idx="27">
                  <c:v>-0.001</c:v>
                </c:pt>
                <c:pt idx="28">
                  <c:v>-0.001</c:v>
                </c:pt>
                <c:pt idx="29">
                  <c:v>-0.412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정상 측정값</c:v>
                </c:pt>
              </c:strCache>
            </c:strRef>
          </c:tx>
          <c:spPr>
            <a:solidFill>
              <a:srgbClr val="39D3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Sheet1!$A$2:$A$31</c:f>
              <c:multiLvlStrCache>
                <c:ptCount val="30"/>
                <c:lvl>
                  <c:pt idx="0">
                    <c:v>#1</c:v>
                  </c:pt>
                  <c:pt idx="1">
                    <c:v>#2</c:v>
                  </c:pt>
                  <c:pt idx="2">
                    <c:v>#3</c:v>
                  </c:pt>
                  <c:pt idx="3">
                    <c:v>#4</c:v>
                  </c:pt>
                  <c:pt idx="4">
                    <c:v>#5</c:v>
                  </c:pt>
                  <c:pt idx="5">
                    <c:v>#6</c:v>
                  </c:pt>
                  <c:pt idx="6">
                    <c:v>#7</c:v>
                  </c:pt>
                  <c:pt idx="7">
                    <c:v>#8</c:v>
                  </c:pt>
                  <c:pt idx="8">
                    <c:v>#9</c:v>
                  </c:pt>
                  <c:pt idx="9">
                    <c:v>#10</c:v>
                  </c:pt>
                  <c:pt idx="10">
                    <c:v>#11</c:v>
                  </c:pt>
                  <c:pt idx="11">
                    <c:v>#12</c:v>
                  </c:pt>
                  <c:pt idx="12">
                    <c:v>#13</c:v>
                  </c:pt>
                  <c:pt idx="13">
                    <c:v>#14</c:v>
                  </c:pt>
                  <c:pt idx="14">
                    <c:v>#15</c:v>
                  </c:pt>
                  <c:pt idx="15">
                    <c:v>#16</c:v>
                  </c:pt>
                  <c:pt idx="16">
                    <c:v>#17</c:v>
                  </c:pt>
                  <c:pt idx="17">
                    <c:v>#18</c:v>
                  </c:pt>
                  <c:pt idx="18">
                    <c:v>#19</c:v>
                  </c:pt>
                  <c:pt idx="19">
                    <c:v>#20</c:v>
                  </c:pt>
                  <c:pt idx="20">
                    <c:v>#21</c:v>
                  </c:pt>
                  <c:pt idx="21">
                    <c:v>#22</c:v>
                  </c:pt>
                  <c:pt idx="22">
                    <c:v>#23</c:v>
                  </c:pt>
                  <c:pt idx="23">
                    <c:v>#24</c:v>
                  </c:pt>
                  <c:pt idx="24">
                    <c:v>#25</c:v>
                  </c:pt>
                  <c:pt idx="25">
                    <c:v>#26</c:v>
                  </c:pt>
                  <c:pt idx="26">
                    <c:v>#27</c:v>
                  </c:pt>
                  <c:pt idx="27">
                    <c:v>#28</c:v>
                  </c:pt>
                  <c:pt idx="28">
                    <c:v>#29</c:v>
                  </c:pt>
                  <c:pt idx="29">
                    <c:v>#30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100.2</c:v>
                </c:pt>
                <c:pt idx="1">
                  <c:v>99.8</c:v>
                </c:pt>
                <c:pt idx="2">
                  <c:v>100.5</c:v>
                </c:pt>
                <c:pt idx="3">
                  <c:v>101.1</c:v>
                </c:pt>
                <c:pt idx="4">
                  <c:v>99.4</c:v>
                </c:pt>
                <c:pt idx="5">
                  <c:v>100.7</c:v>
                </c:pt>
                <c:pt idx="6">
                  <c:v>0.001</c:v>
                </c:pt>
                <c:pt idx="7">
                  <c:v>100.3</c:v>
                </c:pt>
                <c:pt idx="8">
                  <c:v>99.6</c:v>
                </c:pt>
                <c:pt idx="9">
                  <c:v>101</c:v>
                </c:pt>
                <c:pt idx="10">
                  <c:v>100.1</c:v>
                </c:pt>
                <c:pt idx="11">
                  <c:v>99.7</c:v>
                </c:pt>
                <c:pt idx="12">
                  <c:v>0.001</c:v>
                </c:pt>
                <c:pt idx="13">
                  <c:v>98.8</c:v>
                </c:pt>
                <c:pt idx="14">
                  <c:v>100.6</c:v>
                </c:pt>
                <c:pt idx="15">
                  <c:v>99.3</c:v>
                </c:pt>
                <c:pt idx="16">
                  <c:v>101.2</c:v>
                </c:pt>
                <c:pt idx="17">
                  <c:v>100</c:v>
                </c:pt>
                <c:pt idx="18">
                  <c:v>99.5</c:v>
                </c:pt>
                <c:pt idx="19">
                  <c:v>0.001</c:v>
                </c:pt>
                <c:pt idx="20">
                  <c:v>99.1</c:v>
                </c:pt>
                <c:pt idx="21">
                  <c:v>100.9</c:v>
                </c:pt>
                <c:pt idx="22">
                  <c:v>99.9</c:v>
                </c:pt>
                <c:pt idx="23">
                  <c:v>100.2</c:v>
                </c:pt>
                <c:pt idx="24">
                  <c:v>0.001</c:v>
                </c:pt>
                <c:pt idx="25">
                  <c:v>99.6</c:v>
                </c:pt>
                <c:pt idx="26">
                  <c:v>100.4</c:v>
                </c:pt>
                <c:pt idx="27">
                  <c:v>98.7</c:v>
                </c:pt>
                <c:pt idx="28">
                  <c:v>100.5</c:v>
                </c:pt>
                <c:pt idx="29">
                  <c:v>0.001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이상 측정값</c:v>
                </c:pt>
              </c:strCache>
            </c:strRef>
          </c:tx>
          <c:spPr>
            <a:solidFill>
              <a:srgbClr val="F851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Sheet1!$A$2:$A$31</c:f>
              <c:multiLvlStrCache>
                <c:ptCount val="30"/>
                <c:lvl>
                  <c:pt idx="0">
                    <c:v>#1</c:v>
                  </c:pt>
                  <c:pt idx="1">
                    <c:v>#2</c:v>
                  </c:pt>
                  <c:pt idx="2">
                    <c:v>#3</c:v>
                  </c:pt>
                  <c:pt idx="3">
                    <c:v>#4</c:v>
                  </c:pt>
                  <c:pt idx="4">
                    <c:v>#5</c:v>
                  </c:pt>
                  <c:pt idx="5">
                    <c:v>#6</c:v>
                  </c:pt>
                  <c:pt idx="6">
                    <c:v>#7</c:v>
                  </c:pt>
                  <c:pt idx="7">
                    <c:v>#8</c:v>
                  </c:pt>
                  <c:pt idx="8">
                    <c:v>#9</c:v>
                  </c:pt>
                  <c:pt idx="9">
                    <c:v>#10</c:v>
                  </c:pt>
                  <c:pt idx="10">
                    <c:v>#11</c:v>
                  </c:pt>
                  <c:pt idx="11">
                    <c:v>#12</c:v>
                  </c:pt>
                  <c:pt idx="12">
                    <c:v>#13</c:v>
                  </c:pt>
                  <c:pt idx="13">
                    <c:v>#14</c:v>
                  </c:pt>
                  <c:pt idx="14">
                    <c:v>#15</c:v>
                  </c:pt>
                  <c:pt idx="15">
                    <c:v>#16</c:v>
                  </c:pt>
                  <c:pt idx="16">
                    <c:v>#17</c:v>
                  </c:pt>
                  <c:pt idx="17">
                    <c:v>#18</c:v>
                  </c:pt>
                  <c:pt idx="18">
                    <c:v>#19</c:v>
                  </c:pt>
                  <c:pt idx="19">
                    <c:v>#20</c:v>
                  </c:pt>
                  <c:pt idx="20">
                    <c:v>#21</c:v>
                  </c:pt>
                  <c:pt idx="21">
                    <c:v>#22</c:v>
                  </c:pt>
                  <c:pt idx="22">
                    <c:v>#23</c:v>
                  </c:pt>
                  <c:pt idx="23">
                    <c:v>#24</c:v>
                  </c:pt>
                  <c:pt idx="24">
                    <c:v>#25</c:v>
                  </c:pt>
                  <c:pt idx="25">
                    <c:v>#26</c:v>
                  </c:pt>
                  <c:pt idx="26">
                    <c:v>#27</c:v>
                  </c:pt>
                  <c:pt idx="27">
                    <c:v>#28</c:v>
                  </c:pt>
                  <c:pt idx="28">
                    <c:v>#29</c:v>
                  </c:pt>
                  <c:pt idx="29">
                    <c:v>#30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0.001</c:v>
                </c:pt>
                <c:pt idx="1">
                  <c:v>0.001</c:v>
                </c:pt>
                <c:pt idx="2">
                  <c:v>0.001</c:v>
                </c:pt>
                <c:pt idx="3">
                  <c:v>0.001</c:v>
                </c:pt>
                <c:pt idx="4">
                  <c:v>0.001</c:v>
                </c:pt>
                <c:pt idx="5">
                  <c:v>0.001</c:v>
                </c:pt>
                <c:pt idx="6">
                  <c:v>118.3</c:v>
                </c:pt>
                <c:pt idx="7">
                  <c:v>0.001</c:v>
                </c:pt>
                <c:pt idx="8">
                  <c:v>0.001</c:v>
                </c:pt>
                <c:pt idx="9">
                  <c:v>0.001</c:v>
                </c:pt>
                <c:pt idx="10">
                  <c:v>0.001</c:v>
                </c:pt>
                <c:pt idx="11">
                  <c:v>0.001</c:v>
                </c:pt>
                <c:pt idx="12">
                  <c:v>76.4</c:v>
                </c:pt>
                <c:pt idx="13">
                  <c:v>0.001</c:v>
                </c:pt>
                <c:pt idx="14">
                  <c:v>0.001</c:v>
                </c:pt>
                <c:pt idx="15">
                  <c:v>0.001</c:v>
                </c:pt>
                <c:pt idx="16">
                  <c:v>0.001</c:v>
                </c:pt>
                <c:pt idx="17">
                  <c:v>0.001</c:v>
                </c:pt>
                <c:pt idx="18">
                  <c:v>0.001</c:v>
                </c:pt>
                <c:pt idx="19">
                  <c:v>122.7</c:v>
                </c:pt>
                <c:pt idx="20">
                  <c:v>0.001</c:v>
                </c:pt>
                <c:pt idx="21">
                  <c:v>0.001</c:v>
                </c:pt>
                <c:pt idx="22">
                  <c:v>0.001</c:v>
                </c:pt>
                <c:pt idx="23">
                  <c:v>0.001</c:v>
                </c:pt>
                <c:pt idx="24">
                  <c:v>80.1</c:v>
                </c:pt>
                <c:pt idx="25">
                  <c:v>0.001</c:v>
                </c:pt>
                <c:pt idx="26">
                  <c:v>0.001</c:v>
                </c:pt>
                <c:pt idx="27">
                  <c:v>0.001</c:v>
                </c:pt>
                <c:pt idx="28">
                  <c:v>0.001</c:v>
                </c:pt>
                <c:pt idx="29">
                  <c:v>119.5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70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정상 LOF</c:v>
                </c:pt>
              </c:strCache>
            </c:strRef>
          </c:tx>
          <c:spPr>
            <a:solidFill>
              <a:srgbClr val="39D3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Sheet1!$A$2:$A$31</c:f>
              <c:multiLvlStrCache>
                <c:ptCount val="30"/>
                <c:lvl>
                  <c:pt idx="0">
                    <c:v>#1</c:v>
                  </c:pt>
                  <c:pt idx="1">
                    <c:v>#2</c:v>
                  </c:pt>
                  <c:pt idx="2">
                    <c:v>#3</c:v>
                  </c:pt>
                  <c:pt idx="3">
                    <c:v>#4</c:v>
                  </c:pt>
                  <c:pt idx="4">
                    <c:v>#5</c:v>
                  </c:pt>
                  <c:pt idx="5">
                    <c:v>#6</c:v>
                  </c:pt>
                  <c:pt idx="6">
                    <c:v>#7</c:v>
                  </c:pt>
                  <c:pt idx="7">
                    <c:v>#8</c:v>
                  </c:pt>
                  <c:pt idx="8">
                    <c:v>#9</c:v>
                  </c:pt>
                  <c:pt idx="9">
                    <c:v>#10</c:v>
                  </c:pt>
                  <c:pt idx="10">
                    <c:v>#11</c:v>
                  </c:pt>
                  <c:pt idx="11">
                    <c:v>#12</c:v>
                  </c:pt>
                  <c:pt idx="12">
                    <c:v>#13</c:v>
                  </c:pt>
                  <c:pt idx="13">
                    <c:v>#14</c:v>
                  </c:pt>
                  <c:pt idx="14">
                    <c:v>#15</c:v>
                  </c:pt>
                  <c:pt idx="15">
                    <c:v>#16</c:v>
                  </c:pt>
                  <c:pt idx="16">
                    <c:v>#17</c:v>
                  </c:pt>
                  <c:pt idx="17">
                    <c:v>#18</c:v>
                  </c:pt>
                  <c:pt idx="18">
                    <c:v>#19</c:v>
                  </c:pt>
                  <c:pt idx="19">
                    <c:v>#20</c:v>
                  </c:pt>
                  <c:pt idx="20">
                    <c:v>#21</c:v>
                  </c:pt>
                  <c:pt idx="21">
                    <c:v>#22</c:v>
                  </c:pt>
                  <c:pt idx="22">
                    <c:v>#23</c:v>
                  </c:pt>
                  <c:pt idx="23">
                    <c:v>#24</c:v>
                  </c:pt>
                  <c:pt idx="24">
                    <c:v>#25</c:v>
                  </c:pt>
                  <c:pt idx="25">
                    <c:v>#26</c:v>
                  </c:pt>
                  <c:pt idx="26">
                    <c:v>#27</c:v>
                  </c:pt>
                  <c:pt idx="27">
                    <c:v>#28</c:v>
                  </c:pt>
                  <c:pt idx="28">
                    <c:v>#29</c:v>
                  </c:pt>
                  <c:pt idx="29">
                    <c:v>#30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-0.91</c:v>
                </c:pt>
                <c:pt idx="1">
                  <c:v>-0.94</c:v>
                </c:pt>
                <c:pt idx="2">
                  <c:v>-1.04</c:v>
                </c:pt>
                <c:pt idx="3">
                  <c:v>-0.97</c:v>
                </c:pt>
                <c:pt idx="4">
                  <c:v>-0.88</c:v>
                </c:pt>
                <c:pt idx="5">
                  <c:v>-0.85</c:v>
                </c:pt>
                <c:pt idx="6">
                  <c:v>-0.001</c:v>
                </c:pt>
                <c:pt idx="7">
                  <c:v>-0.92</c:v>
                </c:pt>
                <c:pt idx="8">
                  <c:v>-1.02</c:v>
                </c:pt>
                <c:pt idx="9">
                  <c:v>-1.04</c:v>
                </c:pt>
                <c:pt idx="10">
                  <c:v>-1.03</c:v>
                </c:pt>
                <c:pt idx="11">
                  <c:v>-0.96</c:v>
                </c:pt>
                <c:pt idx="12">
                  <c:v>-0.001</c:v>
                </c:pt>
                <c:pt idx="13">
                  <c:v>-0.93</c:v>
                </c:pt>
                <c:pt idx="14">
                  <c:v>-1.05</c:v>
                </c:pt>
                <c:pt idx="15">
                  <c:v>-0.85</c:v>
                </c:pt>
                <c:pt idx="16">
                  <c:v>-0.88</c:v>
                </c:pt>
                <c:pt idx="17">
                  <c:v>-0.99</c:v>
                </c:pt>
                <c:pt idx="18">
                  <c:v>-0.9</c:v>
                </c:pt>
                <c:pt idx="19">
                  <c:v>-0.001</c:v>
                </c:pt>
                <c:pt idx="20">
                  <c:v>-0.97</c:v>
                </c:pt>
                <c:pt idx="21">
                  <c:v>-0.86</c:v>
                </c:pt>
                <c:pt idx="22">
                  <c:v>-0.93</c:v>
                </c:pt>
                <c:pt idx="23">
                  <c:v>-1</c:v>
                </c:pt>
                <c:pt idx="24">
                  <c:v>-0.001</c:v>
                </c:pt>
                <c:pt idx="25">
                  <c:v>-1</c:v>
                </c:pt>
                <c:pt idx="26">
                  <c:v>-1.01</c:v>
                </c:pt>
                <c:pt idx="27">
                  <c:v>-0.99</c:v>
                </c:pt>
                <c:pt idx="28">
                  <c:v>-0.93</c:v>
                </c:pt>
                <c:pt idx="29">
                  <c:v>-0.001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이상 LOF</c:v>
                </c:pt>
              </c:strCache>
            </c:strRef>
          </c:tx>
          <c:spPr>
            <a:solidFill>
              <a:srgbClr val="F851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Sheet1!$A$2:$A$31</c:f>
              <c:multiLvlStrCache>
                <c:ptCount val="30"/>
                <c:lvl>
                  <c:pt idx="0">
                    <c:v>#1</c:v>
                  </c:pt>
                  <c:pt idx="1">
                    <c:v>#2</c:v>
                  </c:pt>
                  <c:pt idx="2">
                    <c:v>#3</c:v>
                  </c:pt>
                  <c:pt idx="3">
                    <c:v>#4</c:v>
                  </c:pt>
                  <c:pt idx="4">
                    <c:v>#5</c:v>
                  </c:pt>
                  <c:pt idx="5">
                    <c:v>#6</c:v>
                  </c:pt>
                  <c:pt idx="6">
                    <c:v>#7</c:v>
                  </c:pt>
                  <c:pt idx="7">
                    <c:v>#8</c:v>
                  </c:pt>
                  <c:pt idx="8">
                    <c:v>#9</c:v>
                  </c:pt>
                  <c:pt idx="9">
                    <c:v>#10</c:v>
                  </c:pt>
                  <c:pt idx="10">
                    <c:v>#11</c:v>
                  </c:pt>
                  <c:pt idx="11">
                    <c:v>#12</c:v>
                  </c:pt>
                  <c:pt idx="12">
                    <c:v>#13</c:v>
                  </c:pt>
                  <c:pt idx="13">
                    <c:v>#14</c:v>
                  </c:pt>
                  <c:pt idx="14">
                    <c:v>#15</c:v>
                  </c:pt>
                  <c:pt idx="15">
                    <c:v>#16</c:v>
                  </c:pt>
                  <c:pt idx="16">
                    <c:v>#17</c:v>
                  </c:pt>
                  <c:pt idx="17">
                    <c:v>#18</c:v>
                  </c:pt>
                  <c:pt idx="18">
                    <c:v>#19</c:v>
                  </c:pt>
                  <c:pt idx="19">
                    <c:v>#20</c:v>
                  </c:pt>
                  <c:pt idx="20">
                    <c:v>#21</c:v>
                  </c:pt>
                  <c:pt idx="21">
                    <c:v>#22</c:v>
                  </c:pt>
                  <c:pt idx="22">
                    <c:v>#23</c:v>
                  </c:pt>
                  <c:pt idx="23">
                    <c:v>#24</c:v>
                  </c:pt>
                  <c:pt idx="24">
                    <c:v>#25</c:v>
                  </c:pt>
                  <c:pt idx="25">
                    <c:v>#26</c:v>
                  </c:pt>
                  <c:pt idx="26">
                    <c:v>#27</c:v>
                  </c:pt>
                  <c:pt idx="27">
                    <c:v>#28</c:v>
                  </c:pt>
                  <c:pt idx="28">
                    <c:v>#29</c:v>
                  </c:pt>
                  <c:pt idx="29">
                    <c:v>#30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-0.001</c:v>
                </c:pt>
                <c:pt idx="1">
                  <c:v>-0.001</c:v>
                </c:pt>
                <c:pt idx="2">
                  <c:v>-0.001</c:v>
                </c:pt>
                <c:pt idx="3">
                  <c:v>-0.001</c:v>
                </c:pt>
                <c:pt idx="4">
                  <c:v>-0.001</c:v>
                </c:pt>
                <c:pt idx="5">
                  <c:v>-0.001</c:v>
                </c:pt>
                <c:pt idx="6">
                  <c:v>-2.87</c:v>
                </c:pt>
                <c:pt idx="7">
                  <c:v>-0.001</c:v>
                </c:pt>
                <c:pt idx="8">
                  <c:v>-0.001</c:v>
                </c:pt>
                <c:pt idx="9">
                  <c:v>-0.001</c:v>
                </c:pt>
                <c:pt idx="10">
                  <c:v>-0.001</c:v>
                </c:pt>
                <c:pt idx="11">
                  <c:v>-0.001</c:v>
                </c:pt>
                <c:pt idx="12">
                  <c:v>-3.11</c:v>
                </c:pt>
                <c:pt idx="13">
                  <c:v>-0.001</c:v>
                </c:pt>
                <c:pt idx="14">
                  <c:v>-0.001</c:v>
                </c:pt>
                <c:pt idx="15">
                  <c:v>-0.001</c:v>
                </c:pt>
                <c:pt idx="16">
                  <c:v>-0.001</c:v>
                </c:pt>
                <c:pt idx="17">
                  <c:v>-0.001</c:v>
                </c:pt>
                <c:pt idx="18">
                  <c:v>-0.001</c:v>
                </c:pt>
                <c:pt idx="19">
                  <c:v>-2.9</c:v>
                </c:pt>
                <c:pt idx="20">
                  <c:v>-0.001</c:v>
                </c:pt>
                <c:pt idx="21">
                  <c:v>-0.001</c:v>
                </c:pt>
                <c:pt idx="22">
                  <c:v>-0.001</c:v>
                </c:pt>
                <c:pt idx="23">
                  <c:v>-0.001</c:v>
                </c:pt>
                <c:pt idx="24">
                  <c:v>-3.43</c:v>
                </c:pt>
                <c:pt idx="25">
                  <c:v>-0.001</c:v>
                </c:pt>
                <c:pt idx="26">
                  <c:v>-0.001</c:v>
                </c:pt>
                <c:pt idx="27">
                  <c:v>-0.001</c:v>
                </c:pt>
                <c:pt idx="28">
                  <c:v>-0.001</c:v>
                </c:pt>
                <c:pt idx="29">
                  <c:v>-3.2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정상 측정값</c:v>
                </c:pt>
              </c:strCache>
            </c:strRef>
          </c:tx>
          <c:spPr>
            <a:solidFill>
              <a:srgbClr val="FF8C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Sheet1!$A$2:$A$31</c:f>
              <c:multiLvlStrCache>
                <c:ptCount val="30"/>
                <c:lvl>
                  <c:pt idx="0">
                    <c:v>#1</c:v>
                  </c:pt>
                  <c:pt idx="1">
                    <c:v>#2</c:v>
                  </c:pt>
                  <c:pt idx="2">
                    <c:v>#3</c:v>
                  </c:pt>
                  <c:pt idx="3">
                    <c:v>#4</c:v>
                  </c:pt>
                  <c:pt idx="4">
                    <c:v>#5</c:v>
                  </c:pt>
                  <c:pt idx="5">
                    <c:v>#6</c:v>
                  </c:pt>
                  <c:pt idx="6">
                    <c:v>#7</c:v>
                  </c:pt>
                  <c:pt idx="7">
                    <c:v>#8</c:v>
                  </c:pt>
                  <c:pt idx="8">
                    <c:v>#9</c:v>
                  </c:pt>
                  <c:pt idx="9">
                    <c:v>#10</c:v>
                  </c:pt>
                  <c:pt idx="10">
                    <c:v>#11</c:v>
                  </c:pt>
                  <c:pt idx="11">
                    <c:v>#12</c:v>
                  </c:pt>
                  <c:pt idx="12">
                    <c:v>#13</c:v>
                  </c:pt>
                  <c:pt idx="13">
                    <c:v>#14</c:v>
                  </c:pt>
                  <c:pt idx="14">
                    <c:v>#15</c:v>
                  </c:pt>
                  <c:pt idx="15">
                    <c:v>#16</c:v>
                  </c:pt>
                  <c:pt idx="16">
                    <c:v>#17</c:v>
                  </c:pt>
                  <c:pt idx="17">
                    <c:v>#18</c:v>
                  </c:pt>
                  <c:pt idx="18">
                    <c:v>#19</c:v>
                  </c:pt>
                  <c:pt idx="19">
                    <c:v>#20</c:v>
                  </c:pt>
                  <c:pt idx="20">
                    <c:v>#21</c:v>
                  </c:pt>
                  <c:pt idx="21">
                    <c:v>#22</c:v>
                  </c:pt>
                  <c:pt idx="22">
                    <c:v>#23</c:v>
                  </c:pt>
                  <c:pt idx="23">
                    <c:v>#24</c:v>
                  </c:pt>
                  <c:pt idx="24">
                    <c:v>#25</c:v>
                  </c:pt>
                  <c:pt idx="25">
                    <c:v>#26</c:v>
                  </c:pt>
                  <c:pt idx="26">
                    <c:v>#27</c:v>
                  </c:pt>
                  <c:pt idx="27">
                    <c:v>#28</c:v>
                  </c:pt>
                  <c:pt idx="28">
                    <c:v>#29</c:v>
                  </c:pt>
                  <c:pt idx="29">
                    <c:v>#30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100.2</c:v>
                </c:pt>
                <c:pt idx="1">
                  <c:v>99.8</c:v>
                </c:pt>
                <c:pt idx="2">
                  <c:v>100.5</c:v>
                </c:pt>
                <c:pt idx="3">
                  <c:v>101.1</c:v>
                </c:pt>
                <c:pt idx="4">
                  <c:v>99.4</c:v>
                </c:pt>
                <c:pt idx="5">
                  <c:v>100.7</c:v>
                </c:pt>
                <c:pt idx="6">
                  <c:v>0.001</c:v>
                </c:pt>
                <c:pt idx="7">
                  <c:v>100.3</c:v>
                </c:pt>
                <c:pt idx="8">
                  <c:v>99.6</c:v>
                </c:pt>
                <c:pt idx="9">
                  <c:v>101</c:v>
                </c:pt>
                <c:pt idx="10">
                  <c:v>100.1</c:v>
                </c:pt>
                <c:pt idx="11">
                  <c:v>99.7</c:v>
                </c:pt>
                <c:pt idx="12">
                  <c:v>0.001</c:v>
                </c:pt>
                <c:pt idx="13">
                  <c:v>98.8</c:v>
                </c:pt>
                <c:pt idx="14">
                  <c:v>100.6</c:v>
                </c:pt>
                <c:pt idx="15">
                  <c:v>99.3</c:v>
                </c:pt>
                <c:pt idx="16">
                  <c:v>101.2</c:v>
                </c:pt>
                <c:pt idx="17">
                  <c:v>100</c:v>
                </c:pt>
                <c:pt idx="18">
                  <c:v>99.5</c:v>
                </c:pt>
                <c:pt idx="19">
                  <c:v>0.001</c:v>
                </c:pt>
                <c:pt idx="20">
                  <c:v>99.1</c:v>
                </c:pt>
                <c:pt idx="21">
                  <c:v>100.9</c:v>
                </c:pt>
                <c:pt idx="22">
                  <c:v>99.9</c:v>
                </c:pt>
                <c:pt idx="23">
                  <c:v>100.2</c:v>
                </c:pt>
                <c:pt idx="24">
                  <c:v>0.001</c:v>
                </c:pt>
                <c:pt idx="25">
                  <c:v>99.6</c:v>
                </c:pt>
                <c:pt idx="26">
                  <c:v>100.4</c:v>
                </c:pt>
                <c:pt idx="27">
                  <c:v>98.7</c:v>
                </c:pt>
                <c:pt idx="28">
                  <c:v>100.5</c:v>
                </c:pt>
                <c:pt idx="29">
                  <c:v>0.001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이상 측정값</c:v>
                </c:pt>
              </c:strCache>
            </c:strRef>
          </c:tx>
          <c:spPr>
            <a:solidFill>
              <a:srgbClr val="F851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Sheet1!$A$2:$A$31</c:f>
              <c:multiLvlStrCache>
                <c:ptCount val="30"/>
                <c:lvl>
                  <c:pt idx="0">
                    <c:v>#1</c:v>
                  </c:pt>
                  <c:pt idx="1">
                    <c:v>#2</c:v>
                  </c:pt>
                  <c:pt idx="2">
                    <c:v>#3</c:v>
                  </c:pt>
                  <c:pt idx="3">
                    <c:v>#4</c:v>
                  </c:pt>
                  <c:pt idx="4">
                    <c:v>#5</c:v>
                  </c:pt>
                  <c:pt idx="5">
                    <c:v>#6</c:v>
                  </c:pt>
                  <c:pt idx="6">
                    <c:v>#7</c:v>
                  </c:pt>
                  <c:pt idx="7">
                    <c:v>#8</c:v>
                  </c:pt>
                  <c:pt idx="8">
                    <c:v>#9</c:v>
                  </c:pt>
                  <c:pt idx="9">
                    <c:v>#10</c:v>
                  </c:pt>
                  <c:pt idx="10">
                    <c:v>#11</c:v>
                  </c:pt>
                  <c:pt idx="11">
                    <c:v>#12</c:v>
                  </c:pt>
                  <c:pt idx="12">
                    <c:v>#13</c:v>
                  </c:pt>
                  <c:pt idx="13">
                    <c:v>#14</c:v>
                  </c:pt>
                  <c:pt idx="14">
                    <c:v>#15</c:v>
                  </c:pt>
                  <c:pt idx="15">
                    <c:v>#16</c:v>
                  </c:pt>
                  <c:pt idx="16">
                    <c:v>#17</c:v>
                  </c:pt>
                  <c:pt idx="17">
                    <c:v>#18</c:v>
                  </c:pt>
                  <c:pt idx="18">
                    <c:v>#19</c:v>
                  </c:pt>
                  <c:pt idx="19">
                    <c:v>#20</c:v>
                  </c:pt>
                  <c:pt idx="20">
                    <c:v>#21</c:v>
                  </c:pt>
                  <c:pt idx="21">
                    <c:v>#22</c:v>
                  </c:pt>
                  <c:pt idx="22">
                    <c:v>#23</c:v>
                  </c:pt>
                  <c:pt idx="23">
                    <c:v>#24</c:v>
                  </c:pt>
                  <c:pt idx="24">
                    <c:v>#25</c:v>
                  </c:pt>
                  <c:pt idx="25">
                    <c:v>#26</c:v>
                  </c:pt>
                  <c:pt idx="26">
                    <c:v>#27</c:v>
                  </c:pt>
                  <c:pt idx="27">
                    <c:v>#28</c:v>
                  </c:pt>
                  <c:pt idx="28">
                    <c:v>#29</c:v>
                  </c:pt>
                  <c:pt idx="29">
                    <c:v>#30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0.001</c:v>
                </c:pt>
                <c:pt idx="1">
                  <c:v>0.001</c:v>
                </c:pt>
                <c:pt idx="2">
                  <c:v>0.001</c:v>
                </c:pt>
                <c:pt idx="3">
                  <c:v>0.001</c:v>
                </c:pt>
                <c:pt idx="4">
                  <c:v>0.001</c:v>
                </c:pt>
                <c:pt idx="5">
                  <c:v>0.001</c:v>
                </c:pt>
                <c:pt idx="6">
                  <c:v>118.3</c:v>
                </c:pt>
                <c:pt idx="7">
                  <c:v>0.001</c:v>
                </c:pt>
                <c:pt idx="8">
                  <c:v>0.001</c:v>
                </c:pt>
                <c:pt idx="9">
                  <c:v>0.001</c:v>
                </c:pt>
                <c:pt idx="10">
                  <c:v>0.001</c:v>
                </c:pt>
                <c:pt idx="11">
                  <c:v>0.001</c:v>
                </c:pt>
                <c:pt idx="12">
                  <c:v>76.4</c:v>
                </c:pt>
                <c:pt idx="13">
                  <c:v>0.001</c:v>
                </c:pt>
                <c:pt idx="14">
                  <c:v>0.001</c:v>
                </c:pt>
                <c:pt idx="15">
                  <c:v>0.001</c:v>
                </c:pt>
                <c:pt idx="16">
                  <c:v>0.001</c:v>
                </c:pt>
                <c:pt idx="17">
                  <c:v>0.001</c:v>
                </c:pt>
                <c:pt idx="18">
                  <c:v>0.001</c:v>
                </c:pt>
                <c:pt idx="19">
                  <c:v>122.7</c:v>
                </c:pt>
                <c:pt idx="20">
                  <c:v>0.001</c:v>
                </c:pt>
                <c:pt idx="21">
                  <c:v>0.001</c:v>
                </c:pt>
                <c:pt idx="22">
                  <c:v>0.001</c:v>
                </c:pt>
                <c:pt idx="23">
                  <c:v>0.001</c:v>
                </c:pt>
                <c:pt idx="24">
                  <c:v>80.1</c:v>
                </c:pt>
                <c:pt idx="25">
                  <c:v>0.001</c:v>
                </c:pt>
                <c:pt idx="26">
                  <c:v>0.001</c:v>
                </c:pt>
                <c:pt idx="27">
                  <c:v>0.001</c:v>
                </c:pt>
                <c:pt idx="28">
                  <c:v>0.001</c:v>
                </c:pt>
                <c:pt idx="29">
                  <c:v>119.5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70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정상 SVM 점수</c:v>
                </c:pt>
              </c:strCache>
            </c:strRef>
          </c:tx>
          <c:spPr>
            <a:solidFill>
              <a:srgbClr val="FF8C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Sheet1!$A$2:$A$31</c:f>
              <c:multiLvlStrCache>
                <c:ptCount val="30"/>
                <c:lvl>
                  <c:pt idx="0">
                    <c:v>#1</c:v>
                  </c:pt>
                  <c:pt idx="1">
                    <c:v>#2</c:v>
                  </c:pt>
                  <c:pt idx="2">
                    <c:v>#3</c:v>
                  </c:pt>
                  <c:pt idx="3">
                    <c:v>#4</c:v>
                  </c:pt>
                  <c:pt idx="4">
                    <c:v>#5</c:v>
                  </c:pt>
                  <c:pt idx="5">
                    <c:v>#6</c:v>
                  </c:pt>
                  <c:pt idx="6">
                    <c:v>#7</c:v>
                  </c:pt>
                  <c:pt idx="7">
                    <c:v>#8</c:v>
                  </c:pt>
                  <c:pt idx="8">
                    <c:v>#9</c:v>
                  </c:pt>
                  <c:pt idx="9">
                    <c:v>#10</c:v>
                  </c:pt>
                  <c:pt idx="10">
                    <c:v>#11</c:v>
                  </c:pt>
                  <c:pt idx="11">
                    <c:v>#12</c:v>
                  </c:pt>
                  <c:pt idx="12">
                    <c:v>#13</c:v>
                  </c:pt>
                  <c:pt idx="13">
                    <c:v>#14</c:v>
                  </c:pt>
                  <c:pt idx="14">
                    <c:v>#15</c:v>
                  </c:pt>
                  <c:pt idx="15">
                    <c:v>#16</c:v>
                  </c:pt>
                  <c:pt idx="16">
                    <c:v>#17</c:v>
                  </c:pt>
                  <c:pt idx="17">
                    <c:v>#18</c:v>
                  </c:pt>
                  <c:pt idx="18">
                    <c:v>#19</c:v>
                  </c:pt>
                  <c:pt idx="19">
                    <c:v>#20</c:v>
                  </c:pt>
                  <c:pt idx="20">
                    <c:v>#21</c:v>
                  </c:pt>
                  <c:pt idx="21">
                    <c:v>#22</c:v>
                  </c:pt>
                  <c:pt idx="22">
                    <c:v>#23</c:v>
                  </c:pt>
                  <c:pt idx="23">
                    <c:v>#24</c:v>
                  </c:pt>
                  <c:pt idx="24">
                    <c:v>#25</c:v>
                  </c:pt>
                  <c:pt idx="25">
                    <c:v>#26</c:v>
                  </c:pt>
                  <c:pt idx="26">
                    <c:v>#27</c:v>
                  </c:pt>
                  <c:pt idx="27">
                    <c:v>#28</c:v>
                  </c:pt>
                  <c:pt idx="28">
                    <c:v>#29</c:v>
                  </c:pt>
                  <c:pt idx="29">
                    <c:v>#30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4.2</c:v>
                </c:pt>
                <c:pt idx="1">
                  <c:v>4.1</c:v>
                </c:pt>
                <c:pt idx="2">
                  <c:v>4.9</c:v>
                </c:pt>
                <c:pt idx="3">
                  <c:v>2.8</c:v>
                </c:pt>
                <c:pt idx="4">
                  <c:v>5.2</c:v>
                </c:pt>
                <c:pt idx="5">
                  <c:v>5.4</c:v>
                </c:pt>
                <c:pt idx="6">
                  <c:v>0.001</c:v>
                </c:pt>
                <c:pt idx="7">
                  <c:v>4.5</c:v>
                </c:pt>
                <c:pt idx="8">
                  <c:v>5.1</c:v>
                </c:pt>
                <c:pt idx="9">
                  <c:v>5</c:v>
                </c:pt>
                <c:pt idx="10">
                  <c:v>5.3</c:v>
                </c:pt>
                <c:pt idx="11">
                  <c:v>2.6</c:v>
                </c:pt>
                <c:pt idx="12">
                  <c:v>0.001</c:v>
                </c:pt>
                <c:pt idx="13">
                  <c:v>4.6</c:v>
                </c:pt>
                <c:pt idx="14">
                  <c:v>4.1</c:v>
                </c:pt>
                <c:pt idx="15">
                  <c:v>4.8</c:v>
                </c:pt>
                <c:pt idx="16">
                  <c:v>5.2</c:v>
                </c:pt>
                <c:pt idx="17">
                  <c:v>2.8</c:v>
                </c:pt>
                <c:pt idx="18">
                  <c:v>2.9</c:v>
                </c:pt>
                <c:pt idx="19">
                  <c:v>0.001</c:v>
                </c:pt>
                <c:pt idx="20">
                  <c:v>3.8</c:v>
                </c:pt>
                <c:pt idx="21">
                  <c:v>3.3</c:v>
                </c:pt>
                <c:pt idx="22">
                  <c:v>2.9</c:v>
                </c:pt>
                <c:pt idx="23">
                  <c:v>3.4</c:v>
                </c:pt>
                <c:pt idx="24">
                  <c:v>0.001</c:v>
                </c:pt>
                <c:pt idx="25">
                  <c:v>4.8</c:v>
                </c:pt>
                <c:pt idx="26">
                  <c:v>3.2</c:v>
                </c:pt>
                <c:pt idx="27">
                  <c:v>3.9</c:v>
                </c:pt>
                <c:pt idx="28">
                  <c:v>3.5</c:v>
                </c:pt>
                <c:pt idx="29">
                  <c:v>0.001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이상 SVM 점수</c:v>
                </c:pt>
              </c:strCache>
            </c:strRef>
          </c:tx>
          <c:spPr>
            <a:solidFill>
              <a:srgbClr val="F851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Sheet1!$A$2:$A$31</c:f>
              <c:multiLvlStrCache>
                <c:ptCount val="30"/>
                <c:lvl>
                  <c:pt idx="0">
                    <c:v>#1</c:v>
                  </c:pt>
                  <c:pt idx="1">
                    <c:v>#2</c:v>
                  </c:pt>
                  <c:pt idx="2">
                    <c:v>#3</c:v>
                  </c:pt>
                  <c:pt idx="3">
                    <c:v>#4</c:v>
                  </c:pt>
                  <c:pt idx="4">
                    <c:v>#5</c:v>
                  </c:pt>
                  <c:pt idx="5">
                    <c:v>#6</c:v>
                  </c:pt>
                  <c:pt idx="6">
                    <c:v>#7</c:v>
                  </c:pt>
                  <c:pt idx="7">
                    <c:v>#8</c:v>
                  </c:pt>
                  <c:pt idx="8">
                    <c:v>#9</c:v>
                  </c:pt>
                  <c:pt idx="9">
                    <c:v>#10</c:v>
                  </c:pt>
                  <c:pt idx="10">
                    <c:v>#11</c:v>
                  </c:pt>
                  <c:pt idx="11">
                    <c:v>#12</c:v>
                  </c:pt>
                  <c:pt idx="12">
                    <c:v>#13</c:v>
                  </c:pt>
                  <c:pt idx="13">
                    <c:v>#14</c:v>
                  </c:pt>
                  <c:pt idx="14">
                    <c:v>#15</c:v>
                  </c:pt>
                  <c:pt idx="15">
                    <c:v>#16</c:v>
                  </c:pt>
                  <c:pt idx="16">
                    <c:v>#17</c:v>
                  </c:pt>
                  <c:pt idx="17">
                    <c:v>#18</c:v>
                  </c:pt>
                  <c:pt idx="18">
                    <c:v>#19</c:v>
                  </c:pt>
                  <c:pt idx="19">
                    <c:v>#20</c:v>
                  </c:pt>
                  <c:pt idx="20">
                    <c:v>#21</c:v>
                  </c:pt>
                  <c:pt idx="21">
                    <c:v>#22</c:v>
                  </c:pt>
                  <c:pt idx="22">
                    <c:v>#23</c:v>
                  </c:pt>
                  <c:pt idx="23">
                    <c:v>#24</c:v>
                  </c:pt>
                  <c:pt idx="24">
                    <c:v>#25</c:v>
                  </c:pt>
                  <c:pt idx="25">
                    <c:v>#26</c:v>
                  </c:pt>
                  <c:pt idx="26">
                    <c:v>#27</c:v>
                  </c:pt>
                  <c:pt idx="27">
                    <c:v>#28</c:v>
                  </c:pt>
                  <c:pt idx="28">
                    <c:v>#29</c:v>
                  </c:pt>
                  <c:pt idx="29">
                    <c:v>#30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0.001</c:v>
                </c:pt>
                <c:pt idx="1">
                  <c:v>0.001</c:v>
                </c:pt>
                <c:pt idx="2">
                  <c:v>0.001</c:v>
                </c:pt>
                <c:pt idx="3">
                  <c:v>0.001</c:v>
                </c:pt>
                <c:pt idx="4">
                  <c:v>0.001</c:v>
                </c:pt>
                <c:pt idx="5">
                  <c:v>0.001</c:v>
                </c:pt>
                <c:pt idx="6">
                  <c:v>-19.1</c:v>
                </c:pt>
                <c:pt idx="7">
                  <c:v>0.001</c:v>
                </c:pt>
                <c:pt idx="8">
                  <c:v>0.001</c:v>
                </c:pt>
                <c:pt idx="9">
                  <c:v>0.001</c:v>
                </c:pt>
                <c:pt idx="10">
                  <c:v>0.001</c:v>
                </c:pt>
                <c:pt idx="11">
                  <c:v>0.001</c:v>
                </c:pt>
                <c:pt idx="12">
                  <c:v>-21.1</c:v>
                </c:pt>
                <c:pt idx="13">
                  <c:v>0.001</c:v>
                </c:pt>
                <c:pt idx="14">
                  <c:v>0.001</c:v>
                </c:pt>
                <c:pt idx="15">
                  <c:v>0.001</c:v>
                </c:pt>
                <c:pt idx="16">
                  <c:v>0.001</c:v>
                </c:pt>
                <c:pt idx="17">
                  <c:v>0.001</c:v>
                </c:pt>
                <c:pt idx="18">
                  <c:v>0.001</c:v>
                </c:pt>
                <c:pt idx="19">
                  <c:v>-22</c:v>
                </c:pt>
                <c:pt idx="20">
                  <c:v>0.001</c:v>
                </c:pt>
                <c:pt idx="21">
                  <c:v>0.001</c:v>
                </c:pt>
                <c:pt idx="22">
                  <c:v>0.001</c:v>
                </c:pt>
                <c:pt idx="23">
                  <c:v>0.001</c:v>
                </c:pt>
                <c:pt idx="24">
                  <c:v>-19.5</c:v>
                </c:pt>
                <c:pt idx="25">
                  <c:v>0.001</c:v>
                </c:pt>
                <c:pt idx="26">
                  <c:v>0.001</c:v>
                </c:pt>
                <c:pt idx="27">
                  <c:v>0.001</c:v>
                </c:pt>
                <c:pt idx="28">
                  <c:v>0.001</c:v>
                </c:pt>
                <c:pt idx="29">
                  <c:v>-19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정상 측정값</c:v>
                </c:pt>
              </c:strCache>
            </c:strRef>
          </c:tx>
          <c:spPr>
            <a:solidFill>
              <a:srgbClr val="3FB9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Sheet1!$A$2:$A$31</c:f>
              <c:multiLvlStrCache>
                <c:ptCount val="30"/>
                <c:lvl>
                  <c:pt idx="0">
                    <c:v>#1</c:v>
                  </c:pt>
                  <c:pt idx="1">
                    <c:v>#2</c:v>
                  </c:pt>
                  <c:pt idx="2">
                    <c:v>#3</c:v>
                  </c:pt>
                  <c:pt idx="3">
                    <c:v>#4</c:v>
                  </c:pt>
                  <c:pt idx="4">
                    <c:v>#5</c:v>
                  </c:pt>
                  <c:pt idx="5">
                    <c:v>#6</c:v>
                  </c:pt>
                  <c:pt idx="6">
                    <c:v>#7</c:v>
                  </c:pt>
                  <c:pt idx="7">
                    <c:v>#8</c:v>
                  </c:pt>
                  <c:pt idx="8">
                    <c:v>#9</c:v>
                  </c:pt>
                  <c:pt idx="9">
                    <c:v>#10</c:v>
                  </c:pt>
                  <c:pt idx="10">
                    <c:v>#11</c:v>
                  </c:pt>
                  <c:pt idx="11">
                    <c:v>#12</c:v>
                  </c:pt>
                  <c:pt idx="12">
                    <c:v>#13</c:v>
                  </c:pt>
                  <c:pt idx="13">
                    <c:v>#14</c:v>
                  </c:pt>
                  <c:pt idx="14">
                    <c:v>#15</c:v>
                  </c:pt>
                  <c:pt idx="15">
                    <c:v>#16</c:v>
                  </c:pt>
                  <c:pt idx="16">
                    <c:v>#17</c:v>
                  </c:pt>
                  <c:pt idx="17">
                    <c:v>#18</c:v>
                  </c:pt>
                  <c:pt idx="18">
                    <c:v>#19</c:v>
                  </c:pt>
                  <c:pt idx="19">
                    <c:v>#20</c:v>
                  </c:pt>
                  <c:pt idx="20">
                    <c:v>#21</c:v>
                  </c:pt>
                  <c:pt idx="21">
                    <c:v>#22</c:v>
                  </c:pt>
                  <c:pt idx="22">
                    <c:v>#23</c:v>
                  </c:pt>
                  <c:pt idx="23">
                    <c:v>#24</c:v>
                  </c:pt>
                  <c:pt idx="24">
                    <c:v>#25</c:v>
                  </c:pt>
                  <c:pt idx="25">
                    <c:v>#26</c:v>
                  </c:pt>
                  <c:pt idx="26">
                    <c:v>#27</c:v>
                  </c:pt>
                  <c:pt idx="27">
                    <c:v>#28</c:v>
                  </c:pt>
                  <c:pt idx="28">
                    <c:v>#29</c:v>
                  </c:pt>
                  <c:pt idx="29">
                    <c:v>#30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100.2</c:v>
                </c:pt>
                <c:pt idx="1">
                  <c:v>99.8</c:v>
                </c:pt>
                <c:pt idx="2">
                  <c:v>100.5</c:v>
                </c:pt>
                <c:pt idx="3">
                  <c:v>101.1</c:v>
                </c:pt>
                <c:pt idx="4">
                  <c:v>99.4</c:v>
                </c:pt>
                <c:pt idx="5">
                  <c:v>100.7</c:v>
                </c:pt>
                <c:pt idx="6">
                  <c:v>0.001</c:v>
                </c:pt>
                <c:pt idx="7">
                  <c:v>100.3</c:v>
                </c:pt>
                <c:pt idx="8">
                  <c:v>99.6</c:v>
                </c:pt>
                <c:pt idx="9">
                  <c:v>101</c:v>
                </c:pt>
                <c:pt idx="10">
                  <c:v>100.1</c:v>
                </c:pt>
                <c:pt idx="11">
                  <c:v>99.7</c:v>
                </c:pt>
                <c:pt idx="12">
                  <c:v>0.001</c:v>
                </c:pt>
                <c:pt idx="13">
                  <c:v>98.8</c:v>
                </c:pt>
                <c:pt idx="14">
                  <c:v>100.6</c:v>
                </c:pt>
                <c:pt idx="15">
                  <c:v>99.3</c:v>
                </c:pt>
                <c:pt idx="16">
                  <c:v>101.2</c:v>
                </c:pt>
                <c:pt idx="17">
                  <c:v>100</c:v>
                </c:pt>
                <c:pt idx="18">
                  <c:v>99.5</c:v>
                </c:pt>
                <c:pt idx="19">
                  <c:v>0.001</c:v>
                </c:pt>
                <c:pt idx="20">
                  <c:v>99.1</c:v>
                </c:pt>
                <c:pt idx="21">
                  <c:v>100.9</c:v>
                </c:pt>
                <c:pt idx="22">
                  <c:v>99.9</c:v>
                </c:pt>
                <c:pt idx="23">
                  <c:v>100.2</c:v>
                </c:pt>
                <c:pt idx="24">
                  <c:v>0.001</c:v>
                </c:pt>
                <c:pt idx="25">
                  <c:v>99.6</c:v>
                </c:pt>
                <c:pt idx="26">
                  <c:v>100.4</c:v>
                </c:pt>
                <c:pt idx="27">
                  <c:v>98.7</c:v>
                </c:pt>
                <c:pt idx="28">
                  <c:v>100.5</c:v>
                </c:pt>
                <c:pt idx="29">
                  <c:v>0.001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이상 측정값</c:v>
                </c:pt>
              </c:strCache>
            </c:strRef>
          </c:tx>
          <c:spPr>
            <a:solidFill>
              <a:srgbClr val="F851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Sheet1!$A$2:$A$31</c:f>
              <c:multiLvlStrCache>
                <c:ptCount val="30"/>
                <c:lvl>
                  <c:pt idx="0">
                    <c:v>#1</c:v>
                  </c:pt>
                  <c:pt idx="1">
                    <c:v>#2</c:v>
                  </c:pt>
                  <c:pt idx="2">
                    <c:v>#3</c:v>
                  </c:pt>
                  <c:pt idx="3">
                    <c:v>#4</c:v>
                  </c:pt>
                  <c:pt idx="4">
                    <c:v>#5</c:v>
                  </c:pt>
                  <c:pt idx="5">
                    <c:v>#6</c:v>
                  </c:pt>
                  <c:pt idx="6">
                    <c:v>#7</c:v>
                  </c:pt>
                  <c:pt idx="7">
                    <c:v>#8</c:v>
                  </c:pt>
                  <c:pt idx="8">
                    <c:v>#9</c:v>
                  </c:pt>
                  <c:pt idx="9">
                    <c:v>#10</c:v>
                  </c:pt>
                  <c:pt idx="10">
                    <c:v>#11</c:v>
                  </c:pt>
                  <c:pt idx="11">
                    <c:v>#12</c:v>
                  </c:pt>
                  <c:pt idx="12">
                    <c:v>#13</c:v>
                  </c:pt>
                  <c:pt idx="13">
                    <c:v>#14</c:v>
                  </c:pt>
                  <c:pt idx="14">
                    <c:v>#15</c:v>
                  </c:pt>
                  <c:pt idx="15">
                    <c:v>#16</c:v>
                  </c:pt>
                  <c:pt idx="16">
                    <c:v>#17</c:v>
                  </c:pt>
                  <c:pt idx="17">
                    <c:v>#18</c:v>
                  </c:pt>
                  <c:pt idx="18">
                    <c:v>#19</c:v>
                  </c:pt>
                  <c:pt idx="19">
                    <c:v>#20</c:v>
                  </c:pt>
                  <c:pt idx="20">
                    <c:v>#21</c:v>
                  </c:pt>
                  <c:pt idx="21">
                    <c:v>#22</c:v>
                  </c:pt>
                  <c:pt idx="22">
                    <c:v>#23</c:v>
                  </c:pt>
                  <c:pt idx="23">
                    <c:v>#24</c:v>
                  </c:pt>
                  <c:pt idx="24">
                    <c:v>#25</c:v>
                  </c:pt>
                  <c:pt idx="25">
                    <c:v>#26</c:v>
                  </c:pt>
                  <c:pt idx="26">
                    <c:v>#27</c:v>
                  </c:pt>
                  <c:pt idx="27">
                    <c:v>#28</c:v>
                  </c:pt>
                  <c:pt idx="28">
                    <c:v>#29</c:v>
                  </c:pt>
                  <c:pt idx="29">
                    <c:v>#30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0.001</c:v>
                </c:pt>
                <c:pt idx="1">
                  <c:v>0.001</c:v>
                </c:pt>
                <c:pt idx="2">
                  <c:v>0.001</c:v>
                </c:pt>
                <c:pt idx="3">
                  <c:v>0.001</c:v>
                </c:pt>
                <c:pt idx="4">
                  <c:v>0.001</c:v>
                </c:pt>
                <c:pt idx="5">
                  <c:v>0.001</c:v>
                </c:pt>
                <c:pt idx="6">
                  <c:v>118.3</c:v>
                </c:pt>
                <c:pt idx="7">
                  <c:v>0.001</c:v>
                </c:pt>
                <c:pt idx="8">
                  <c:v>0.001</c:v>
                </c:pt>
                <c:pt idx="9">
                  <c:v>0.001</c:v>
                </c:pt>
                <c:pt idx="10">
                  <c:v>0.001</c:v>
                </c:pt>
                <c:pt idx="11">
                  <c:v>0.001</c:v>
                </c:pt>
                <c:pt idx="12">
                  <c:v>76.4</c:v>
                </c:pt>
                <c:pt idx="13">
                  <c:v>0.001</c:v>
                </c:pt>
                <c:pt idx="14">
                  <c:v>0.001</c:v>
                </c:pt>
                <c:pt idx="15">
                  <c:v>0.001</c:v>
                </c:pt>
                <c:pt idx="16">
                  <c:v>0.001</c:v>
                </c:pt>
                <c:pt idx="17">
                  <c:v>0.001</c:v>
                </c:pt>
                <c:pt idx="18">
                  <c:v>0.001</c:v>
                </c:pt>
                <c:pt idx="19">
                  <c:v>122.7</c:v>
                </c:pt>
                <c:pt idx="20">
                  <c:v>0.001</c:v>
                </c:pt>
                <c:pt idx="21">
                  <c:v>0.001</c:v>
                </c:pt>
                <c:pt idx="22">
                  <c:v>0.001</c:v>
                </c:pt>
                <c:pt idx="23">
                  <c:v>0.001</c:v>
                </c:pt>
                <c:pt idx="24">
                  <c:v>80.1</c:v>
                </c:pt>
                <c:pt idx="25">
                  <c:v>0.001</c:v>
                </c:pt>
                <c:pt idx="26">
                  <c:v>0.001</c:v>
                </c:pt>
                <c:pt idx="27">
                  <c:v>0.001</c:v>
                </c:pt>
                <c:pt idx="28">
                  <c:v>0.001</c:v>
                </c:pt>
                <c:pt idx="29">
                  <c:v>119.5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70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정상 거리</c:v>
                </c:pt>
              </c:strCache>
            </c:strRef>
          </c:tx>
          <c:spPr>
            <a:solidFill>
              <a:srgbClr val="3FB9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Sheet1!$A$2:$A$31</c:f>
              <c:multiLvlStrCache>
                <c:ptCount val="30"/>
                <c:lvl>
                  <c:pt idx="0">
                    <c:v>#1</c:v>
                  </c:pt>
                  <c:pt idx="1">
                    <c:v>#2</c:v>
                  </c:pt>
                  <c:pt idx="2">
                    <c:v>#3</c:v>
                  </c:pt>
                  <c:pt idx="3">
                    <c:v>#4</c:v>
                  </c:pt>
                  <c:pt idx="4">
                    <c:v>#5</c:v>
                  </c:pt>
                  <c:pt idx="5">
                    <c:v>#6</c:v>
                  </c:pt>
                  <c:pt idx="6">
                    <c:v>#7</c:v>
                  </c:pt>
                  <c:pt idx="7">
                    <c:v>#8</c:v>
                  </c:pt>
                  <c:pt idx="8">
                    <c:v>#9</c:v>
                  </c:pt>
                  <c:pt idx="9">
                    <c:v>#10</c:v>
                  </c:pt>
                  <c:pt idx="10">
                    <c:v>#11</c:v>
                  </c:pt>
                  <c:pt idx="11">
                    <c:v>#12</c:v>
                  </c:pt>
                  <c:pt idx="12">
                    <c:v>#13</c:v>
                  </c:pt>
                  <c:pt idx="13">
                    <c:v>#14</c:v>
                  </c:pt>
                  <c:pt idx="14">
                    <c:v>#15</c:v>
                  </c:pt>
                  <c:pt idx="15">
                    <c:v>#16</c:v>
                  </c:pt>
                  <c:pt idx="16">
                    <c:v>#17</c:v>
                  </c:pt>
                  <c:pt idx="17">
                    <c:v>#18</c:v>
                  </c:pt>
                  <c:pt idx="18">
                    <c:v>#19</c:v>
                  </c:pt>
                  <c:pt idx="19">
                    <c:v>#20</c:v>
                  </c:pt>
                  <c:pt idx="20">
                    <c:v>#21</c:v>
                  </c:pt>
                  <c:pt idx="21">
                    <c:v>#22</c:v>
                  </c:pt>
                  <c:pt idx="22">
                    <c:v>#23</c:v>
                  </c:pt>
                  <c:pt idx="23">
                    <c:v>#24</c:v>
                  </c:pt>
                  <c:pt idx="24">
                    <c:v>#25</c:v>
                  </c:pt>
                  <c:pt idx="25">
                    <c:v>#26</c:v>
                  </c:pt>
                  <c:pt idx="26">
                    <c:v>#27</c:v>
                  </c:pt>
                  <c:pt idx="27">
                    <c:v>#28</c:v>
                  </c:pt>
                  <c:pt idx="28">
                    <c:v>#29</c:v>
                  </c:pt>
                  <c:pt idx="29">
                    <c:v>#30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1.48</c:v>
                </c:pt>
                <c:pt idx="1">
                  <c:v>1.43</c:v>
                </c:pt>
                <c:pt idx="2">
                  <c:v>1.12</c:v>
                </c:pt>
                <c:pt idx="3">
                  <c:v>1.31</c:v>
                </c:pt>
                <c:pt idx="4">
                  <c:v>2.27</c:v>
                </c:pt>
                <c:pt idx="5">
                  <c:v>0.74</c:v>
                </c:pt>
                <c:pt idx="6">
                  <c:v>0.001</c:v>
                </c:pt>
                <c:pt idx="7">
                  <c:v>0.69</c:v>
                </c:pt>
                <c:pt idx="8">
                  <c:v>1.13</c:v>
                </c:pt>
                <c:pt idx="9">
                  <c:v>2.19</c:v>
                </c:pt>
                <c:pt idx="10">
                  <c:v>1.3</c:v>
                </c:pt>
                <c:pt idx="11">
                  <c:v>1.76</c:v>
                </c:pt>
                <c:pt idx="12">
                  <c:v>0.001</c:v>
                </c:pt>
                <c:pt idx="13">
                  <c:v>1.5</c:v>
                </c:pt>
                <c:pt idx="14">
                  <c:v>0.7</c:v>
                </c:pt>
                <c:pt idx="15">
                  <c:v>1.59</c:v>
                </c:pt>
                <c:pt idx="16">
                  <c:v>1.72</c:v>
                </c:pt>
                <c:pt idx="17">
                  <c:v>1.03</c:v>
                </c:pt>
                <c:pt idx="18">
                  <c:v>1.77</c:v>
                </c:pt>
                <c:pt idx="19">
                  <c:v>0.001</c:v>
                </c:pt>
                <c:pt idx="20">
                  <c:v>1.99</c:v>
                </c:pt>
                <c:pt idx="21">
                  <c:v>1</c:v>
                </c:pt>
                <c:pt idx="22">
                  <c:v>0.86</c:v>
                </c:pt>
                <c:pt idx="23">
                  <c:v>0.71</c:v>
                </c:pt>
                <c:pt idx="24">
                  <c:v>0.001</c:v>
                </c:pt>
                <c:pt idx="25">
                  <c:v>0.85</c:v>
                </c:pt>
                <c:pt idx="26">
                  <c:v>0.23</c:v>
                </c:pt>
                <c:pt idx="27">
                  <c:v>1.51</c:v>
                </c:pt>
                <c:pt idx="28">
                  <c:v>1</c:v>
                </c:pt>
                <c:pt idx="29">
                  <c:v>0.001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이상 거리</c:v>
                </c:pt>
              </c:strCache>
            </c:strRef>
          </c:tx>
          <c:spPr>
            <a:solidFill>
              <a:srgbClr val="F851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Sheet1!$A$2:$A$31</c:f>
              <c:multiLvlStrCache>
                <c:ptCount val="30"/>
                <c:lvl>
                  <c:pt idx="0">
                    <c:v>#1</c:v>
                  </c:pt>
                  <c:pt idx="1">
                    <c:v>#2</c:v>
                  </c:pt>
                  <c:pt idx="2">
                    <c:v>#3</c:v>
                  </c:pt>
                  <c:pt idx="3">
                    <c:v>#4</c:v>
                  </c:pt>
                  <c:pt idx="4">
                    <c:v>#5</c:v>
                  </c:pt>
                  <c:pt idx="5">
                    <c:v>#6</c:v>
                  </c:pt>
                  <c:pt idx="6">
                    <c:v>#7</c:v>
                  </c:pt>
                  <c:pt idx="7">
                    <c:v>#8</c:v>
                  </c:pt>
                  <c:pt idx="8">
                    <c:v>#9</c:v>
                  </c:pt>
                  <c:pt idx="9">
                    <c:v>#10</c:v>
                  </c:pt>
                  <c:pt idx="10">
                    <c:v>#11</c:v>
                  </c:pt>
                  <c:pt idx="11">
                    <c:v>#12</c:v>
                  </c:pt>
                  <c:pt idx="12">
                    <c:v>#13</c:v>
                  </c:pt>
                  <c:pt idx="13">
                    <c:v>#14</c:v>
                  </c:pt>
                  <c:pt idx="14">
                    <c:v>#15</c:v>
                  </c:pt>
                  <c:pt idx="15">
                    <c:v>#16</c:v>
                  </c:pt>
                  <c:pt idx="16">
                    <c:v>#17</c:v>
                  </c:pt>
                  <c:pt idx="17">
                    <c:v>#18</c:v>
                  </c:pt>
                  <c:pt idx="18">
                    <c:v>#19</c:v>
                  </c:pt>
                  <c:pt idx="19">
                    <c:v>#20</c:v>
                  </c:pt>
                  <c:pt idx="20">
                    <c:v>#21</c:v>
                  </c:pt>
                  <c:pt idx="21">
                    <c:v>#22</c:v>
                  </c:pt>
                  <c:pt idx="22">
                    <c:v>#23</c:v>
                  </c:pt>
                  <c:pt idx="23">
                    <c:v>#24</c:v>
                  </c:pt>
                  <c:pt idx="24">
                    <c:v>#25</c:v>
                  </c:pt>
                  <c:pt idx="25">
                    <c:v>#26</c:v>
                  </c:pt>
                  <c:pt idx="26">
                    <c:v>#27</c:v>
                  </c:pt>
                  <c:pt idx="27">
                    <c:v>#28</c:v>
                  </c:pt>
                  <c:pt idx="28">
                    <c:v>#29</c:v>
                  </c:pt>
                  <c:pt idx="29">
                    <c:v>#30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0.001</c:v>
                </c:pt>
                <c:pt idx="1">
                  <c:v>0.001</c:v>
                </c:pt>
                <c:pt idx="2">
                  <c:v>0.001</c:v>
                </c:pt>
                <c:pt idx="3">
                  <c:v>0.001</c:v>
                </c:pt>
                <c:pt idx="4">
                  <c:v>0.001</c:v>
                </c:pt>
                <c:pt idx="5">
                  <c:v>0.001</c:v>
                </c:pt>
                <c:pt idx="6">
                  <c:v>27.22</c:v>
                </c:pt>
                <c:pt idx="7">
                  <c:v>0.001</c:v>
                </c:pt>
                <c:pt idx="8">
                  <c:v>0.001</c:v>
                </c:pt>
                <c:pt idx="9">
                  <c:v>0.001</c:v>
                </c:pt>
                <c:pt idx="10">
                  <c:v>0.001</c:v>
                </c:pt>
                <c:pt idx="11">
                  <c:v>0.001</c:v>
                </c:pt>
                <c:pt idx="12">
                  <c:v>33.75</c:v>
                </c:pt>
                <c:pt idx="13">
                  <c:v>0.001</c:v>
                </c:pt>
                <c:pt idx="14">
                  <c:v>0.001</c:v>
                </c:pt>
                <c:pt idx="15">
                  <c:v>0.001</c:v>
                </c:pt>
                <c:pt idx="16">
                  <c:v>0.001</c:v>
                </c:pt>
                <c:pt idx="17">
                  <c:v>0.001</c:v>
                </c:pt>
                <c:pt idx="18">
                  <c:v>0.001</c:v>
                </c:pt>
                <c:pt idx="19">
                  <c:v>33.13</c:v>
                </c:pt>
                <c:pt idx="20">
                  <c:v>0.001</c:v>
                </c:pt>
                <c:pt idx="21">
                  <c:v>0.001</c:v>
                </c:pt>
                <c:pt idx="22">
                  <c:v>0.001</c:v>
                </c:pt>
                <c:pt idx="23">
                  <c:v>0.001</c:v>
                </c:pt>
                <c:pt idx="24">
                  <c:v>28.89</c:v>
                </c:pt>
                <c:pt idx="25">
                  <c:v>0.001</c:v>
                </c:pt>
                <c:pt idx="26">
                  <c:v>0.001</c:v>
                </c:pt>
                <c:pt idx="27">
                  <c:v>0.001</c:v>
                </c:pt>
                <c:pt idx="28">
                  <c:v>0.001</c:v>
                </c:pt>
                <c:pt idx="29">
                  <c:v>29.22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FDC RAW DATA 이상감지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58A6FF"/>
                </a:solidFill>
              </a:rPr>
              <a:t>23가지 이상감지 방식 상세 설명 및 예시 그래프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566160"/>
            <a:ext cx="1572768" cy="365760"/>
          </a:xfrm>
          <a:prstGeom prst="rect">
            <a:avLst/>
          </a:prstGeom>
          <a:solidFill>
            <a:srgbClr val="0C1724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3566160"/>
            <a:ext cx="1572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8A6FF"/>
                </a:solidFill>
              </a:rPr>
              <a:t>기본 통계  (5가지)</a:t>
            </a:r>
          </a:p>
        </p:txBody>
      </p:sp>
      <p:sp>
        <p:nvSpPr>
          <p:cNvPr id="8" name="Rectangle 7"/>
          <p:cNvSpPr/>
          <p:nvPr/>
        </p:nvSpPr>
        <p:spPr>
          <a:xfrm>
            <a:off x="2084832" y="3566160"/>
            <a:ext cx="1572768" cy="365760"/>
          </a:xfrm>
          <a:prstGeom prst="rect">
            <a:avLst/>
          </a:prstGeom>
          <a:solidFill>
            <a:srgbClr val="1A1424"/>
          </a:solidFill>
          <a:ln w="1270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84832" y="3566160"/>
            <a:ext cx="1572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C8CFF"/>
                </a:solidFill>
              </a:rPr>
              <a:t>시계열/트렌드  (3가지)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8184" y="3566160"/>
            <a:ext cx="1572768" cy="365760"/>
          </a:xfrm>
          <a:prstGeom prst="rect">
            <a:avLst/>
          </a:prstGeom>
          <a:solidFill>
            <a:srgbClr val="091A0B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58184" y="3566160"/>
            <a:ext cx="1572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FB950"/>
                </a:solidFill>
              </a:rPr>
              <a:t>관리도  (5가지)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31536" y="3566160"/>
            <a:ext cx="1572768" cy="365760"/>
          </a:xfrm>
          <a:prstGeom prst="rect">
            <a:avLst/>
          </a:prstGeom>
          <a:solidFill>
            <a:srgbClr val="201909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31536" y="3566160"/>
            <a:ext cx="1572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3B341"/>
                </a:solidFill>
              </a:rPr>
              <a:t>반도체 특화  (4가지)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04888" y="3566160"/>
            <a:ext cx="1572768" cy="365760"/>
          </a:xfrm>
          <a:prstGeom prst="rect">
            <a:avLst/>
          </a:prstGeom>
          <a:solidFill>
            <a:srgbClr val="081E22"/>
          </a:solidFill>
          <a:ln w="12700">
            <a:solidFill>
              <a:srgbClr val="3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4888" y="3566160"/>
            <a:ext cx="1572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9D3F0"/>
                </a:solidFill>
              </a:rPr>
              <a:t>통계 검정  (2가지)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3566160"/>
            <a:ext cx="1572768" cy="365760"/>
          </a:xfrm>
          <a:prstGeom prst="rect">
            <a:avLst/>
          </a:prstGeom>
          <a:solidFill>
            <a:srgbClr val="230B0A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3566160"/>
            <a:ext cx="1572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85149"/>
                </a:solidFill>
              </a:rPr>
              <a:t>공정 능력  (1가지)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51592" y="3566160"/>
            <a:ext cx="1572768" cy="365760"/>
          </a:xfrm>
          <a:prstGeom prst="rect">
            <a:avLst/>
          </a:prstGeom>
          <a:solidFill>
            <a:srgbClr val="241409"/>
          </a:solidFill>
          <a:ln w="127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51592" y="3566160"/>
            <a:ext cx="1572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8C42"/>
                </a:solidFill>
              </a:rPr>
              <a:t>변동성  (1가지)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B949E"/>
                </a:solidFill>
              </a:rPr>
              <a:t>① ② ③ ④ ⑤ ⑥ ⑦ ⑧ ⑨ ⑩ ⑪ ⑫  |  ⑬ ⑭ ⑮ ⑯ ⑰ ⑱ ⑲ ⑳ ㉑ ㉒ 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26364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</a:rPr>
              <a:t>v3.0  |  2026  |  HTML 실제 감지 방식 기준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① 절대값 차이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|현재 − 직전|   |   기본 통계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0E1B2A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</a:rPr>
              <a:t>기본 통계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연속된 두 측정값의 절대 차이가 임계값을 초과하면 이상으로 판단합니다. 돌발 스파이크·점프를 즉시 감지하는 가장 단순하고 빠른 방법입니다.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|x_t  −  x_{t−1}|  &gt;  threshold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기본값 10 (도메인 단위에 맞게 조정)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구현 최단순 · 즉각 반응 · 연산 부담 없음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노이즈 많은 데이터에서 과탐지 · 느린 드리프트 미감지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센서 순간 이탈 · 공정값 돌발 점프 감지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1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② σ 배수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|현재 − 평균| &gt; N×σ   |   기본 통계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0E1B2A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</a:rPr>
              <a:t>기본 통계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전체 데이터의 평균과 표준편차를 기준으로, 현재 값이 N×σ를 초과하면 이상으로 판단하는 고전적 Z-Score 방식입니다.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|x  −  μ|  &gt;  N × σ   (N = threshold)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기본값 3 (3σ = 99.73% 신뢰구간)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통계적 근거 명확 · 정규분포 데이터에 최적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정규분포 가정 필요 · 극단 이상값이 σ를 왜곡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온도·압력·유량 등 정규분포 공정 파라미터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2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③ 변화율%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|(현재−직전)/직전|×100   |   기본 통계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0E1B2A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</a:rPr>
              <a:t>기본 통계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직전 값 대비 현재 값의 퍼센트 변화율이 임계값을 초과하면 이상으로 판단합니다. 절대값보다 상대적 변화를 포착합니다.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|(x_t − x_{t−1}) / x_{t−1}|  ×  100  &gt;  threshold(%)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기본값 10 (%)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스케일 독립적 · 상대 변화 포착 우수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직전값이 0에 가까울 때 발산 · 느린 추세 미감지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유량비율 · 수율 변화 · 상대적 변동 모니터링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3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④ 기울기 변화량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2차 차분 (가속도)   |   시계열/트렌드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1F172A"/>
          </a:solidFill>
          <a:ln w="1905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BC8CFF"/>
                </a:solidFill>
              </a:rPr>
              <a:t>시계열/트렌드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연속 세 점의 2차 차분(가속도)으로 기울기가 급격히 변하는 지점을 감지합니다. 방향 전환이나 급격한 추세 변화를 포착합니다.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|Δ²x_t|  =  |(x_t − x_{t−1}) − (x_{t−1} − x_{t−2})|  &gt;  threshold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기본값 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추세 변화 조기 감지 · 계산 단순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노이즈 증폭 · 고주파 잡음에 민감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트렌드 반전 · 가속 열화 감지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C8CFF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4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⑤ 이동창 기울기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윈도우 내 선형회귀   |   시계열/트렌드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1F172A"/>
          </a:solidFill>
          <a:ln w="1905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BC8CFF"/>
                </a:solidFill>
              </a:rPr>
              <a:t>시계열/트렌드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슬라이딩 윈도우 내 데이터에 선형회귀를 적용하여 기울기(slope)가 임계값을 초과하면 이상으로 판단합니다.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|slope(x_{t−w+1} … x_t)|  &gt;  threshold  (w = 윈도우 크기)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기본값 10 / 윈도우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노이즈 평활화 · 완만한 드리프트 감지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윈도우 크기 선택에 민감 · 급변 반응 느림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완만한 센서 드리프트 · 공정 열화 추세 감지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C8CFF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5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⑥ 일별 평균 차이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당일 평균 vs 전일 평균   |   시계열/트렌드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1F172A"/>
          </a:solidFill>
          <a:ln w="1905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BC8CFF"/>
                </a:solidFill>
              </a:rPr>
              <a:t>시계열/트렌드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당일 평균과 전일 평균의 차이가 임계값을 초과하면 일간 공정 레벨 변화를 이상으로 감지합니다.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|mean(오늘)  −  mean(어제)|  &gt;  threshold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기본값 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일별 레벨 이동 감지 · 날짜 단위 모니터링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당일 데이터 축적 전까지 적용 불가 · 일중 변화 누락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일간 공정 레벨 변화 · 교대조 편차 감지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C8CFF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6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⑦ EWMA 관리도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지수가중 이동평균 · 소수점 드리프트   |   관리도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0A1E0D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FB950"/>
                </a:solidFill>
              </a:rPr>
              <a:t>관리도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최근 데이터에 더 높은 가중치를 부여하는 지수가중이동평균(EWMA)으로 제어 한계(UCL/LCL)를 계산하여 미세 드리프트를 조기 감지합니다.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Z_t = λ×x_t + (1−λ)×Z_{t−1}   UCL/LCL = μ ± L×σ×√(λ/(2−λ))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λ(람다) 기본 0.2 / L=3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소폭 트렌드 변화 조기 감지 · 반도체 SPC 표준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λ값 선택이 성능에 큰 영향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반도체 공정 미세 드리프트 · 점진적 열화 감지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FB950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7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⑧ CUSUM 관리도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누적합 · 초정밀 시프트 감지   |   관리도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0A1E0D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FB950"/>
                </a:solidFill>
              </a:rPr>
              <a:t>관리도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목표값으로부터 편차의 누적합(CUSUM)을 추적하여 작은 지속적 공정 이동을 빠르게 감지합니다.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C⁺_t = max(0, C⁺_{t−1} + x_t − μ − K)   C⁻_t = min(0, …)   |C| &gt; H 시 이상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K=0.5σ (기준값) / H=5σ (결정 임계값)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1σ 이하 소폭 이동도 감지 · SPC 이론적 표준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파라미터(K, H) 설정 복잡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공정 평균 이동 · 장기 드리프트 · 미세 시프트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FB950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8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⑨ 런 규칙 — 연속 편향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연속 N개 평균 한쪽 치우침   |   관리도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0A1E0D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FB950"/>
                </a:solidFill>
              </a:rPr>
              <a:t>관리도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연속 N개 데이터 포인트가 모두 평균의 같은 쪽에 위치하면 공정 편향(bias)으로 이상 판정합니다 (Western Electric Rule 2).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x_{t−N+1} … x_t 모두 μ 초과  또는  모두 μ 미만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연속 편향 기본 N = 윈도우 크기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평균 이동을 부호만으로 감지 · 오경보 낮음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급격한 단기 이상 미감지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공정 평균 편향 · 계통 오차 감지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FB950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9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⑩ 런 규칙 — 단조 트렌드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연속 N개 증가 또는 감소   |   관리도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0A1E0D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FB950"/>
                </a:solidFill>
              </a:rPr>
              <a:t>관리도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연속 N개 데이터 포인트가 모두 단조 증가(또는 감소)하면 추세 이상으로 판정합니다 (Western Electric Rule 3).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x_{t−N+1} &lt; x_{t−N+2} &lt; … &lt; x_t  (전부 증가)  또는  전부 감소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연속 증감 기본 N = 윈도우 크기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드리프트 방향 명확히 감지 · 직관적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비단조 노이즈 환경에서 오탐 가능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단방향 센서 열화 · 공정 트렌드 조기 경보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FB950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10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⑪ SPC 복합 규칙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2/3→2σ · 4/5→1σ 서양전기   |   관리도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0A1E0D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FB950"/>
                </a:solidFill>
              </a:rPr>
              <a:t>관리도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Western Electric(서양전기) 복합 SPC 규칙을 적용합니다. 3점 중 2점이 2σ 밖, 5점 중 4점이 1σ 밖 등 여러 패턴을 동시에 검사합니다.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Rule1: |x|&gt;3σ  Rule2: 3중2점&gt;2σ  Rule3: 5중4점&gt;1σ  Rule4: 8점연속편향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σ 기반 자동 계산 (별도 임계값 없음)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다양한 이상 패턴 동시 감지 · SPC 국제 표준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규칙이 복잡 · 오경보율 상승 가능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정밀 공정 제어 · 품질 관리 시스템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FB950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11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⑫ IQR 박스플롯 이상치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Q3+k·IQR 초과   |   기본 통계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0E1B2A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</a:rPr>
              <a:t>기본 통계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1사분위수(Q1)~3사분위수(Q3)의 사분위수 범위(IQR)를 기준으로 상·하한 울타리 밖의 값을 이상으로 감지합니다.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이상: x &gt; Q3 + k×IQR  또는  x &lt; Q1 − k×IQR   (IQR = Q3−Q1)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k = 기본 1.5 (온화) / 3.0 (극단)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비모수적 · 분포 가정 불필요 · 박스플롯과 연계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정상 분포에서도 극단값 탐지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분포 미지 데이터 · 탐색적 이상치 검출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12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⑬ Modified Z-score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MAD 기반 · 이상치 강건   |   기본 통계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0E1B2A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FF"/>
                </a:solidFill>
              </a:rPr>
              <a:t>기본 통계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중위수(Median)와 MAD(중위절대편차)를 사용하여 이상값 자체에 민감하지 않은 강건한 Z-점수를 계산합니다.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M = 0.6745 × (x − median) / MAD   |M| &gt; threshold 시 이상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기본값 3.5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이상값에 강건 · 비대칭 분포 적합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MAD = 0일 때 계산 불가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극단 이상값 포함 센서 데이터 · 강건 이상 감지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13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⑭ Wafer-to-Wafer 편차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SLOT별 반복 이탈   |   반도체 특화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251D0A"/>
          </a:solidFill>
          <a:ln w="1905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3B341"/>
                </a:solidFill>
              </a:rPr>
              <a:t>반도체 특화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같은 SLOT/위치의 웨이퍼간 반복 측정값을 비교하여, 특정 SLOT에서 반복적으로 이탈이 발생하면 이상으로 감지합니다.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SLOT별 편차 = |x_slot − mean(해당 SLOT)| &gt; threshold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기본값 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SLOT 위치별 재현성 이상 감지 · 반도체 특화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SLOT 정보 칼럼 필수 · 충분한 웨이퍼 수 필요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반도체 공정 SLOT-to-SLOT 균일성 관리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3B341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14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⑮ Chamber Matching 편차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CH간 불균형 감지   |   반도체 특화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251D0A"/>
          </a:solidFill>
          <a:ln w="1905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3B341"/>
                </a:solidFill>
              </a:rPr>
              <a:t>반도체 특화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여러 챔버(CH) 간 측정값의 평균 차이를 비교하여 특정 챔버가 다른 챔버들과 불균형하게 이탈하면 이상으로 감지합니다.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|mean(CH_i) − mean(전체 CH)| &gt; threshold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기본값 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챔버 간 매칭 불량 조기 발견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CH 정보 칼럼 필수 · 챔버 2개 이상 필요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멀티챔버 장비 CH Matching · CVD/Etch 균일성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3B341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15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⑯ Lot-to-Lot 평균 이탈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LOT별 평균 vs 전체 평균   |   반도체 특화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251D0A"/>
          </a:solidFill>
          <a:ln w="1905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3B341"/>
                </a:solidFill>
              </a:rPr>
              <a:t>반도체 특화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각 LOT의 평균값이 전체 평균에서 임계값 이상 이탈하면 LOT 단위 이상으로 판정합니다.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|mean(LOT_i) − mean(전체)| &gt; threshold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기본값 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LOT 단위 공정 이상 감지 · 배치 공정 적합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LOT 정보 필수 · LOT 내 변동 무시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배치 공정 LOT 간 레벨 이동 · 재료 LOT 관리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3B341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16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3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3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⑰ t-검정 계단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평균 level shift 감지   |   통계 검정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092328"/>
          </a:solidFill>
          <a:ln w="19050">
            <a:solidFill>
              <a:srgbClr val="3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9D3F0"/>
                </a:solidFill>
              </a:rPr>
              <a:t>통계 검정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슬라이딩 윈도우를 두 구간으로 나누어 t-검정을 수행하고, 두 구간의 평균이 통계적으로 유의미하게 다르면 이상으로 판정합니다.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t = (μ₁−μ₂) / (s_p × √(1/n₁+1/n₂))   |t| &gt; t_{α/2, df}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임계값 = t 통계량 기준 (기본 2.0)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통계적 유의성 기반 · 계단식 레벨 변화 감지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윈도우 크기 선택 필요 · 정규분포 가정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공정 레벨 변화 · 레시피 변경 감지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D3F0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17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3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3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⑱ F-검정 분산 급변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노이즈 급증 감지   |   통계 검정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092328"/>
          </a:solidFill>
          <a:ln w="19050">
            <a:solidFill>
              <a:srgbClr val="3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9D3F0"/>
                </a:solidFill>
              </a:rPr>
              <a:t>통계 검정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슬라이딩 윈도우를 두 구간으로 나누어 F-검정을 수행하고, 분산 비율이 임계값을 초과하면 분산 급증으로 이상 판정합니다.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F = σ₁² / σ₂²   F &gt; F_{α, df₁, df₂} 시 이상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임계값 = F 통계량 기준 (기본 2.0)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분산 급변 전용 · 노이즈 증가 감지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분포 가정 필요 · 분산 감소는 기본 비감지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장비 진동 급증 · 센서 노이즈 급격 증가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D3F0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9D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18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⑲ 이동 통계 관리한계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Rolling σ · 동적 이상감지   |   관리도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0A1E0D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FB950"/>
                </a:solidFill>
              </a:rPr>
              <a:t>관리도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슬라이딩 윈도우의 이동평균과 이동표준편차로 동적 관리한계(UCL/LCL)를 실시간 계산하여 트렌드 변화에 적응합니다.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|x_t − rolling_mean| &gt; N × rolling_std   (N = threshold 배수)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배수 기본 3 / 윈도우 기본 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동적 한계로 트렌드 자동 추적 · 적응형 감지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윈도우 크기 선택 중요 · 초기 구간 불안정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트렌드 있는 공정 데이터 · 계절성 있는 센서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FB950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19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⑳ 설비간 편차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Fleet Deviation · 다설비 비교   |   반도체 특화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251D0A"/>
          </a:solidFill>
          <a:ln w="1905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3B341"/>
                </a:solidFill>
              </a:rPr>
              <a:t>반도체 특화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동일 PPID(공정 조건)로 동작하는 여러 설비(EQP)의 평균을 비교하여 특정 설비가 Fleet(군) 평균에서 이탈하면 이상으로 감지합니다.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|mean(EQP_i) − mean(Fleet 전체)| &gt; threshold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기본값 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설비 간 편차 자동 감지 · 다설비 운영에 필수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EQP·PPID 정보 필수 · 설비 2대 이상 필요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멀티설비 공정 편차 · 설비 이상 조기 발견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3B341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20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㉑ Cp/Cpk 공정 능력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USL/LSL 기반 공정 이탈   |   공정 능력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290D0C"/>
          </a:solidFill>
          <a:ln w="1905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5149"/>
                </a:solidFill>
              </a:rPr>
              <a:t>공정 능력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공정 스펙(USL/LSL)과 공정 능력 지수(Cpk)를 계산하여 공정이 규격 범위를 벗어날 때 이상으로 감지합니다.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Cp=(USL−LSL)/6σ   Cpk=min((USL−μ)/3σ,(μ−LSL)/3σ)   Cpk&lt;1.0 이상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Cpk &lt; 1.0 (기본) — USL/LSL 입력 필수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공정 스펙 직접 반영 · 품질 규격 기반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USL/LSL 사전 입력 필수 · 정규분포 가정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공정 스펙 이탈 감지 · 품질 인증 모니터링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85149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21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㉒ Nelson 8개 규칙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완전 SPC 규칙 복합 적용   |   관리도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0A1E0D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FB950"/>
                </a:solidFill>
              </a:rPr>
              <a:t>관리도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Nelson(1984) 8가지 SPC 규칙 전체를 적용합니다. 1점 3σ 이탈부터 15점 연속 1σ 내 위치까지 다양한 이상 패턴을 동시에 검사합니다.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Rule1~8: 1점&gt;3σ / 9점편향 / 6점단조 / 14점교차 / 2/3&gt;2σ / 4/5&gt;1σ / 15점&lt;1σ / 8점&gt;1σ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σ 기반 자동 계산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최완전한 SPC 규칙 · ISO/SEMI 표준 준수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규칙 많아 오경보 증가 · 해석 복잡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고정밀 공정 품질 관리 · SPC 감사 대응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FB950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22 /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210312"/>
            <a:ext cx="667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㉓ 변동계수 급변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2179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</a:rPr>
              <a:t>CV Shift · LOT간 산포 변화   |   변동성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solidFill>
            <a:srgbClr val="2A170B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92608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8C42"/>
                </a:solidFill>
              </a:rPr>
              <a:t>변동성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234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1D9"/>
                </a:solidFill>
              </a:rPr>
              <a:t>변동계수(CV = σ/μ × 100%)의 변화를 추적하여 산포(변동성)가 급격히 변하는 LOT/구간을 감지합니다.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828800"/>
            <a:ext cx="6492240" cy="50292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883664"/>
            <a:ext cx="6217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8A6FF"/>
                </a:solidFill>
              </a:rPr>
              <a:t>수식:  CV = (σ / μ) × 100%   |CV_현재 − CV_기준| &gt; threshold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395728"/>
            <a:ext cx="6492240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4144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3B341"/>
                </a:solidFill>
              </a:rPr>
              <a:t>⚙  임계값:  기본값 10 (%)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2871216"/>
            <a:ext cx="2029968" cy="2395728"/>
          </a:xfrm>
          <a:prstGeom prst="rect">
            <a:avLst/>
          </a:prstGeom>
          <a:solidFill>
            <a:srgbClr val="0A2010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FB950"/>
                </a:solidFill>
              </a:rPr>
              <a:t>✅ 장점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스케일 독립적 산포 감지 · LOT 간 산포 비교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871216"/>
            <a:ext cx="2029968" cy="2395728"/>
          </a:xfrm>
          <a:prstGeom prst="rect">
            <a:avLst/>
          </a:prstGeom>
          <a:solidFill>
            <a:srgbClr val="251010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85149"/>
                </a:solidFill>
              </a:rPr>
              <a:t>⚠ 단점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평균이 0에 가까울 때 발산 · 평균 변화와 혼용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3984" y="2871216"/>
            <a:ext cx="2029968" cy="2395728"/>
          </a:xfrm>
          <a:prstGeom prst="rect">
            <a:avLst/>
          </a:prstGeom>
          <a:solidFill>
            <a:srgbClr val="0D1428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944368"/>
            <a:ext cx="184708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8A6FF"/>
                </a:solidFill>
              </a:rPr>
              <a:t>🏭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264408"/>
            <a:ext cx="1847088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LOT 간 산포 변화 · 재료 균일성 관리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115568"/>
            <a:ext cx="5257800" cy="5678424"/>
          </a:xfrm>
          <a:prstGeom prst="rect">
            <a:avLst/>
          </a:prstGeom>
          <a:solidFill>
            <a:srgbClr val="161B22"/>
          </a:solidFill>
          <a:ln w="127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152144"/>
            <a:ext cx="5166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42"/>
                </a:solidFill>
              </a:rPr>
              <a:t>📈 예시 그래프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80744"/>
            <a:ext cx="5166360" cy="51114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7352" y="6510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23 / 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FDC 이상감지 23가지 방식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914400"/>
            <a:ext cx="11786616" cy="694944"/>
          </a:xfrm>
          <a:prstGeom prst="rect">
            <a:avLst/>
          </a:prstGeom>
          <a:solidFill>
            <a:srgbClr val="0B141F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9692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📊 기본 통계 (5)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978408"/>
            <a:ext cx="8686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① 절대값 차이  ② σ 배수  ③ 변화율%  ⑫ IQR 박스플롯  ⑬ Modified Z-score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682496"/>
            <a:ext cx="11786616" cy="694944"/>
          </a:xfrm>
          <a:prstGeom prst="rect">
            <a:avLst/>
          </a:prstGeom>
          <a:solidFill>
            <a:srgbClr val="17111F"/>
          </a:solidFill>
          <a:ln w="1270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C8CFF"/>
                </a:solidFill>
              </a:rPr>
              <a:t>⏱ 시계열/트렌드 (3)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746504"/>
            <a:ext cx="8686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④ 기울기 변화량(2차 차분)  ⑤ 이동창 기울기(회귀)  ⑥ 일별 평균 차이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2450592"/>
            <a:ext cx="11786616" cy="694944"/>
          </a:xfrm>
          <a:prstGeom prst="rect">
            <a:avLst/>
          </a:prstGeom>
          <a:solidFill>
            <a:srgbClr val="07170A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5054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</a:rPr>
              <a:t>📉 관리도 (5)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514600"/>
            <a:ext cx="8686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⑦ EWMA 관리도  ⑧ CUSUM  ⑨ 런 규칙-편향  ⑩ 런 규칙-트렌드  ⑪ SPC 복합 규칙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3218688"/>
            <a:ext cx="11786616" cy="694944"/>
          </a:xfrm>
          <a:prstGeom prst="rect">
            <a:avLst/>
          </a:prstGeom>
          <a:solidFill>
            <a:srgbClr val="1C1608"/>
          </a:solidFill>
          <a:ln w="1270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32735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B341"/>
                </a:solidFill>
              </a:rPr>
              <a:t>🔬 반도체 특화 (4)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82696"/>
            <a:ext cx="8686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⑭ Wafer-to-Wafer 편차  ⑮ Chamber Matching  ⑯ Lot-to-Lot 이탈  ⑳ 설비간 편차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986784"/>
            <a:ext cx="11786616" cy="694944"/>
          </a:xfrm>
          <a:prstGeom prst="rect">
            <a:avLst/>
          </a:prstGeom>
          <a:solidFill>
            <a:srgbClr val="071A1E"/>
          </a:solidFill>
          <a:ln w="12700">
            <a:solidFill>
              <a:srgbClr val="3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40416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9D3F0"/>
                </a:solidFill>
              </a:rPr>
              <a:t>🧪 통계 검정 (2)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050792"/>
            <a:ext cx="8686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⑰ t-검정 계단 변화 (level shift)  ⑱ F-검정 분산 급변 (노이즈 급증)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" y="4754880"/>
            <a:ext cx="11786616" cy="694944"/>
          </a:xfrm>
          <a:prstGeom prst="rect">
            <a:avLst/>
          </a:prstGeom>
          <a:solidFill>
            <a:srgbClr val="1F1108"/>
          </a:solidFill>
          <a:ln w="127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48097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8C42"/>
                </a:solidFill>
              </a:rPr>
              <a:t>⚙ 공정 능력·변동성 (4)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18888"/>
            <a:ext cx="8686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⑲ 이동 통계 관리한계 (Rolling σ)  ㉑ Cp/Cpk 공정 능력  ㉒ Nelson 8개 규칙  ㉓ 변동계수 급변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" y="5568696"/>
            <a:ext cx="11786616" cy="594360"/>
          </a:xfrm>
          <a:prstGeom prst="rect">
            <a:avLst/>
          </a:prstGeom>
          <a:solidFill>
            <a:srgbClr val="0D1933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5614416"/>
            <a:ext cx="114574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A6FF"/>
                </a:solidFill>
              </a:rPr>
              <a:t>💡 선택 팁:  즉각 감지 → ①절대값·③변화율  |  미세 드리프트 → ⑦EWMA·⑧CUSUM  |  반도체 특화 → ⑭WtW·⑮CH Match·⑯L2L·⑳Fleet  |  정밀 품질 → ㉑Cpk·㉒Nelson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✨  임계값 추천 기능 — 동작 원리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4980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</a:rPr>
              <a:t>✨ 추천 버튼 클릭 시 현재 데이터 분포를 분석하여 선택된 방식에 맞는 최적 임계값을 자동 계산합니다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234440"/>
            <a:ext cx="3657600" cy="2606040"/>
          </a:xfrm>
          <a:prstGeom prst="rect">
            <a:avLst/>
          </a:prstGeom>
          <a:solidFill>
            <a:srgbClr val="0D1933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2984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B341"/>
                </a:solidFill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</a:rPr>
              <a:t>데이터 기초 통계 계산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2057400"/>
            <a:ext cx="3383280" cy="402336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</a:rPr>
              <a:t>평균 (μ)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1031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전체 데이터 합 ÷ 개수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2514600"/>
            <a:ext cx="3383280" cy="402336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60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</a:rPr>
              <a:t>표준편차 (σ)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560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분포의 퍼짐 정도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971800"/>
            <a:ext cx="3383280" cy="402336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17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</a:rPr>
              <a:t>Q1, Q3, IQR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0175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사분위수 범위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3429000"/>
            <a:ext cx="3383280" cy="402336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4747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</a:rPr>
              <a:t>중위수, MAD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474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강건 통계량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3B341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1234440"/>
            <a:ext cx="7452360" cy="2606040"/>
          </a:xfrm>
          <a:prstGeom prst="rect">
            <a:avLst/>
          </a:prstGeom>
          <a:solidFill>
            <a:srgbClr val="0D1933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12984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B341"/>
                </a:solidFill>
              </a:rPr>
              <a:t>STEP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162763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</a:rPr>
              <a:t>방식별 추천 공식 적용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20299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</a:rPr>
              <a:t>데이터 기반 (9가지)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24140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• 실제 σ를 계산에 활용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27980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• 데이터 스케일에 자동 맞춤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1821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예) ① 절대값 → 내 데이터 σ ×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35661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예) ③ 변화율% → (σ/μ) × 300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39502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예) ⑦ EWMA → 내 데이터 σ ×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0299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B341"/>
                </a:solidFill>
              </a:rPr>
              <a:t>이론 고정값 (14가지)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24140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• 데이터와 무관하게 항상 동일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7980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• 국제 표준·SPC 이론값 반환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1821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예) ② σ 배수 → 항상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5661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예) ⑫ IQR → 항상 1.5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9502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D1D9"/>
                </a:solidFill>
              </a:rPr>
              <a:t>예) ㉑ Cpk → 항상 1.33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2011680"/>
            <a:ext cx="18288" cy="228600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8600" y="3977639"/>
            <a:ext cx="11731752" cy="502920"/>
          </a:xfrm>
          <a:prstGeom prst="rect">
            <a:avLst/>
          </a:prstGeom>
          <a:solidFill>
            <a:srgbClr val="162416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" y="4005072"/>
            <a:ext cx="11411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FB950"/>
                </a:solidFill>
              </a:rPr>
              <a:t>✅  결과:  임계값 입력란에 자동 입력  +  토스트 메시지로 추천 근거 표시  (예: 추천 임계값: 6.24  (3σ 기준))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617720"/>
            <a:ext cx="11731752" cy="1664208"/>
          </a:xfrm>
          <a:prstGeom prst="rect">
            <a:avLst/>
          </a:prstGeom>
          <a:solidFill>
            <a:srgbClr val="13131A"/>
          </a:solidFill>
          <a:ln w="12700">
            <a:solidFill>
              <a:srgbClr val="8B9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949E"/>
                </a:solidFill>
              </a:rPr>
              <a:t>📋  방식별 추천 공식 요약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49834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• ① 절대값 차이 → 데이터 σ ×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4983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• ⑰ t-검정  → σ ×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" y="52760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• ③ 변화율%   → (σ/μ) × 300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527608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• ㉓ CV Shift → (σ/μ) × 30%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55686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• ④⑤⑥ 기울기·일별 → σ ×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556869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• ⑭⑮⑯ 반도체 특화 → σ × 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" y="58613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• ⑦ EWMA   → σ × 3  (관리한계)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586130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• ② σ배수·⑨런·⑩트렌드·⑪SPC·⑫IQR·⑬ModZ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" y="61539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• ⑧ CUSUM  → σ × 5  (결정 임계 H)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615391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9D1D9"/>
                </a:solidFill>
              </a:rPr>
              <a:t>• ⑱F검정·⑲Rolling·⑳Fleet·㉑Cpk·㉒Nelson → 고정값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43032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부록 1 / 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✨  임계값 추천 — 방식별 상세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85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</a:rPr>
              <a:t>데이터 기반 추천 vs 이론 고정값 비교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097280"/>
            <a:ext cx="6217920" cy="274320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11556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8B949E"/>
                </a:solidFill>
              </a:rPr>
              <a:t>감지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111556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8B949E"/>
                </a:solidFill>
              </a:rPr>
              <a:t>추천 공식 / 근거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111556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8B949E"/>
                </a:solidFill>
              </a:rPr>
              <a:t>유형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389888"/>
            <a:ext cx="6217920" cy="224028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408176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① 절대값 차이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1408176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8A6FF"/>
                </a:solidFill>
              </a:rPr>
              <a:t>데이터 σ ×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24728" y="1417320"/>
            <a:ext cx="566928" cy="169164"/>
          </a:xfrm>
          <a:prstGeom prst="rect">
            <a:avLst/>
          </a:prstGeom>
          <a:solidFill>
            <a:srgbClr val="0D1933"/>
          </a:solidFill>
          <a:ln w="889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4728" y="1417320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8A6FF"/>
                </a:solidFill>
              </a:rPr>
              <a:t>데이터 기반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1613916"/>
            <a:ext cx="6217920" cy="224028"/>
          </a:xfrm>
          <a:prstGeom prst="rect">
            <a:avLst/>
          </a:prstGeom>
          <a:solidFill>
            <a:srgbClr val="13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1632204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② σ 배수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608" y="1632204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3B341"/>
                </a:solidFill>
              </a:rPr>
              <a:t>항상 3  (3σ 통계 표준)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24728" y="1641348"/>
            <a:ext cx="566928" cy="169164"/>
          </a:xfrm>
          <a:prstGeom prst="rect">
            <a:avLst/>
          </a:prstGeom>
          <a:solidFill>
            <a:srgbClr val="1A1200"/>
          </a:solidFill>
          <a:ln w="889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4728" y="1641348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3B341"/>
                </a:solidFill>
              </a:rPr>
              <a:t>고정값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1837944"/>
            <a:ext cx="6217920" cy="224028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1856232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③ 변화율%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8608" y="1856232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8A6FF"/>
                </a:solidFill>
              </a:rPr>
              <a:t>데이터 (σ/μ) × 300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24728" y="1865376"/>
            <a:ext cx="566928" cy="169164"/>
          </a:xfrm>
          <a:prstGeom prst="rect">
            <a:avLst/>
          </a:prstGeom>
          <a:solidFill>
            <a:srgbClr val="0D1933"/>
          </a:solidFill>
          <a:ln w="889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4728" y="1865376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8A6FF"/>
                </a:solidFill>
              </a:rPr>
              <a:t>데이터 기반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" y="2061972"/>
            <a:ext cx="6217920" cy="224028"/>
          </a:xfrm>
          <a:prstGeom prst="rect">
            <a:avLst/>
          </a:prstGeom>
          <a:solidFill>
            <a:srgbClr val="13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2080260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④ 기울기 변화량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78608" y="2080260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8A6FF"/>
                </a:solidFill>
              </a:rPr>
              <a:t>데이터 σ ×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24728" y="2089404"/>
            <a:ext cx="566928" cy="169164"/>
          </a:xfrm>
          <a:prstGeom prst="rect">
            <a:avLst/>
          </a:prstGeom>
          <a:solidFill>
            <a:srgbClr val="0D1933"/>
          </a:solidFill>
          <a:ln w="889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24728" y="2089404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8A6FF"/>
                </a:solidFill>
              </a:rPr>
              <a:t>데이터 기반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" y="2286000"/>
            <a:ext cx="6217920" cy="224028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2304288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⑤ 이동창 기울기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78608" y="2304288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8A6FF"/>
                </a:solidFill>
              </a:rPr>
              <a:t>데이터 σ × 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24728" y="2313432"/>
            <a:ext cx="566928" cy="169164"/>
          </a:xfrm>
          <a:prstGeom prst="rect">
            <a:avLst/>
          </a:prstGeom>
          <a:solidFill>
            <a:srgbClr val="0D1933"/>
          </a:solidFill>
          <a:ln w="889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24728" y="2313432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8A6FF"/>
                </a:solidFill>
              </a:rPr>
              <a:t>데이터 기반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8" y="2510028"/>
            <a:ext cx="6217920" cy="224028"/>
          </a:xfrm>
          <a:prstGeom prst="rect">
            <a:avLst/>
          </a:prstGeom>
          <a:solidFill>
            <a:srgbClr val="13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2528316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⑥ 일별 평균 차이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78608" y="2528316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8A6FF"/>
                </a:solidFill>
              </a:rPr>
              <a:t>데이터 σ × 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24728" y="2537460"/>
            <a:ext cx="566928" cy="169164"/>
          </a:xfrm>
          <a:prstGeom prst="rect">
            <a:avLst/>
          </a:prstGeom>
          <a:solidFill>
            <a:srgbClr val="0D1933"/>
          </a:solidFill>
          <a:ln w="889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24728" y="2537460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8A6FF"/>
                </a:solidFill>
              </a:rPr>
              <a:t>데이터 기반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1168" y="2734056"/>
            <a:ext cx="6217920" cy="224028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2752344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⑦ EWMA 관리도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78608" y="2752344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8A6FF"/>
                </a:solidFill>
              </a:rPr>
              <a:t>데이터 σ × 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24728" y="2761488"/>
            <a:ext cx="566928" cy="169164"/>
          </a:xfrm>
          <a:prstGeom prst="rect">
            <a:avLst/>
          </a:prstGeom>
          <a:solidFill>
            <a:srgbClr val="0D1933"/>
          </a:solidFill>
          <a:ln w="889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24728" y="2761488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8A6FF"/>
                </a:solidFill>
              </a:rPr>
              <a:t>데이터 기반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" y="2958084"/>
            <a:ext cx="6217920" cy="224028"/>
          </a:xfrm>
          <a:prstGeom prst="rect">
            <a:avLst/>
          </a:prstGeom>
          <a:solidFill>
            <a:srgbClr val="13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2976372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⑧ CUSUM 관리도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78608" y="2976372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8A6FF"/>
                </a:solidFill>
              </a:rPr>
              <a:t>데이터 σ × 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24728" y="2985516"/>
            <a:ext cx="566928" cy="169164"/>
          </a:xfrm>
          <a:prstGeom prst="rect">
            <a:avLst/>
          </a:prstGeom>
          <a:solidFill>
            <a:srgbClr val="0D1933"/>
          </a:solidFill>
          <a:ln w="889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24728" y="2985516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8A6FF"/>
                </a:solidFill>
              </a:rPr>
              <a:t>데이터 기반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1168" y="3182112"/>
            <a:ext cx="6217920" cy="224028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3200400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⑨ 런 규칙-편향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78608" y="3200400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3B341"/>
                </a:solidFill>
              </a:rPr>
              <a:t>항상 7  (SPC 표준)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24728" y="3209544"/>
            <a:ext cx="566928" cy="169164"/>
          </a:xfrm>
          <a:prstGeom prst="rect">
            <a:avLst/>
          </a:prstGeom>
          <a:solidFill>
            <a:srgbClr val="1A1200"/>
          </a:solidFill>
          <a:ln w="889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24728" y="3209544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3B341"/>
                </a:solidFill>
              </a:rPr>
              <a:t>고정값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1168" y="3406140"/>
            <a:ext cx="6217920" cy="224028"/>
          </a:xfrm>
          <a:prstGeom prst="rect">
            <a:avLst/>
          </a:prstGeom>
          <a:solidFill>
            <a:srgbClr val="13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3424428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⑩ 런 규칙-트렌드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78608" y="3424428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3B341"/>
                </a:solidFill>
              </a:rPr>
              <a:t>항상 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24728" y="3433572"/>
            <a:ext cx="566928" cy="169164"/>
          </a:xfrm>
          <a:prstGeom prst="rect">
            <a:avLst/>
          </a:prstGeom>
          <a:solidFill>
            <a:srgbClr val="1A1200"/>
          </a:solidFill>
          <a:ln w="889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24728" y="3433572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3B341"/>
                </a:solidFill>
              </a:rPr>
              <a:t>고정값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1168" y="3630168"/>
            <a:ext cx="6217920" cy="224028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" y="3648456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⑪ SPC 복합 규칙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78608" y="3648456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3B341"/>
                </a:solidFill>
              </a:rPr>
              <a:t>항상 2  (서양전기 기준)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24728" y="3657600"/>
            <a:ext cx="566928" cy="169164"/>
          </a:xfrm>
          <a:prstGeom prst="rect">
            <a:avLst/>
          </a:prstGeom>
          <a:solidFill>
            <a:srgbClr val="1A1200"/>
          </a:solidFill>
          <a:ln w="889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24728" y="3657600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3B341"/>
                </a:solidFill>
              </a:rPr>
              <a:t>고정값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1168" y="3854196"/>
            <a:ext cx="6217920" cy="224028"/>
          </a:xfrm>
          <a:prstGeom prst="rect">
            <a:avLst/>
          </a:prstGeom>
          <a:solidFill>
            <a:srgbClr val="13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" y="3872484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⑫ IQR 박스플롯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78608" y="3872484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3B341"/>
                </a:solidFill>
              </a:rPr>
              <a:t>항상 1.5  (박스플롯 표준)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24728" y="3881628"/>
            <a:ext cx="566928" cy="169164"/>
          </a:xfrm>
          <a:prstGeom prst="rect">
            <a:avLst/>
          </a:prstGeom>
          <a:solidFill>
            <a:srgbClr val="1A1200"/>
          </a:solidFill>
          <a:ln w="889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24728" y="3881628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3B341"/>
                </a:solidFill>
              </a:rPr>
              <a:t>고정값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1168" y="4078224"/>
            <a:ext cx="6217920" cy="224028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4096512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⑬ Modified Z-score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78608" y="4096512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3B341"/>
                </a:solidFill>
              </a:rPr>
              <a:t>항상 3.5  (Iglewicz 기준)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24728" y="4105656"/>
            <a:ext cx="566928" cy="169164"/>
          </a:xfrm>
          <a:prstGeom prst="rect">
            <a:avLst/>
          </a:prstGeom>
          <a:solidFill>
            <a:srgbClr val="1A1200"/>
          </a:solidFill>
          <a:ln w="889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24728" y="4105656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3B341"/>
                </a:solidFill>
              </a:rPr>
              <a:t>고정값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1168" y="4302252"/>
            <a:ext cx="6217920" cy="224028"/>
          </a:xfrm>
          <a:prstGeom prst="rect">
            <a:avLst/>
          </a:prstGeom>
          <a:solidFill>
            <a:srgbClr val="13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4320" y="4320540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⑭ Wafer-to-Wafer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78608" y="4320540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8A6FF"/>
                </a:solidFill>
              </a:rPr>
              <a:t>데이터 σ × 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824728" y="4329684"/>
            <a:ext cx="566928" cy="169164"/>
          </a:xfrm>
          <a:prstGeom prst="rect">
            <a:avLst/>
          </a:prstGeom>
          <a:solidFill>
            <a:srgbClr val="0D1933"/>
          </a:solidFill>
          <a:ln w="889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824728" y="4329684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8A6FF"/>
                </a:solidFill>
              </a:rPr>
              <a:t>데이터 기반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01168" y="4526280"/>
            <a:ext cx="6217920" cy="224028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4320" y="4544568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⑮ Chamber Matching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78608" y="4544568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8A6FF"/>
                </a:solidFill>
              </a:rPr>
              <a:t>데이터 σ × 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824728" y="4553712"/>
            <a:ext cx="566928" cy="169164"/>
          </a:xfrm>
          <a:prstGeom prst="rect">
            <a:avLst/>
          </a:prstGeom>
          <a:solidFill>
            <a:srgbClr val="0D1933"/>
          </a:solidFill>
          <a:ln w="889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824728" y="4553712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8A6FF"/>
                </a:solidFill>
              </a:rPr>
              <a:t>데이터 기반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01168" y="4750308"/>
            <a:ext cx="6217920" cy="224028"/>
          </a:xfrm>
          <a:prstGeom prst="rect">
            <a:avLst/>
          </a:prstGeom>
          <a:solidFill>
            <a:srgbClr val="13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4320" y="4768596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⑯ Lot-to-Lot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78608" y="4768596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8A6FF"/>
                </a:solidFill>
              </a:rPr>
              <a:t>데이터 σ × 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824728" y="4777740"/>
            <a:ext cx="566928" cy="169164"/>
          </a:xfrm>
          <a:prstGeom prst="rect">
            <a:avLst/>
          </a:prstGeom>
          <a:solidFill>
            <a:srgbClr val="0D1933"/>
          </a:solidFill>
          <a:ln w="889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824728" y="4777740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8A6FF"/>
                </a:solidFill>
              </a:rPr>
              <a:t>데이터 기반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1168" y="4974336"/>
            <a:ext cx="6217920" cy="224028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74320" y="4992624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⑰ t-검정 계단 변화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578608" y="4992624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8A6FF"/>
                </a:solidFill>
              </a:rPr>
              <a:t>데이터 σ × 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824728" y="5001768"/>
            <a:ext cx="566928" cy="169164"/>
          </a:xfrm>
          <a:prstGeom prst="rect">
            <a:avLst/>
          </a:prstGeom>
          <a:solidFill>
            <a:srgbClr val="0D1933"/>
          </a:solidFill>
          <a:ln w="889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824728" y="5001768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8A6FF"/>
                </a:solidFill>
              </a:rPr>
              <a:t>데이터 기반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01168" y="5198364"/>
            <a:ext cx="6217920" cy="224028"/>
          </a:xfrm>
          <a:prstGeom prst="rect">
            <a:avLst/>
          </a:prstGeom>
          <a:solidFill>
            <a:srgbClr val="13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74320" y="5216652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⑱ F-검정 분산 급변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578608" y="5216652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3B341"/>
                </a:solidFill>
              </a:rPr>
              <a:t>항상 4  (분산비 기준)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824728" y="5225796"/>
            <a:ext cx="566928" cy="169164"/>
          </a:xfrm>
          <a:prstGeom prst="rect">
            <a:avLst/>
          </a:prstGeom>
          <a:solidFill>
            <a:srgbClr val="1A1200"/>
          </a:solidFill>
          <a:ln w="889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824728" y="5225796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3B341"/>
                </a:solidFill>
              </a:rPr>
              <a:t>고정값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01168" y="5422392"/>
            <a:ext cx="6217920" cy="224028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74320" y="5440680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⑲ 이동 통계 관리한계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578608" y="5440680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3B341"/>
                </a:solidFill>
              </a:rPr>
              <a:t>항상 3  (3σ 동적 관리한계)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824728" y="5449824"/>
            <a:ext cx="566928" cy="169164"/>
          </a:xfrm>
          <a:prstGeom prst="rect">
            <a:avLst/>
          </a:prstGeom>
          <a:solidFill>
            <a:srgbClr val="1A1200"/>
          </a:solidFill>
          <a:ln w="889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824728" y="5449824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3B341"/>
                </a:solidFill>
              </a:rPr>
              <a:t>고정값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01168" y="5646420"/>
            <a:ext cx="6217920" cy="224028"/>
          </a:xfrm>
          <a:prstGeom prst="rect">
            <a:avLst/>
          </a:prstGeom>
          <a:solidFill>
            <a:srgbClr val="13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74320" y="5664708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⑳ 설비간 편차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578608" y="5664708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3B341"/>
                </a:solidFill>
              </a:rPr>
              <a:t>항상 2  (2σ 기준)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824728" y="5673852"/>
            <a:ext cx="566928" cy="169164"/>
          </a:xfrm>
          <a:prstGeom prst="rect">
            <a:avLst/>
          </a:prstGeom>
          <a:solidFill>
            <a:srgbClr val="1A1200"/>
          </a:solidFill>
          <a:ln w="889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824728" y="5673852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3B341"/>
                </a:solidFill>
              </a:rPr>
              <a:t>고정값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01168" y="5870448"/>
            <a:ext cx="6217920" cy="224028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74320" y="5888736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㉑ Cp/Cpk 공정 능력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578608" y="5888736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3B341"/>
                </a:solidFill>
              </a:rPr>
              <a:t>항상 1.33  (공정 능력 표준)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824728" y="5897880"/>
            <a:ext cx="566928" cy="169164"/>
          </a:xfrm>
          <a:prstGeom prst="rect">
            <a:avLst/>
          </a:prstGeom>
          <a:solidFill>
            <a:srgbClr val="1A1200"/>
          </a:solidFill>
          <a:ln w="889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824728" y="5897880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3B341"/>
                </a:solidFill>
              </a:rPr>
              <a:t>고정값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01168" y="6094476"/>
            <a:ext cx="6217920" cy="224028"/>
          </a:xfrm>
          <a:prstGeom prst="rect">
            <a:avLst/>
          </a:prstGeom>
          <a:solidFill>
            <a:srgbClr val="13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74320" y="6112764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㉒ Nelson 8개 규칙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578608" y="6112764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3B341"/>
                </a:solidFill>
              </a:rPr>
              <a:t>항상 3  (Nelson Rule 1)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824728" y="6121908"/>
            <a:ext cx="566928" cy="169164"/>
          </a:xfrm>
          <a:prstGeom prst="rect">
            <a:avLst/>
          </a:prstGeom>
          <a:solidFill>
            <a:srgbClr val="1A1200"/>
          </a:solidFill>
          <a:ln w="889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824728" y="6121908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3B341"/>
                </a:solidFill>
              </a:rPr>
              <a:t>고정값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01168" y="6318504"/>
            <a:ext cx="6217920" cy="224028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74320" y="6336792"/>
            <a:ext cx="224028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㉓ 변동계수 급변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578608" y="6336792"/>
            <a:ext cx="329184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8A6FF"/>
                </a:solidFill>
              </a:rPr>
              <a:t>데이터 (σ/μ) × 30%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824728" y="6345936"/>
            <a:ext cx="566928" cy="169164"/>
          </a:xfrm>
          <a:prstGeom prst="rect">
            <a:avLst/>
          </a:prstGeom>
          <a:solidFill>
            <a:srgbClr val="0D1933"/>
          </a:solidFill>
          <a:ln w="889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824728" y="6345936"/>
            <a:ext cx="566928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8A6FF"/>
                </a:solidFill>
              </a:rPr>
              <a:t>데이터 기반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537960" y="1078992"/>
            <a:ext cx="5486400" cy="5440680"/>
          </a:xfrm>
          <a:prstGeom prst="rect">
            <a:avLst/>
          </a:prstGeom>
          <a:solidFill>
            <a:srgbClr val="161B22"/>
          </a:solidFill>
          <a:ln w="10160">
            <a:solidFill>
              <a:srgbClr val="8B9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83680" y="112471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</a:rPr>
              <a:t>📊  데이터 기반 추천 — σ에 따라 달라지는 예시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394960" cy="237744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6583680" y="3794760"/>
            <a:ext cx="5394960" cy="475488"/>
          </a:xfrm>
          <a:prstGeom prst="rect">
            <a:avLst/>
          </a:prstGeom>
          <a:solidFill>
            <a:srgbClr val="0D1933"/>
          </a:solidFill>
          <a:ln w="1016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675120" y="3822191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8A6FF"/>
                </a:solidFill>
              </a:rPr>
              <a:t>같은 공식(3σ)이라도 데이터 분포(σ)가 다르면 추천값이 달라짐 → 스케일 자동 적응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583680" y="434340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3B341"/>
                </a:solidFill>
              </a:rPr>
              <a:t>📊  이론 고정값 — 데이터가 달라도 항상 동일</a:t>
            </a:r>
          </a:p>
        </p:txBody>
      </p:sp>
      <p:pic>
        <p:nvPicPr>
          <p:cNvPr id="133" name="Picture 1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590288"/>
            <a:ext cx="5394960" cy="1828800"/>
          </a:xfrm>
          <a:prstGeom prst="rect">
            <a:avLst/>
          </a:prstGeom>
        </p:spPr>
      </p:pic>
      <p:sp>
        <p:nvSpPr>
          <p:cNvPr id="134" name="Rectangle 133"/>
          <p:cNvSpPr/>
          <p:nvPr/>
        </p:nvSpPr>
        <p:spPr>
          <a:xfrm>
            <a:off x="6583680" y="6446520"/>
            <a:ext cx="5394960" cy="292608"/>
          </a:xfrm>
          <a:prstGeom prst="rect">
            <a:avLst/>
          </a:prstGeom>
          <a:solidFill>
            <a:srgbClr val="1A1200"/>
          </a:solidFill>
          <a:ln w="1016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675120" y="646480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3B341"/>
                </a:solidFill>
              </a:rPr>
              <a:t>국제 SPC 표준/학술 기준값이므로 데이터 스케일과 무관하게 고정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543032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</a:rPr>
              <a:t>부록 2 /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201168"/>
            <a:ext cx="667512" cy="6675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201168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기반 이상감지 4종 소개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기반 비지도학습 알고리즘 — 기존 규칙 기반 방식의 한계를 극복하는 데이터 패턴 학습형 감지 방식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195560" y="228600"/>
            <a:ext cx="1783080" cy="47548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95560" y="2286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ML 기반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261872"/>
            <a:ext cx="4297680" cy="5212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4264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기존 방식의 한계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고정 임계값에 의존 — 도메인 전문가 설정 필요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4871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비선형·복합 이상 패턴 감지 불가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05409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공정 변경 시마다 임계값 재조정 필요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62102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단일 파라미터 기반 — 다변량 관계 무시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79392"/>
            <a:ext cx="393192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16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ML 방식의 장점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자동 학습 — 도메인 지식 불필요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33095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오염률(contamination)만 설정하면 동작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83387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변동에 자동 적응 (재학습으로)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1261872"/>
            <a:ext cx="365760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142646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①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65192" y="142646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65192" y="1856232"/>
            <a:ext cx="3328416" cy="274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1947672"/>
            <a:ext cx="3328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무작위 분할 반복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고립까지의 깊이 측정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빠름 · 대용량 최적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778240" y="1261872"/>
            <a:ext cx="365760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42832" y="142646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②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942832" y="142646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Outlier Factor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942832" y="1856232"/>
            <a:ext cx="3328416" cy="27432"/>
          </a:xfrm>
          <a:prstGeom prst="rect">
            <a:avLst/>
          </a:prstGeom>
          <a:solidFill>
            <a:srgbClr val="39D3F0"/>
          </a:solidFill>
          <a:ln w="12700">
            <a:solidFill>
              <a:srgbClr val="39D3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42832" y="1947672"/>
            <a:ext cx="3328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k-이웃 국소 밀도 비율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주변보다 밀도 낮으면 이상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클러스터 혼재 데이터 강점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00600" y="3867912"/>
            <a:ext cx="365760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403250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⭕ 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965192" y="40325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One-Class SVM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965192" y="4462272"/>
            <a:ext cx="3328416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65192" y="4553712"/>
            <a:ext cx="3328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커널 공간 경계 학습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경계 밖 = 이상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소량 데이터 · 정밀 경계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778240" y="3867912"/>
            <a:ext cx="365760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42832" y="403250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🥚 ④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942832" y="40325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Elliptic Envelope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942832" y="4462272"/>
            <a:ext cx="3328416" cy="274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42832" y="4553712"/>
            <a:ext cx="3328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강건 공분산 추정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마할라노비스 거리 기반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정규분포 데이터에 최적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ML 방식은 Python FastAPI 서버(server.py) 실행 후 사용 가능  |  오염률(contamination) = 예상 이상 비율 0.001~0.5 설정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201168"/>
            <a:ext cx="667512" cy="66751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201168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Isolation Forest  —  고립 기반 이상감지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EQP × PPID 그룹별 비지도 학습 · 데이터 분포를 임의로 분할하여 "고립되기 쉬운 점"을 이상으로 판단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195560" y="228600"/>
            <a:ext cx="1783080" cy="47548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95560" y="2286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ML 기반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261872"/>
            <a:ext cx="4937760" cy="20574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990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알고리즘 원리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8912" y="1792224"/>
            <a:ext cx="46634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데이터를 무작위 특성·분할값으로 반복 분리 (트리 구성)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이상치 → 정상 데이터보다 적은 분할로 고립됨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고립까지 평균 경로 깊이 짧을수록 이상 점수 ↑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수식: score ≈ -E[path_length(x)] / c(n)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오염률 = 이상으로 판정할 데이터 비율 상한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438144"/>
            <a:ext cx="493776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7530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반도체 FDC 적용 사례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8912" y="3977640"/>
            <a:ext cx="4663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다수 센서가 있는 에칭·CVD 공정의 다변량 이상 감지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돌발 스파이크 + 완만한 드리프트 혼재 상황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수만 건 대용량 LOT 데이터 실시간 분석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데이터가 비정규분포이거나 클러스터가 여러 개인 경우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5340096"/>
            <a:ext cx="4937760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544982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장점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544982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주의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" y="5724144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매우 빠름 · 대용량 OK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고차원 데이터에 강함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0" y="5724144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오염률 과대 설정 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증가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94960" y="126187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측정값 및 이상 점수 분포 (시뮬레이션)</a:t>
            </a:r>
            <a:endParaRPr lang="en-US" sz="12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394960" y="1673352"/>
          <a:ext cx="64922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5394960" y="395935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이상 점수 (낮을수록 이상 — Isolation Forest score_samples)</a:t>
            </a:r>
            <a:endParaRPr lang="en-US" sz="1100" dirty="0"/>
          </a:p>
        </p:txBody>
      </p:sp>
      <p:graphicFrame>
        <p:nvGraphicFramePr>
          <p:cNvPr id="25" name="Chart 1" descr=""/>
          <p:cNvGraphicFramePr/>
          <p:nvPr/>
        </p:nvGraphicFramePr>
        <p:xfrm>
          <a:off x="5394960" y="4279392"/>
          <a:ext cx="64922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201168"/>
            <a:ext cx="667512" cy="667512"/>
          </a:xfrm>
          <a:prstGeom prst="rect">
            <a:avLst/>
          </a:prstGeom>
          <a:solidFill>
            <a:srgbClr val="39D3F0"/>
          </a:solidFill>
          <a:ln w="12700">
            <a:solidFill>
              <a:srgbClr val="39D3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201168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Local Outlier Factor  —  국소 밀도 기반 이상감지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k-이웃 국소 밀도를 비교하여 주변보다 희소한 영역에 있는 데이터를 이상으로 판단 · 클러스터 혼재 공정에 강점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195560" y="228600"/>
            <a:ext cx="1783080" cy="47548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95560" y="2286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ML 기반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261872"/>
            <a:ext cx="4937760" cy="2057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990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알고리즘 원리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8912" y="1792224"/>
            <a:ext cx="46634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k-최근접 이웃(k-NN)으로 각 점의 국소 도달 밀도 계산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LOF = 이웃들의 평균 밀도 / 자신의 밀도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LOF &gt;&gt; 1 이면 주변보다 희소 → 이상치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전역 기준이 아닌 "국소 맥락"으로 이상 판단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수식: lof(x) = mean(lrd(n)) / lrd(x)  (n ∈ Nk(x))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438144"/>
            <a:ext cx="493776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7530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반도체 FDC 적용 사례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8912" y="3977640"/>
            <a:ext cx="4663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EQP마다 기준 분포가 다른 멀티 챔버 장비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LOT 간 평균이 다른 데이터에서 국소 이상 탐지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정상 패턴이 여러 클러스터로 나뉘는 공정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동일 EQP의 CH 간 미세 편차 감지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5340096"/>
            <a:ext cx="4937760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544982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장점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544982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주의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" y="5724144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밀도 편차 패턴 강점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비균일 분포에도 유효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0" y="5724144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 적으면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이웃 설정 중요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94960" y="126187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측정값 및 LOF 이상 점수 분포 (시뮬레이션)</a:t>
            </a:r>
            <a:endParaRPr lang="en-US" sz="12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394960" y="1673352"/>
          <a:ext cx="64922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5394960" y="395935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LOF 점수 (더 낮을수록 이상 — negative_outlier_factor_)</a:t>
            </a:r>
            <a:endParaRPr lang="en-US" sz="1100" dirty="0"/>
          </a:p>
        </p:txBody>
      </p:sp>
      <p:graphicFrame>
        <p:nvGraphicFramePr>
          <p:cNvPr id="25" name="Chart 1" descr=""/>
          <p:cNvGraphicFramePr/>
          <p:nvPr/>
        </p:nvGraphicFramePr>
        <p:xfrm>
          <a:off x="5394960" y="4279392"/>
          <a:ext cx="64922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201168"/>
            <a:ext cx="667512" cy="66751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201168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One-Class SVM  —  경계 학습 기반 이상감지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데이터만으로 결정 경계(Hyperplane)를 학습 · 경계 밖에 놓인 점을 이상으로 판단 · 소량 데이터 · 정밀 경계에 유리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195560" y="228600"/>
            <a:ext cx="1783080" cy="47548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95560" y="2286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ML 기반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261872"/>
            <a:ext cx="4937760" cy="2057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990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⭕ 알고리즘 원리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8912" y="1792224"/>
            <a:ext cx="46634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커널(RBF) 매핑으로 데이터를 고차원 공간에 투영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정상 데이터가 최대한 원점에서 멀리 분리되는 경계 학습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ν (nu) 파라미터 = 이상치 비율 상한 (오염률과 동일 역할)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경계 안쪽=정상(+1), 경계 바깥쪽=이상(-1)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수식: f(x) = sign(∑αᵢK(xᵢ,x) - ρ)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438144"/>
            <a:ext cx="493776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7530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반도체 FDC 적용 사례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8912" y="3977640"/>
            <a:ext cx="4663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정상 레퍼런스 데이터가 풍부하게 있는 공정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비선형 결정 경계가 필요한 복잡한 공정 패턴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Cpk 이상 통과 후 미세 이상 추가 검출 (2차 필터)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 양이 많지 않아도 정밀도가 필요한 경우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5340096"/>
            <a:ext cx="4937760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544982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장점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544982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주의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" y="5724144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비선형 패턴 정밀 감지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소량 데이터에도 유효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0" y="5724144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대용량 시 속도 느림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γ·ν 파라미터 민감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94960" y="126187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측정값 및 SVM 결정 점수 분포 (시뮬레이션)</a:t>
            </a:r>
            <a:endParaRPr lang="en-US" sz="12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394960" y="1673352"/>
          <a:ext cx="64922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5394960" y="395935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SVM 결정 점수 (음수=경계 밖=이상 · 양수=경계 안=정상)</a:t>
            </a:r>
            <a:endParaRPr lang="en-US" sz="1100" dirty="0"/>
          </a:p>
        </p:txBody>
      </p:sp>
      <p:graphicFrame>
        <p:nvGraphicFramePr>
          <p:cNvPr id="25" name="Chart 1" descr=""/>
          <p:cNvGraphicFramePr/>
          <p:nvPr/>
        </p:nvGraphicFramePr>
        <p:xfrm>
          <a:off x="5394960" y="4279392"/>
          <a:ext cx="64922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201168"/>
            <a:ext cx="667512" cy="66751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201168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Elliptic Envelope  —  강건 공분산 기반 이상감지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데이터의 강건 공분산 행렬로 타원형 신뢰 영역 추정 · 마할라노비스 거리가 큰 점을 이상으로 판단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195560" y="228600"/>
            <a:ext cx="1783080" cy="47548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95560" y="2286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ML 기반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261872"/>
            <a:ext cx="4937760" cy="2057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990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🥚 알고리즘 원리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8912" y="1792224"/>
            <a:ext cx="46634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정규분포 가정 하에 강건 공분산 추정 (MCD 알고리즘)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마할라노비스 거리 D(x) = √((x-μ)ᵀ Σ⁻¹ (x-μ))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D(x)가 임계값(Chi-square 분포 기반) 초과 시 이상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이상치에 의한 공분산 왜곡을 MCD로 방지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최소 10개 이상 데이터 필요 (그룹별)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438144"/>
            <a:ext cx="493776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7530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반도체 FDC 적용 사례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8912" y="3977640"/>
            <a:ext cx="4663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데이터가 정규분포에 가까운 안정적 공정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단변량(1D) 값의 3σ 기준보다 정교한 이상 감지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온도/압력 등 물리적으로 정규분포가 예상되는 센서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결과 해석이 쉬운 마할라노비스 거리 기반 리포팅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5340096"/>
            <a:ext cx="4937760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544982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장점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544982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주의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" y="5724144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해석 직관적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강건 추정으로 안정적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0" y="5724144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비정규 분포 시 부정확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그룹당 10개 이상 필요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94960" y="126187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측정값 및 마할라노비스 거리 분포 (시뮬레이션)</a:t>
            </a:r>
            <a:endParaRPr lang="en-US" sz="12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394960" y="1673352"/>
          <a:ext cx="64922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5394960" y="395935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마할라노비스 거리 (임계값 초과=이상 · 높을수록 평균에서 멀리 벗어남)</a:t>
            </a:r>
            <a:endParaRPr lang="en-US" sz="1100" dirty="0"/>
          </a:p>
        </p:txBody>
      </p:sp>
      <p:graphicFrame>
        <p:nvGraphicFramePr>
          <p:cNvPr id="25" name="Chart 1" descr=""/>
          <p:cNvGraphicFramePr/>
          <p:nvPr/>
        </p:nvGraphicFramePr>
        <p:xfrm>
          <a:off x="5394960" y="4279392"/>
          <a:ext cx="64922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201168"/>
            <a:ext cx="667512" cy="66751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201168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방식 비교 및 선택 가이드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05840" y="676656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특성에 따른 최적 알고리즘 선택 기준 · 4종 성능·속도·적합성 비교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195560" y="228600"/>
            <a:ext cx="1783080" cy="47548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95560" y="2286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ML 기반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261872"/>
            <a:ext cx="2011680" cy="43891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26187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86000" y="1261872"/>
            <a:ext cx="2404872" cy="438912"/>
          </a:xfrm>
          <a:prstGeom prst="rect">
            <a:avLst/>
          </a:prstGeom>
          <a:solidFill>
            <a:srgbClr val="1F2A3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9152" y="1261872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90872" y="1261872"/>
            <a:ext cx="2404872" cy="438912"/>
          </a:xfrm>
          <a:prstGeom prst="rect">
            <a:avLst/>
          </a:prstGeom>
          <a:solidFill>
            <a:srgbClr val="1F2A3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1261872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95744" y="1261872"/>
            <a:ext cx="2404872" cy="438912"/>
          </a:xfrm>
          <a:prstGeom prst="rect">
            <a:avLst/>
          </a:prstGeom>
          <a:solidFill>
            <a:srgbClr val="1F2A3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68896" y="1261872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One-Class SVM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500616" y="1261872"/>
            <a:ext cx="2414016" cy="438912"/>
          </a:xfrm>
          <a:prstGeom prst="rect">
            <a:avLst/>
          </a:prstGeom>
          <a:solidFill>
            <a:srgbClr val="1F2A3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73768" y="1261872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Elliptic Envelope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1700784"/>
            <a:ext cx="201168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170078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속도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286000" y="1700784"/>
            <a:ext cx="2404872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59152" y="170078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매우 빠름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90872" y="1700784"/>
            <a:ext cx="2404872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4024" y="170078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보통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95744" y="1700784"/>
            <a:ext cx="2404872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68896" y="170078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느림 (대량 시)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500616" y="1700784"/>
            <a:ext cx="2414016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73768" y="1700784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빠름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2203704"/>
            <a:ext cx="2011680" cy="502920"/>
          </a:xfrm>
          <a:prstGeom prst="rect">
            <a:avLst/>
          </a:prstGeom>
          <a:solidFill>
            <a:srgbClr val="11131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220370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요구량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286000" y="2203704"/>
            <a:ext cx="2404872" cy="502920"/>
          </a:xfrm>
          <a:prstGeom prst="rect">
            <a:avLst/>
          </a:prstGeom>
          <a:solidFill>
            <a:srgbClr val="11131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59152" y="220370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유연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90872" y="2203704"/>
            <a:ext cx="2404872" cy="502920"/>
          </a:xfrm>
          <a:prstGeom prst="rect">
            <a:avLst/>
          </a:prstGeom>
          <a:solidFill>
            <a:srgbClr val="11131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64024" y="220370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중간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95744" y="2203704"/>
            <a:ext cx="2404872" cy="502920"/>
          </a:xfrm>
          <a:prstGeom prst="rect">
            <a:avLst/>
          </a:prstGeom>
          <a:solidFill>
            <a:srgbClr val="11131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68896" y="220370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중간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500616" y="2203704"/>
            <a:ext cx="2414016" cy="502920"/>
          </a:xfrm>
          <a:prstGeom prst="rect">
            <a:avLst/>
          </a:prstGeom>
          <a:solidFill>
            <a:srgbClr val="11131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73768" y="2203704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10개+ 필수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2706624"/>
            <a:ext cx="201168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270662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 가정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286000" y="2706624"/>
            <a:ext cx="2404872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59152" y="270662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없음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90872" y="2706624"/>
            <a:ext cx="2404872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64024" y="270662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없음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095744" y="2706624"/>
            <a:ext cx="2404872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68896" y="270662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없음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500616" y="2706624"/>
            <a:ext cx="2414016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573768" y="2706624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정규분포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74320" y="3209544"/>
            <a:ext cx="2011680" cy="502920"/>
          </a:xfrm>
          <a:prstGeom prst="rect">
            <a:avLst/>
          </a:prstGeom>
          <a:solidFill>
            <a:srgbClr val="11131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32095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비선형 패턴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2286000" y="3209544"/>
            <a:ext cx="2404872" cy="502920"/>
          </a:xfrm>
          <a:prstGeom prst="rect">
            <a:avLst/>
          </a:prstGeom>
          <a:solidFill>
            <a:srgbClr val="11131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59152" y="320954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강함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690872" y="3209544"/>
            <a:ext cx="2404872" cy="502920"/>
          </a:xfrm>
          <a:prstGeom prst="rect">
            <a:avLst/>
          </a:prstGeom>
          <a:solidFill>
            <a:srgbClr val="11131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64024" y="320954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강함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095744" y="3209544"/>
            <a:ext cx="2404872" cy="502920"/>
          </a:xfrm>
          <a:prstGeom prst="rect">
            <a:avLst/>
          </a:prstGeom>
          <a:solidFill>
            <a:srgbClr val="11131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68896" y="320954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매우 강함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500616" y="3209544"/>
            <a:ext cx="2414016" cy="502920"/>
          </a:xfrm>
          <a:prstGeom prst="rect">
            <a:avLst/>
          </a:prstGeom>
          <a:solidFill>
            <a:srgbClr val="11131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573768" y="3209544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약함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74320" y="3712464"/>
            <a:ext cx="201168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7472" y="37124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클러스터 혼재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2286000" y="3712464"/>
            <a:ext cx="2404872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359152" y="371246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보통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690872" y="3712464"/>
            <a:ext cx="2404872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64024" y="371246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강함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095744" y="3712464"/>
            <a:ext cx="2404872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68896" y="371246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보통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9500616" y="3712464"/>
            <a:ext cx="2414016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573768" y="3712464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보통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74320" y="4215384"/>
            <a:ext cx="2011680" cy="502920"/>
          </a:xfrm>
          <a:prstGeom prst="rect">
            <a:avLst/>
          </a:prstGeom>
          <a:solidFill>
            <a:srgbClr val="11131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7472" y="421538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해석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2286000" y="4215384"/>
            <a:ext cx="2404872" cy="502920"/>
          </a:xfrm>
          <a:prstGeom prst="rect">
            <a:avLst/>
          </a:prstGeom>
          <a:solidFill>
            <a:srgbClr val="11131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359152" y="421538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점수 기반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4690872" y="4215384"/>
            <a:ext cx="2404872" cy="502920"/>
          </a:xfrm>
          <a:prstGeom prst="rect">
            <a:avLst/>
          </a:prstGeom>
          <a:solidFill>
            <a:srgbClr val="11131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64024" y="421538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점수 기반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095744" y="4215384"/>
            <a:ext cx="2404872" cy="502920"/>
          </a:xfrm>
          <a:prstGeom prst="rect">
            <a:avLst/>
          </a:prstGeom>
          <a:solidFill>
            <a:srgbClr val="11131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168896" y="421538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복잡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9500616" y="4215384"/>
            <a:ext cx="2414016" cy="502920"/>
          </a:xfrm>
          <a:prstGeom prst="rect">
            <a:avLst/>
          </a:prstGeom>
          <a:solidFill>
            <a:srgbClr val="11131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573768" y="4215384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직관적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274320" y="4718304"/>
            <a:ext cx="201168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47472" y="471830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FDC 추천 상황</a:t>
            </a:r>
            <a:endParaRPr lang="en-US" sz="1150" dirty="0"/>
          </a:p>
        </p:txBody>
      </p:sp>
      <p:sp>
        <p:nvSpPr>
          <p:cNvPr id="83" name="Shape 81"/>
          <p:cNvSpPr/>
          <p:nvPr/>
        </p:nvSpPr>
        <p:spPr>
          <a:xfrm>
            <a:off x="2286000" y="4718304"/>
            <a:ext cx="2404872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359152" y="471830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대용량·고차원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4690872" y="4718304"/>
            <a:ext cx="2404872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64024" y="471830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 클러스터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7095744" y="4718304"/>
            <a:ext cx="2404872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68896" y="4718304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소량·정밀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9500616" y="4718304"/>
            <a:ext cx="2414016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573768" y="4718304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 공정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274320" y="5477256"/>
            <a:ext cx="11640312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11480" y="5477256"/>
            <a:ext cx="11365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빠른 선택 가이드</a:t>
            </a:r>
            <a:endParaRPr lang="en-US" sz="1150" dirty="0"/>
          </a:p>
        </p:txBody>
      </p:sp>
      <p:sp>
        <p:nvSpPr>
          <p:cNvPr id="93" name="Shape 91"/>
          <p:cNvSpPr/>
          <p:nvPr/>
        </p:nvSpPr>
        <p:spPr>
          <a:xfrm>
            <a:off x="274320" y="5861304"/>
            <a:ext cx="2814066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65760" y="5925312"/>
            <a:ext cx="26311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많고 빠른 분석이 필요한가?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365760" y="6428232"/>
            <a:ext cx="26311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🌲 Isolation Forest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3161538" y="5861304"/>
            <a:ext cx="2814066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252978" y="5925312"/>
            <a:ext cx="26311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EQP마다 분포가 다르거나 클러스터가 여럿인가?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3252978" y="6428232"/>
            <a:ext cx="26311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🔵 LOF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6048756" y="5861304"/>
            <a:ext cx="2814066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140196" y="5925312"/>
            <a:ext cx="26311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소량 데이터에서 정밀한 경계가 필요한가?</a:t>
            </a:r>
            <a:endParaRPr lang="en-US" sz="1050" dirty="0"/>
          </a:p>
        </p:txBody>
      </p:sp>
      <p:sp>
        <p:nvSpPr>
          <p:cNvPr id="101" name="Text 99"/>
          <p:cNvSpPr/>
          <p:nvPr/>
        </p:nvSpPr>
        <p:spPr>
          <a:xfrm>
            <a:off x="6140196" y="6428232"/>
            <a:ext cx="26311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⭕ One-Class SVM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8935974" y="5861304"/>
            <a:ext cx="2814066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027414" y="5925312"/>
            <a:ext cx="26311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정규분포이고 직관적 해석이 필요한가?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9027414" y="6428232"/>
            <a:ext cx="26311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🥚 Elliptic Envelope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