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58A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554480"/>
            <a:ext cx="10360152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800" b="1" i="0">
                <a:solidFill>
                  <a:srgbClr val="FFFFFF"/>
                </a:solidFill>
              </a:rPr>
              <a:t>FDC RAW DATA 이상감지 시스템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606040"/>
            <a:ext cx="103601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0">
                <a:solidFill>
                  <a:srgbClr val="58A6FF"/>
                </a:solidFill>
              </a:rPr>
              <a:t>23가지 이상감지 방식 상세 설명 및 예시 그래프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3749039"/>
            <a:ext cx="1508760" cy="347472"/>
          </a:xfrm>
          <a:prstGeom prst="rect">
            <a:avLst/>
          </a:prstGeom>
          <a:solidFill>
            <a:srgbClr val="0E1B2A"/>
          </a:solidFill>
          <a:ln w="12700">
            <a:solidFill>
              <a:srgbClr val="58A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3749039"/>
            <a:ext cx="1508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58A6FF"/>
                </a:solidFill>
              </a:rPr>
              <a:t>통계 기반</a:t>
            </a:r>
          </a:p>
        </p:txBody>
      </p:sp>
      <p:sp>
        <p:nvSpPr>
          <p:cNvPr id="8" name="Rectangle 7"/>
          <p:cNvSpPr/>
          <p:nvPr/>
        </p:nvSpPr>
        <p:spPr>
          <a:xfrm>
            <a:off x="2331720" y="3749039"/>
            <a:ext cx="1508760" cy="347472"/>
          </a:xfrm>
          <a:prstGeom prst="rect">
            <a:avLst/>
          </a:prstGeom>
          <a:solidFill>
            <a:srgbClr val="1F172A"/>
          </a:solidFill>
          <a:ln w="12700">
            <a:solidFill>
              <a:srgbClr val="BC8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331720" y="3749039"/>
            <a:ext cx="1508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BC8CFF"/>
                </a:solidFill>
              </a:rPr>
              <a:t>시계열 기반</a:t>
            </a:r>
          </a:p>
        </p:txBody>
      </p:sp>
      <p:sp>
        <p:nvSpPr>
          <p:cNvPr id="10" name="Rectangle 9"/>
          <p:cNvSpPr/>
          <p:nvPr/>
        </p:nvSpPr>
        <p:spPr>
          <a:xfrm>
            <a:off x="3931920" y="3749039"/>
            <a:ext cx="1508760" cy="347472"/>
          </a:xfrm>
          <a:prstGeom prst="rect">
            <a:avLst/>
          </a:prstGeom>
          <a:solidFill>
            <a:srgbClr val="0A1E0D"/>
          </a:solidFill>
          <a:ln w="12700">
            <a:solidFill>
              <a:srgbClr val="3FB9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931920" y="3749039"/>
            <a:ext cx="1508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3FB950"/>
                </a:solidFill>
              </a:rPr>
              <a:t>ML 기반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532120" y="3749039"/>
            <a:ext cx="1508760" cy="347472"/>
          </a:xfrm>
          <a:prstGeom prst="rect">
            <a:avLst/>
          </a:prstGeom>
          <a:solidFill>
            <a:srgbClr val="251D0A"/>
          </a:solidFill>
          <a:ln w="12700">
            <a:solidFill>
              <a:srgbClr val="E3B34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532120" y="3749039"/>
            <a:ext cx="1508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E3B341"/>
                </a:solidFill>
              </a:rPr>
              <a:t>딥러닝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132320" y="3749039"/>
            <a:ext cx="1508760" cy="347472"/>
          </a:xfrm>
          <a:prstGeom prst="rect">
            <a:avLst/>
          </a:prstGeom>
          <a:solidFill>
            <a:srgbClr val="290D0C"/>
          </a:solidFill>
          <a:ln w="12700">
            <a:solidFill>
              <a:srgbClr val="F851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132320" y="3749039"/>
            <a:ext cx="1508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85149"/>
                </a:solidFill>
              </a:rPr>
              <a:t>신호 처리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732520" y="3749039"/>
            <a:ext cx="1508760" cy="347472"/>
          </a:xfrm>
          <a:prstGeom prst="rect">
            <a:avLst/>
          </a:prstGeom>
          <a:solidFill>
            <a:srgbClr val="251D0A"/>
          </a:solidFill>
          <a:ln w="12700">
            <a:solidFill>
              <a:srgbClr val="E3B34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732520" y="3749039"/>
            <a:ext cx="1508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E3B341"/>
                </a:solidFill>
              </a:rPr>
              <a:t>메타 방법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0332720" y="3749039"/>
            <a:ext cx="1508760" cy="347472"/>
          </a:xfrm>
          <a:prstGeom prst="rect">
            <a:avLst/>
          </a:prstGeom>
          <a:solidFill>
            <a:srgbClr val="0A1E0D"/>
          </a:solidFill>
          <a:ln w="12700">
            <a:solidFill>
              <a:srgbClr val="3FB9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332720" y="3749039"/>
            <a:ext cx="1508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3FB950"/>
                </a:solidFill>
              </a:rPr>
              <a:t>규칙 기반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0" y="6217920"/>
            <a:ext cx="1218895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8B949E"/>
                </a:solidFill>
              </a:rPr>
              <a:t>v2.0  |  2026  |  python-pptx 생성</a:t>
            </a:r>
          </a:p>
        </p:txBody>
      </p:sp>
      <p:sp>
        <p:nvSpPr>
          <p:cNvPr id="21" name="Rectangle 20"/>
          <p:cNvSpPr/>
          <p:nvPr/>
        </p:nvSpPr>
        <p:spPr>
          <a:xfrm>
            <a:off x="0" y="6784848"/>
            <a:ext cx="12188952" cy="73152"/>
          </a:xfrm>
          <a:prstGeom prst="rect">
            <a:avLst/>
          </a:prstGeom>
          <a:solidFill>
            <a:srgbClr val="58A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188720"/>
          </a:xfrm>
          <a:prstGeom prst="rect">
            <a:avLst/>
          </a:prstGeom>
          <a:solidFill>
            <a:srgbClr val="212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88952" cy="45720"/>
          </a:xfrm>
          <a:prstGeom prst="rect">
            <a:avLst/>
          </a:prstGeom>
          <a:solidFill>
            <a:srgbClr val="58A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28600" y="246888"/>
            <a:ext cx="658368" cy="658368"/>
          </a:xfrm>
          <a:prstGeom prst="rect">
            <a:avLst/>
          </a:prstGeom>
          <a:solidFill>
            <a:srgbClr val="0069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28600" y="246888"/>
            <a:ext cx="658368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164592"/>
            <a:ext cx="7315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Z-Score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658368"/>
            <a:ext cx="7315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8B949E"/>
                </a:solidFill>
              </a:rPr>
              <a:t>표준점수   |   통계 기반</a:t>
            </a:r>
          </a:p>
        </p:txBody>
      </p:sp>
      <p:sp>
        <p:nvSpPr>
          <p:cNvPr id="9" name="Rectangle 8"/>
          <p:cNvSpPr/>
          <p:nvPr/>
        </p:nvSpPr>
        <p:spPr>
          <a:xfrm>
            <a:off x="9692640" y="320040"/>
            <a:ext cx="2240280" cy="347472"/>
          </a:xfrm>
          <a:prstGeom prst="rect">
            <a:avLst/>
          </a:prstGeom>
          <a:solidFill>
            <a:srgbClr val="0E1B2A"/>
          </a:solidFill>
          <a:ln w="19050">
            <a:solidFill>
              <a:srgbClr val="58A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92640" y="320040"/>
            <a:ext cx="2240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58A6FF"/>
                </a:solidFill>
              </a:rPr>
              <a:t>통계 기반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28600" y="1298448"/>
            <a:ext cx="658368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C9D1D9"/>
                </a:solidFill>
              </a:rPr>
              <a:t>데이터 포인트가 평균으로부터 표준편차 몇 배 떨어졌는지 측정하는 고전적 방법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28600" y="1892808"/>
            <a:ext cx="6583680" cy="502920"/>
          </a:xfrm>
          <a:prstGeom prst="rect">
            <a:avLst/>
          </a:prstGeom>
          <a:solidFill>
            <a:srgbClr val="0D1933"/>
          </a:solidFill>
          <a:ln w="12700">
            <a:solidFill>
              <a:srgbClr val="58A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4048" y="1938528"/>
            <a:ext cx="630936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58A6FF"/>
                </a:solidFill>
              </a:rPr>
              <a:t>수식:  Z = (x − μ) / σ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28600" y="2468880"/>
            <a:ext cx="6583680" cy="402336"/>
          </a:xfrm>
          <a:prstGeom prst="rect">
            <a:avLst/>
          </a:prstGeom>
          <a:solidFill>
            <a:srgbClr val="1A1200"/>
          </a:solidFill>
          <a:ln w="12700">
            <a:solidFill>
              <a:srgbClr val="E3B34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84048" y="2514600"/>
            <a:ext cx="6309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E3B341"/>
                </a:solidFill>
              </a:rPr>
              <a:t>⚙  임계값:  |Z| &gt; 3  (기본값)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28600" y="2944368"/>
            <a:ext cx="2011680" cy="2377440"/>
          </a:xfrm>
          <a:prstGeom prst="rect">
            <a:avLst/>
          </a:prstGeom>
          <a:solidFill>
            <a:srgbClr val="0A2010"/>
          </a:solidFill>
          <a:ln w="12700">
            <a:solidFill>
              <a:srgbClr val="3FB9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20040" y="3035808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3FB950"/>
                </a:solidFill>
              </a:rPr>
              <a:t>✅ 장점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20040" y="3383280"/>
            <a:ext cx="18288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9D1D9"/>
                </a:solidFill>
              </a:rPr>
              <a:t>구현 간단 · 정규분포 데이터에 최적 · 해석 직관적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331720" y="2944368"/>
            <a:ext cx="2011680" cy="2377440"/>
          </a:xfrm>
          <a:prstGeom prst="rect">
            <a:avLst/>
          </a:prstGeom>
          <a:solidFill>
            <a:srgbClr val="251010"/>
          </a:solidFill>
          <a:ln w="12700">
            <a:solidFill>
              <a:srgbClr val="F851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423160" y="3035808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85149"/>
                </a:solidFill>
              </a:rPr>
              <a:t>⚠ 단점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423160" y="3383280"/>
            <a:ext cx="18288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9D1D9"/>
                </a:solidFill>
              </a:rPr>
              <a:t>정규분포 가정 필요 · 이상값 자체에 민감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434840" y="2944368"/>
            <a:ext cx="2011680" cy="2377440"/>
          </a:xfrm>
          <a:prstGeom prst="rect">
            <a:avLst/>
          </a:prstGeom>
          <a:solidFill>
            <a:srgbClr val="0D1428"/>
          </a:solidFill>
          <a:ln w="12700">
            <a:solidFill>
              <a:srgbClr val="58A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26280" y="3035808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58A6FF"/>
                </a:solidFill>
              </a:rPr>
              <a:t>🏭 활용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26280" y="3383280"/>
            <a:ext cx="18288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9D1D9"/>
                </a:solidFill>
              </a:rPr>
              <a:t>온도·압력·유량 등 정규분포 공정 파라미터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812280" y="1161288"/>
            <a:ext cx="5166360" cy="5623560"/>
          </a:xfrm>
          <a:prstGeom prst="rect">
            <a:avLst/>
          </a:prstGeom>
          <a:solidFill>
            <a:srgbClr val="161B22"/>
          </a:solidFill>
          <a:ln w="12700">
            <a:solidFill>
              <a:srgbClr val="58A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858000" y="1197864"/>
            <a:ext cx="50749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58A6FF"/>
                </a:solidFill>
              </a:rPr>
              <a:t>📈 예시 그래프</a:t>
            </a:r>
          </a:p>
        </p:txBody>
      </p:sp>
      <p:pic>
        <p:nvPicPr>
          <p:cNvPr id="27" name="Picture 2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0" y="1435608"/>
            <a:ext cx="5074920" cy="5047488"/>
          </a:xfrm>
          <a:prstGeom prst="rect">
            <a:avLst/>
          </a:prstGeom>
        </p:spPr>
      </p:pic>
      <p:sp>
        <p:nvSpPr>
          <p:cNvPr id="28" name="Rectangle 27"/>
          <p:cNvSpPr/>
          <p:nvPr/>
        </p:nvSpPr>
        <p:spPr>
          <a:xfrm>
            <a:off x="0" y="6803136"/>
            <a:ext cx="12188952" cy="54864"/>
          </a:xfrm>
          <a:prstGeom prst="rect">
            <a:avLst/>
          </a:prstGeom>
          <a:solidFill>
            <a:srgbClr val="58A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817352" y="6492240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8B949E"/>
                </a:solidFill>
              </a:rPr>
              <a:t>1 / 23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188720"/>
          </a:xfrm>
          <a:prstGeom prst="rect">
            <a:avLst/>
          </a:prstGeom>
          <a:solidFill>
            <a:srgbClr val="212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88952" cy="45720"/>
          </a:xfrm>
          <a:prstGeom prst="rect">
            <a:avLst/>
          </a:prstGeom>
          <a:solidFill>
            <a:srgbClr val="58A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28600" y="246888"/>
            <a:ext cx="658368" cy="658368"/>
          </a:xfrm>
          <a:prstGeom prst="rect">
            <a:avLst/>
          </a:prstGeom>
          <a:solidFill>
            <a:srgbClr val="0969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28600" y="246888"/>
            <a:ext cx="658368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164592"/>
            <a:ext cx="7315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Modified Z-Score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658368"/>
            <a:ext cx="7315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8B949E"/>
                </a:solidFill>
              </a:rPr>
              <a:t>수정 Z-점수   |   통계 기반</a:t>
            </a:r>
          </a:p>
        </p:txBody>
      </p:sp>
      <p:sp>
        <p:nvSpPr>
          <p:cNvPr id="9" name="Rectangle 8"/>
          <p:cNvSpPr/>
          <p:nvPr/>
        </p:nvSpPr>
        <p:spPr>
          <a:xfrm>
            <a:off x="9692640" y="320040"/>
            <a:ext cx="2240280" cy="347472"/>
          </a:xfrm>
          <a:prstGeom prst="rect">
            <a:avLst/>
          </a:prstGeom>
          <a:solidFill>
            <a:srgbClr val="0E1B2A"/>
          </a:solidFill>
          <a:ln w="19050">
            <a:solidFill>
              <a:srgbClr val="58A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92640" y="320040"/>
            <a:ext cx="2240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58A6FF"/>
                </a:solidFill>
              </a:rPr>
              <a:t>통계 기반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28600" y="1298448"/>
            <a:ext cx="658368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C9D1D9"/>
                </a:solidFill>
              </a:rPr>
              <a:t>중위수와 MAD(중위절대편차)를 사용, 이상값에 더 강건한 Z-점수 변형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28600" y="1892808"/>
            <a:ext cx="6583680" cy="502920"/>
          </a:xfrm>
          <a:prstGeom prst="rect">
            <a:avLst/>
          </a:prstGeom>
          <a:solidFill>
            <a:srgbClr val="0D1933"/>
          </a:solidFill>
          <a:ln w="12700">
            <a:solidFill>
              <a:srgbClr val="58A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4048" y="1938528"/>
            <a:ext cx="630936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58A6FF"/>
                </a:solidFill>
              </a:rPr>
              <a:t>수식:  M = 0.6745 × (x − median) / MAD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28600" y="2468880"/>
            <a:ext cx="6583680" cy="402336"/>
          </a:xfrm>
          <a:prstGeom prst="rect">
            <a:avLst/>
          </a:prstGeom>
          <a:solidFill>
            <a:srgbClr val="1A1200"/>
          </a:solidFill>
          <a:ln w="12700">
            <a:solidFill>
              <a:srgbClr val="E3B34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84048" y="2514600"/>
            <a:ext cx="6309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E3B341"/>
                </a:solidFill>
              </a:rPr>
              <a:t>⚙  임계값:  |M| &gt; 3.5  (기본값)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28600" y="2944368"/>
            <a:ext cx="2011680" cy="2377440"/>
          </a:xfrm>
          <a:prstGeom prst="rect">
            <a:avLst/>
          </a:prstGeom>
          <a:solidFill>
            <a:srgbClr val="0A2010"/>
          </a:solidFill>
          <a:ln w="12700">
            <a:solidFill>
              <a:srgbClr val="3FB9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20040" y="3035808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3FB950"/>
                </a:solidFill>
              </a:rPr>
              <a:t>✅ 장점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20040" y="3383280"/>
            <a:ext cx="18288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9D1D9"/>
                </a:solidFill>
              </a:rPr>
              <a:t>이상값에 강건 · 비대칭 분포 적합 · 중위수 기반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331720" y="2944368"/>
            <a:ext cx="2011680" cy="2377440"/>
          </a:xfrm>
          <a:prstGeom prst="rect">
            <a:avLst/>
          </a:prstGeom>
          <a:solidFill>
            <a:srgbClr val="251010"/>
          </a:solidFill>
          <a:ln w="12700">
            <a:solidFill>
              <a:srgbClr val="F851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423160" y="3035808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85149"/>
                </a:solidFill>
              </a:rPr>
              <a:t>⚠ 단점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423160" y="3383280"/>
            <a:ext cx="18288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9D1D9"/>
                </a:solidFill>
              </a:rPr>
              <a:t>MAD = 0 일 때 계산 불가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434840" y="2944368"/>
            <a:ext cx="2011680" cy="2377440"/>
          </a:xfrm>
          <a:prstGeom prst="rect">
            <a:avLst/>
          </a:prstGeom>
          <a:solidFill>
            <a:srgbClr val="0D1428"/>
          </a:solidFill>
          <a:ln w="12700">
            <a:solidFill>
              <a:srgbClr val="58A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26280" y="3035808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58A6FF"/>
                </a:solidFill>
              </a:rPr>
              <a:t>🏭 활용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26280" y="3383280"/>
            <a:ext cx="18288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9D1D9"/>
                </a:solidFill>
              </a:rPr>
              <a:t>센서 드리프트 · 돌발 스파이크 감지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812280" y="1161288"/>
            <a:ext cx="5166360" cy="5623560"/>
          </a:xfrm>
          <a:prstGeom prst="rect">
            <a:avLst/>
          </a:prstGeom>
          <a:solidFill>
            <a:srgbClr val="161B22"/>
          </a:solidFill>
          <a:ln w="12700">
            <a:solidFill>
              <a:srgbClr val="58A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858000" y="1197864"/>
            <a:ext cx="50749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58A6FF"/>
                </a:solidFill>
              </a:rPr>
              <a:t>📈 예시 그래프</a:t>
            </a:r>
          </a:p>
        </p:txBody>
      </p:sp>
      <p:pic>
        <p:nvPicPr>
          <p:cNvPr id="27" name="Picture 2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0" y="1435608"/>
            <a:ext cx="5074920" cy="5047488"/>
          </a:xfrm>
          <a:prstGeom prst="rect">
            <a:avLst/>
          </a:prstGeom>
        </p:spPr>
      </p:pic>
      <p:sp>
        <p:nvSpPr>
          <p:cNvPr id="28" name="Rectangle 27"/>
          <p:cNvSpPr/>
          <p:nvPr/>
        </p:nvSpPr>
        <p:spPr>
          <a:xfrm>
            <a:off x="0" y="6803136"/>
            <a:ext cx="12188952" cy="54864"/>
          </a:xfrm>
          <a:prstGeom prst="rect">
            <a:avLst/>
          </a:prstGeom>
          <a:solidFill>
            <a:srgbClr val="58A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817352" y="6492240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8B949E"/>
                </a:solidFill>
              </a:rPr>
              <a:t>2 / 23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188720"/>
          </a:xfrm>
          <a:prstGeom prst="rect">
            <a:avLst/>
          </a:prstGeom>
          <a:solidFill>
            <a:srgbClr val="212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88952" cy="45720"/>
          </a:xfrm>
          <a:prstGeom prst="rect">
            <a:avLst/>
          </a:prstGeom>
          <a:solidFill>
            <a:srgbClr val="3FB9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28600" y="246888"/>
            <a:ext cx="658368" cy="658368"/>
          </a:xfrm>
          <a:prstGeom prst="rect">
            <a:avLst/>
          </a:prstGeom>
          <a:solidFill>
            <a:srgbClr val="1A7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28600" y="246888"/>
            <a:ext cx="658368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164592"/>
            <a:ext cx="7315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IQR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658368"/>
            <a:ext cx="7315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8B949E"/>
                </a:solidFill>
              </a:rPr>
              <a:t>사분위수 범위   |   통계 기반</a:t>
            </a:r>
          </a:p>
        </p:txBody>
      </p:sp>
      <p:sp>
        <p:nvSpPr>
          <p:cNvPr id="9" name="Rectangle 8"/>
          <p:cNvSpPr/>
          <p:nvPr/>
        </p:nvSpPr>
        <p:spPr>
          <a:xfrm>
            <a:off x="9692640" y="320040"/>
            <a:ext cx="2240280" cy="347472"/>
          </a:xfrm>
          <a:prstGeom prst="rect">
            <a:avLst/>
          </a:prstGeom>
          <a:solidFill>
            <a:srgbClr val="0A1E0D"/>
          </a:solidFill>
          <a:ln w="19050">
            <a:solidFill>
              <a:srgbClr val="3FB9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92640" y="320040"/>
            <a:ext cx="2240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3FB950"/>
                </a:solidFill>
              </a:rPr>
              <a:t>통계 기반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28600" y="1298448"/>
            <a:ext cx="658368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C9D1D9"/>
                </a:solidFill>
              </a:rPr>
              <a:t>Q1~Q3 사이 범위(IQR)를 기반으로 상·하한 울타리를 설정하여 이상값 탐지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28600" y="1892808"/>
            <a:ext cx="6583680" cy="502920"/>
          </a:xfrm>
          <a:prstGeom prst="rect">
            <a:avLst/>
          </a:prstGeom>
          <a:solidFill>
            <a:srgbClr val="0D1933"/>
          </a:solidFill>
          <a:ln w="12700">
            <a:solidFill>
              <a:srgbClr val="58A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4048" y="1938528"/>
            <a:ext cx="630936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58A6FF"/>
                </a:solidFill>
              </a:rPr>
              <a:t>수식:  IQR=Q3−Q1   상한:Q3+1.5×IQR   하한:Q1−1.5×IQR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28600" y="2468880"/>
            <a:ext cx="6583680" cy="402336"/>
          </a:xfrm>
          <a:prstGeom prst="rect">
            <a:avLst/>
          </a:prstGeom>
          <a:solidFill>
            <a:srgbClr val="1A1200"/>
          </a:solidFill>
          <a:ln w="12700">
            <a:solidFill>
              <a:srgbClr val="E3B34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84048" y="2514600"/>
            <a:ext cx="6309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E3B341"/>
                </a:solidFill>
              </a:rPr>
              <a:t>⚙  임계값:  배수 1.5(온화) / 3.0(극단)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28600" y="2944368"/>
            <a:ext cx="2011680" cy="2377440"/>
          </a:xfrm>
          <a:prstGeom prst="rect">
            <a:avLst/>
          </a:prstGeom>
          <a:solidFill>
            <a:srgbClr val="0A2010"/>
          </a:solidFill>
          <a:ln w="12700">
            <a:solidFill>
              <a:srgbClr val="3FB9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20040" y="3035808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3FB950"/>
                </a:solidFill>
              </a:rPr>
              <a:t>✅ 장점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20040" y="3383280"/>
            <a:ext cx="18288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9D1D9"/>
                </a:solidFill>
              </a:rPr>
              <a:t>비모수적 · 분포 가정 불필요 · 박스플롯과 연계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331720" y="2944368"/>
            <a:ext cx="2011680" cy="2377440"/>
          </a:xfrm>
          <a:prstGeom prst="rect">
            <a:avLst/>
          </a:prstGeom>
          <a:solidFill>
            <a:srgbClr val="251010"/>
          </a:solidFill>
          <a:ln w="12700">
            <a:solidFill>
              <a:srgbClr val="F851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423160" y="3035808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85149"/>
                </a:solidFill>
              </a:rPr>
              <a:t>⚠ 단점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423160" y="3383280"/>
            <a:ext cx="18288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9D1D9"/>
                </a:solidFill>
              </a:rPr>
              <a:t>정상 분포에서 과탐지 가능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434840" y="2944368"/>
            <a:ext cx="2011680" cy="2377440"/>
          </a:xfrm>
          <a:prstGeom prst="rect">
            <a:avLst/>
          </a:prstGeom>
          <a:solidFill>
            <a:srgbClr val="0D1428"/>
          </a:solidFill>
          <a:ln w="12700">
            <a:solidFill>
              <a:srgbClr val="58A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26280" y="3035808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58A6FF"/>
                </a:solidFill>
              </a:rPr>
              <a:t>🏭 활용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26280" y="3383280"/>
            <a:ext cx="18288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9D1D9"/>
                </a:solidFill>
              </a:rPr>
              <a:t>분포 형태 미지 데이터 · 탐색적 분석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812280" y="1161288"/>
            <a:ext cx="5166360" cy="5623560"/>
          </a:xfrm>
          <a:prstGeom prst="rect">
            <a:avLst/>
          </a:prstGeom>
          <a:solidFill>
            <a:srgbClr val="161B22"/>
          </a:solidFill>
          <a:ln w="12700">
            <a:solidFill>
              <a:srgbClr val="3FB9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858000" y="1197864"/>
            <a:ext cx="50749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3FB950"/>
                </a:solidFill>
              </a:rPr>
              <a:t>📈 예시 그래프</a:t>
            </a:r>
          </a:p>
        </p:txBody>
      </p:sp>
      <p:pic>
        <p:nvPicPr>
          <p:cNvPr id="27" name="Picture 2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0" y="1435608"/>
            <a:ext cx="5074920" cy="5047488"/>
          </a:xfrm>
          <a:prstGeom prst="rect">
            <a:avLst/>
          </a:prstGeom>
        </p:spPr>
      </p:pic>
      <p:sp>
        <p:nvSpPr>
          <p:cNvPr id="28" name="Rectangle 27"/>
          <p:cNvSpPr/>
          <p:nvPr/>
        </p:nvSpPr>
        <p:spPr>
          <a:xfrm>
            <a:off x="0" y="6803136"/>
            <a:ext cx="12188952" cy="54864"/>
          </a:xfrm>
          <a:prstGeom prst="rect">
            <a:avLst/>
          </a:prstGeom>
          <a:solidFill>
            <a:srgbClr val="3FB9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817352" y="6492240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8B949E"/>
                </a:solidFill>
              </a:rPr>
              <a:t>3 / 23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188720"/>
          </a:xfrm>
          <a:prstGeom prst="rect">
            <a:avLst/>
          </a:prstGeom>
          <a:solidFill>
            <a:srgbClr val="212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88952" cy="45720"/>
          </a:xfrm>
          <a:prstGeom prst="rect">
            <a:avLst/>
          </a:prstGeom>
          <a:solidFill>
            <a:srgbClr val="E3B3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28600" y="246888"/>
            <a:ext cx="658368" cy="658368"/>
          </a:xfrm>
          <a:prstGeom prst="rect">
            <a:avLst/>
          </a:prstGeom>
          <a:solidFill>
            <a:srgbClr val="9A6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28600" y="246888"/>
            <a:ext cx="658368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164592"/>
            <a:ext cx="7315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Percentile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658368"/>
            <a:ext cx="7315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8B949E"/>
                </a:solidFill>
              </a:rPr>
              <a:t>백분위수   |   통계 기반</a:t>
            </a:r>
          </a:p>
        </p:txBody>
      </p:sp>
      <p:sp>
        <p:nvSpPr>
          <p:cNvPr id="9" name="Rectangle 8"/>
          <p:cNvSpPr/>
          <p:nvPr/>
        </p:nvSpPr>
        <p:spPr>
          <a:xfrm>
            <a:off x="9692640" y="320040"/>
            <a:ext cx="2240280" cy="347472"/>
          </a:xfrm>
          <a:prstGeom prst="rect">
            <a:avLst/>
          </a:prstGeom>
          <a:solidFill>
            <a:srgbClr val="251D0A"/>
          </a:solidFill>
          <a:ln w="19050">
            <a:solidFill>
              <a:srgbClr val="E3B34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92640" y="320040"/>
            <a:ext cx="2240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E3B341"/>
                </a:solidFill>
              </a:rPr>
              <a:t>통계 기반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28600" y="1298448"/>
            <a:ext cx="658368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C9D1D9"/>
                </a:solidFill>
              </a:rPr>
              <a:t>상위/하위 N% 기준으로 이상값 탐지 — 도메인 지식을 직접 임계값으로 표현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28600" y="1892808"/>
            <a:ext cx="6583680" cy="502920"/>
          </a:xfrm>
          <a:prstGeom prst="rect">
            <a:avLst/>
          </a:prstGeom>
          <a:solidFill>
            <a:srgbClr val="0D1933"/>
          </a:solidFill>
          <a:ln w="12700">
            <a:solidFill>
              <a:srgbClr val="58A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4048" y="1938528"/>
            <a:ext cx="630936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58A6FF"/>
                </a:solidFill>
              </a:rPr>
              <a:t>수식:  x &lt; P(low)  또는  x &gt; P(high)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28600" y="2468880"/>
            <a:ext cx="6583680" cy="402336"/>
          </a:xfrm>
          <a:prstGeom prst="rect">
            <a:avLst/>
          </a:prstGeom>
          <a:solidFill>
            <a:srgbClr val="1A1200"/>
          </a:solidFill>
          <a:ln w="12700">
            <a:solidFill>
              <a:srgbClr val="E3B34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84048" y="2514600"/>
            <a:ext cx="6309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E3B341"/>
                </a:solidFill>
              </a:rPr>
              <a:t>⚙  임계값:  하위 1% / 상위 99%  (기본값)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28600" y="2944368"/>
            <a:ext cx="2011680" cy="2377440"/>
          </a:xfrm>
          <a:prstGeom prst="rect">
            <a:avLst/>
          </a:prstGeom>
          <a:solidFill>
            <a:srgbClr val="0A2010"/>
          </a:solidFill>
          <a:ln w="12700">
            <a:solidFill>
              <a:srgbClr val="3FB9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20040" y="3035808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3FB950"/>
                </a:solidFill>
              </a:rPr>
              <a:t>✅ 장점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20040" y="3383280"/>
            <a:ext cx="18288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9D1D9"/>
                </a:solidFill>
              </a:rPr>
              <a:t>직관적 · 도메인 지식 반영 용이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331720" y="2944368"/>
            <a:ext cx="2011680" cy="2377440"/>
          </a:xfrm>
          <a:prstGeom prst="rect">
            <a:avLst/>
          </a:prstGeom>
          <a:solidFill>
            <a:srgbClr val="251010"/>
          </a:solidFill>
          <a:ln w="12700">
            <a:solidFill>
              <a:srgbClr val="F851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423160" y="3035808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85149"/>
                </a:solidFill>
              </a:rPr>
              <a:t>⚠ 단점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423160" y="3383280"/>
            <a:ext cx="18288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9D1D9"/>
                </a:solidFill>
              </a:rPr>
              <a:t>정상 데이터도 극단값은 항상 탐지됨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434840" y="2944368"/>
            <a:ext cx="2011680" cy="2377440"/>
          </a:xfrm>
          <a:prstGeom prst="rect">
            <a:avLst/>
          </a:prstGeom>
          <a:solidFill>
            <a:srgbClr val="0D1428"/>
          </a:solidFill>
          <a:ln w="12700">
            <a:solidFill>
              <a:srgbClr val="58A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26280" y="3035808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58A6FF"/>
                </a:solidFill>
              </a:rPr>
              <a:t>🏭 활용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26280" y="3383280"/>
            <a:ext cx="18288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9D1D9"/>
                </a:solidFill>
              </a:rPr>
              <a:t>비즈니스 룰 기반 탐지 · 리포팅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812280" y="1161288"/>
            <a:ext cx="5166360" cy="5623560"/>
          </a:xfrm>
          <a:prstGeom prst="rect">
            <a:avLst/>
          </a:prstGeom>
          <a:solidFill>
            <a:srgbClr val="161B22"/>
          </a:solidFill>
          <a:ln w="12700">
            <a:solidFill>
              <a:srgbClr val="E3B34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858000" y="1197864"/>
            <a:ext cx="50749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E3B341"/>
                </a:solidFill>
              </a:rPr>
              <a:t>📈 예시 그래프</a:t>
            </a:r>
          </a:p>
        </p:txBody>
      </p:sp>
      <p:pic>
        <p:nvPicPr>
          <p:cNvPr id="27" name="Picture 2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0" y="1435608"/>
            <a:ext cx="5074920" cy="5047488"/>
          </a:xfrm>
          <a:prstGeom prst="rect">
            <a:avLst/>
          </a:prstGeom>
        </p:spPr>
      </p:pic>
      <p:sp>
        <p:nvSpPr>
          <p:cNvPr id="28" name="Rectangle 27"/>
          <p:cNvSpPr/>
          <p:nvPr/>
        </p:nvSpPr>
        <p:spPr>
          <a:xfrm>
            <a:off x="0" y="6803136"/>
            <a:ext cx="12188952" cy="54864"/>
          </a:xfrm>
          <a:prstGeom prst="rect">
            <a:avLst/>
          </a:prstGeom>
          <a:solidFill>
            <a:srgbClr val="E3B3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817352" y="6492240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8B949E"/>
                </a:solidFill>
              </a:rPr>
              <a:t>4 / 23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188720"/>
          </a:xfrm>
          <a:prstGeom prst="rect">
            <a:avLst/>
          </a:prstGeom>
          <a:solidFill>
            <a:srgbClr val="212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88952" cy="45720"/>
          </a:xfrm>
          <a:prstGeom prst="rect">
            <a:avLst/>
          </a:prstGeom>
          <a:solidFill>
            <a:srgbClr val="BC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28600" y="246888"/>
            <a:ext cx="658368" cy="658368"/>
          </a:xfrm>
          <a:prstGeom prst="rect">
            <a:avLst/>
          </a:prstGeom>
          <a:solidFill>
            <a:srgbClr val="6639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28600" y="246888"/>
            <a:ext cx="658368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164592"/>
            <a:ext cx="7315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Rolling Mean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658368"/>
            <a:ext cx="7315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8B949E"/>
                </a:solidFill>
              </a:rPr>
              <a:t>이동평균 이탈   |   시계열 기반</a:t>
            </a:r>
          </a:p>
        </p:txBody>
      </p:sp>
      <p:sp>
        <p:nvSpPr>
          <p:cNvPr id="9" name="Rectangle 8"/>
          <p:cNvSpPr/>
          <p:nvPr/>
        </p:nvSpPr>
        <p:spPr>
          <a:xfrm>
            <a:off x="9692640" y="320040"/>
            <a:ext cx="2240280" cy="347472"/>
          </a:xfrm>
          <a:prstGeom prst="rect">
            <a:avLst/>
          </a:prstGeom>
          <a:solidFill>
            <a:srgbClr val="1F172A"/>
          </a:solidFill>
          <a:ln w="19050">
            <a:solidFill>
              <a:srgbClr val="BC8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92640" y="320040"/>
            <a:ext cx="2240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BC8CFF"/>
                </a:solidFill>
              </a:rPr>
              <a:t>시계열 기반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28600" y="1298448"/>
            <a:ext cx="658368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C9D1D9"/>
                </a:solidFill>
              </a:rPr>
              <a:t>슬라이딩 윈도우의 이동평균·표준편차와의 차이가 기준을 초과하면 이상으로 판단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28600" y="1892808"/>
            <a:ext cx="6583680" cy="502920"/>
          </a:xfrm>
          <a:prstGeom prst="rect">
            <a:avLst/>
          </a:prstGeom>
          <a:solidFill>
            <a:srgbClr val="0D1933"/>
          </a:solidFill>
          <a:ln w="12700">
            <a:solidFill>
              <a:srgbClr val="58A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4048" y="1938528"/>
            <a:ext cx="630936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58A6FF"/>
                </a:solidFill>
              </a:rPr>
              <a:t>수식:  |x − rolling_mean| &gt; k × rolling_std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28600" y="2468880"/>
            <a:ext cx="6583680" cy="402336"/>
          </a:xfrm>
          <a:prstGeom prst="rect">
            <a:avLst/>
          </a:prstGeom>
          <a:solidFill>
            <a:srgbClr val="1A1200"/>
          </a:solidFill>
          <a:ln w="12700">
            <a:solidFill>
              <a:srgbClr val="E3B34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84048" y="2514600"/>
            <a:ext cx="6309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E3B341"/>
                </a:solidFill>
              </a:rPr>
              <a:t>⚙  임계값:  배수 k=2~3 · 윈도우 10~50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28600" y="2944368"/>
            <a:ext cx="2011680" cy="2377440"/>
          </a:xfrm>
          <a:prstGeom prst="rect">
            <a:avLst/>
          </a:prstGeom>
          <a:solidFill>
            <a:srgbClr val="0A2010"/>
          </a:solidFill>
          <a:ln w="12700">
            <a:solidFill>
              <a:srgbClr val="3FB9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20040" y="3035808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3FB950"/>
                </a:solidFill>
              </a:rPr>
              <a:t>✅ 장점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20040" y="3383280"/>
            <a:ext cx="18288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9D1D9"/>
                </a:solidFill>
              </a:rPr>
              <a:t>트렌드 반영 · 시계열 데이터에 적합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331720" y="2944368"/>
            <a:ext cx="2011680" cy="2377440"/>
          </a:xfrm>
          <a:prstGeom prst="rect">
            <a:avLst/>
          </a:prstGeom>
          <a:solidFill>
            <a:srgbClr val="251010"/>
          </a:solidFill>
          <a:ln w="12700">
            <a:solidFill>
              <a:srgbClr val="F851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423160" y="3035808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85149"/>
                </a:solidFill>
              </a:rPr>
              <a:t>⚠ 단점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423160" y="3383280"/>
            <a:ext cx="18288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9D1D9"/>
                </a:solidFill>
              </a:rPr>
              <a:t>윈도우 크기 선택이 성능에 큰 영향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434840" y="2944368"/>
            <a:ext cx="2011680" cy="2377440"/>
          </a:xfrm>
          <a:prstGeom prst="rect">
            <a:avLst/>
          </a:prstGeom>
          <a:solidFill>
            <a:srgbClr val="0D1428"/>
          </a:solidFill>
          <a:ln w="12700">
            <a:solidFill>
              <a:srgbClr val="58A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26280" y="3035808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58A6FF"/>
                </a:solidFill>
              </a:rPr>
              <a:t>🏭 활용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26280" y="3383280"/>
            <a:ext cx="18288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9D1D9"/>
                </a:solidFill>
              </a:rPr>
              <a:t>시계열 공정 데이터 · 트렌드 모니터링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812280" y="1161288"/>
            <a:ext cx="5166360" cy="5623560"/>
          </a:xfrm>
          <a:prstGeom prst="rect">
            <a:avLst/>
          </a:prstGeom>
          <a:solidFill>
            <a:srgbClr val="161B22"/>
          </a:solidFill>
          <a:ln w="12700">
            <a:solidFill>
              <a:srgbClr val="BC8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858000" y="1197864"/>
            <a:ext cx="50749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BC8CFF"/>
                </a:solidFill>
              </a:rPr>
              <a:t>📈 예시 그래프</a:t>
            </a:r>
          </a:p>
        </p:txBody>
      </p:sp>
      <p:pic>
        <p:nvPicPr>
          <p:cNvPr id="27" name="Picture 2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0" y="1435608"/>
            <a:ext cx="5074920" cy="5047488"/>
          </a:xfrm>
          <a:prstGeom prst="rect">
            <a:avLst/>
          </a:prstGeom>
        </p:spPr>
      </p:pic>
      <p:sp>
        <p:nvSpPr>
          <p:cNvPr id="28" name="Rectangle 27"/>
          <p:cNvSpPr/>
          <p:nvPr/>
        </p:nvSpPr>
        <p:spPr>
          <a:xfrm>
            <a:off x="0" y="6803136"/>
            <a:ext cx="12188952" cy="54864"/>
          </a:xfrm>
          <a:prstGeom prst="rect">
            <a:avLst/>
          </a:prstGeom>
          <a:solidFill>
            <a:srgbClr val="BC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817352" y="6492240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8B949E"/>
                </a:solidFill>
              </a:rPr>
              <a:t>5 / 23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188720"/>
          </a:xfrm>
          <a:prstGeom prst="rect">
            <a:avLst/>
          </a:prstGeom>
          <a:solidFill>
            <a:srgbClr val="212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88952" cy="45720"/>
          </a:xfrm>
          <a:prstGeom prst="rect">
            <a:avLst/>
          </a:prstGeom>
          <a:solidFill>
            <a:srgbClr val="BC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28600" y="246888"/>
            <a:ext cx="658368" cy="658368"/>
          </a:xfrm>
          <a:prstGeom prst="rect">
            <a:avLst/>
          </a:prstGeom>
          <a:solidFill>
            <a:srgbClr val="8250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28600" y="246888"/>
            <a:ext cx="658368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</a:rPr>
              <a:t>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164592"/>
            <a:ext cx="7315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Rolling STD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658368"/>
            <a:ext cx="7315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8B949E"/>
                </a:solidFill>
              </a:rPr>
              <a:t>이동표준편차   |   시계열 기반</a:t>
            </a:r>
          </a:p>
        </p:txBody>
      </p:sp>
      <p:sp>
        <p:nvSpPr>
          <p:cNvPr id="9" name="Rectangle 8"/>
          <p:cNvSpPr/>
          <p:nvPr/>
        </p:nvSpPr>
        <p:spPr>
          <a:xfrm>
            <a:off x="9692640" y="320040"/>
            <a:ext cx="2240280" cy="347472"/>
          </a:xfrm>
          <a:prstGeom prst="rect">
            <a:avLst/>
          </a:prstGeom>
          <a:solidFill>
            <a:srgbClr val="1F172A"/>
          </a:solidFill>
          <a:ln w="19050">
            <a:solidFill>
              <a:srgbClr val="BC8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92640" y="320040"/>
            <a:ext cx="2240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BC8CFF"/>
                </a:solidFill>
              </a:rPr>
              <a:t>시계열 기반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28600" y="1298448"/>
            <a:ext cx="658368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C9D1D9"/>
                </a:solidFill>
              </a:rPr>
              <a:t>이동 윈도우 내 표준편차가 임계값을 초과하면 변동성 급증으로 이상 판단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28600" y="1892808"/>
            <a:ext cx="6583680" cy="502920"/>
          </a:xfrm>
          <a:prstGeom prst="rect">
            <a:avLst/>
          </a:prstGeom>
          <a:solidFill>
            <a:srgbClr val="0D1933"/>
          </a:solidFill>
          <a:ln w="12700">
            <a:solidFill>
              <a:srgbClr val="58A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4048" y="1938528"/>
            <a:ext cx="630936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58A6FF"/>
                </a:solidFill>
              </a:rPr>
              <a:t>수식:  rolling_std(window) &gt; threshold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28600" y="2468880"/>
            <a:ext cx="6583680" cy="402336"/>
          </a:xfrm>
          <a:prstGeom prst="rect">
            <a:avLst/>
          </a:prstGeom>
          <a:solidFill>
            <a:srgbClr val="1A1200"/>
          </a:solidFill>
          <a:ln w="12700">
            <a:solidFill>
              <a:srgbClr val="E3B34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84048" y="2514600"/>
            <a:ext cx="6309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E3B341"/>
                </a:solidFill>
              </a:rPr>
              <a:t>⚙  임계값:  기본 2.0 (스케일 의존)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28600" y="2944368"/>
            <a:ext cx="2011680" cy="2377440"/>
          </a:xfrm>
          <a:prstGeom prst="rect">
            <a:avLst/>
          </a:prstGeom>
          <a:solidFill>
            <a:srgbClr val="0A2010"/>
          </a:solidFill>
          <a:ln w="12700">
            <a:solidFill>
              <a:srgbClr val="3FB9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20040" y="3035808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3FB950"/>
                </a:solidFill>
              </a:rPr>
              <a:t>✅ 장점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20040" y="3383280"/>
            <a:ext cx="18288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9D1D9"/>
                </a:solidFill>
              </a:rPr>
              <a:t>변동성 급증 감지에 탁월 · 구현 간단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331720" y="2944368"/>
            <a:ext cx="2011680" cy="2377440"/>
          </a:xfrm>
          <a:prstGeom prst="rect">
            <a:avLst/>
          </a:prstGeom>
          <a:solidFill>
            <a:srgbClr val="251010"/>
          </a:solidFill>
          <a:ln w="12700">
            <a:solidFill>
              <a:srgbClr val="F851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423160" y="3035808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85149"/>
                </a:solidFill>
              </a:rPr>
              <a:t>⚠ 단점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423160" y="3383280"/>
            <a:ext cx="18288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9D1D9"/>
                </a:solidFill>
              </a:rPr>
              <a:t>절대값 기준이라 스케일 주의 필요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434840" y="2944368"/>
            <a:ext cx="2011680" cy="2377440"/>
          </a:xfrm>
          <a:prstGeom prst="rect">
            <a:avLst/>
          </a:prstGeom>
          <a:solidFill>
            <a:srgbClr val="0D1428"/>
          </a:solidFill>
          <a:ln w="12700">
            <a:solidFill>
              <a:srgbClr val="58A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26280" y="3035808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58A6FF"/>
                </a:solidFill>
              </a:rPr>
              <a:t>🏭 활용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26280" y="3383280"/>
            <a:ext cx="18288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9D1D9"/>
                </a:solidFill>
              </a:rPr>
              <a:t>공정 안정성 감시 · 진동 모니터링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812280" y="1161288"/>
            <a:ext cx="5166360" cy="5623560"/>
          </a:xfrm>
          <a:prstGeom prst="rect">
            <a:avLst/>
          </a:prstGeom>
          <a:solidFill>
            <a:srgbClr val="161B22"/>
          </a:solidFill>
          <a:ln w="12700">
            <a:solidFill>
              <a:srgbClr val="BC8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858000" y="1197864"/>
            <a:ext cx="50749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BC8CFF"/>
                </a:solidFill>
              </a:rPr>
              <a:t>📈 예시 그래프</a:t>
            </a:r>
          </a:p>
        </p:txBody>
      </p:sp>
      <p:pic>
        <p:nvPicPr>
          <p:cNvPr id="27" name="Picture 2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0" y="1435608"/>
            <a:ext cx="5074920" cy="5047488"/>
          </a:xfrm>
          <a:prstGeom prst="rect">
            <a:avLst/>
          </a:prstGeom>
        </p:spPr>
      </p:pic>
      <p:sp>
        <p:nvSpPr>
          <p:cNvPr id="28" name="Rectangle 27"/>
          <p:cNvSpPr/>
          <p:nvPr/>
        </p:nvSpPr>
        <p:spPr>
          <a:xfrm>
            <a:off x="0" y="6803136"/>
            <a:ext cx="12188952" cy="54864"/>
          </a:xfrm>
          <a:prstGeom prst="rect">
            <a:avLst/>
          </a:prstGeom>
          <a:solidFill>
            <a:srgbClr val="BC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817352" y="6492240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8B949E"/>
                </a:solidFill>
              </a:rPr>
              <a:t>6 / 23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188720"/>
          </a:xfrm>
          <a:prstGeom prst="rect">
            <a:avLst/>
          </a:prstGeom>
          <a:solidFill>
            <a:srgbClr val="212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88952" cy="45720"/>
          </a:xfrm>
          <a:prstGeom prst="rect">
            <a:avLst/>
          </a:prstGeom>
          <a:solidFill>
            <a:srgbClr val="58A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28600" y="246888"/>
            <a:ext cx="658368" cy="658368"/>
          </a:xfrm>
          <a:prstGeom prst="rect">
            <a:avLst/>
          </a:prstGeom>
          <a:solidFill>
            <a:srgbClr val="0969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28600" y="246888"/>
            <a:ext cx="658368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</a:rPr>
              <a:t>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164592"/>
            <a:ext cx="7315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EWMA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658368"/>
            <a:ext cx="7315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8B949E"/>
                </a:solidFill>
              </a:rPr>
              <a:t>지수가중이동평균   |   시계열 기반</a:t>
            </a:r>
          </a:p>
        </p:txBody>
      </p:sp>
      <p:sp>
        <p:nvSpPr>
          <p:cNvPr id="9" name="Rectangle 8"/>
          <p:cNvSpPr/>
          <p:nvPr/>
        </p:nvSpPr>
        <p:spPr>
          <a:xfrm>
            <a:off x="9692640" y="320040"/>
            <a:ext cx="2240280" cy="347472"/>
          </a:xfrm>
          <a:prstGeom prst="rect">
            <a:avLst/>
          </a:prstGeom>
          <a:solidFill>
            <a:srgbClr val="0E1B2A"/>
          </a:solidFill>
          <a:ln w="19050">
            <a:solidFill>
              <a:srgbClr val="58A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92640" y="320040"/>
            <a:ext cx="2240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58A6FF"/>
                </a:solidFill>
              </a:rPr>
              <a:t>시계열 기반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28600" y="1298448"/>
            <a:ext cx="658368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C9D1D9"/>
                </a:solidFill>
              </a:rPr>
              <a:t>최근 데이터에 더 높은 가중치를 부여하는 이동평균 제어도 — 소폭 변화 조기 감지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28600" y="1892808"/>
            <a:ext cx="6583680" cy="502920"/>
          </a:xfrm>
          <a:prstGeom prst="rect">
            <a:avLst/>
          </a:prstGeom>
          <a:solidFill>
            <a:srgbClr val="0D1933"/>
          </a:solidFill>
          <a:ln w="12700">
            <a:solidFill>
              <a:srgbClr val="58A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4048" y="1938528"/>
            <a:ext cx="630936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58A6FF"/>
                </a:solidFill>
              </a:rPr>
              <a:t>수식:  EWMA_t = α×x_t + (1−α)×EWMA_{t−1}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28600" y="2468880"/>
            <a:ext cx="6583680" cy="402336"/>
          </a:xfrm>
          <a:prstGeom prst="rect">
            <a:avLst/>
          </a:prstGeom>
          <a:solidFill>
            <a:srgbClr val="1A1200"/>
          </a:solidFill>
          <a:ln w="12700">
            <a:solidFill>
              <a:srgbClr val="E3B34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84048" y="2514600"/>
            <a:ext cx="6309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E3B341"/>
                </a:solidFill>
              </a:rPr>
              <a:t>⚙  임계값:  ±3σ  (UCL / LCL)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28600" y="2944368"/>
            <a:ext cx="2011680" cy="2377440"/>
          </a:xfrm>
          <a:prstGeom prst="rect">
            <a:avLst/>
          </a:prstGeom>
          <a:solidFill>
            <a:srgbClr val="0A2010"/>
          </a:solidFill>
          <a:ln w="12700">
            <a:solidFill>
              <a:srgbClr val="3FB9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20040" y="3035808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3FB950"/>
                </a:solidFill>
              </a:rPr>
              <a:t>✅ 장점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20040" y="3383280"/>
            <a:ext cx="18288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9D1D9"/>
                </a:solidFill>
              </a:rPr>
              <a:t>소폭 트렌드 변화 조기 감지 · 반도체 표준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331720" y="2944368"/>
            <a:ext cx="2011680" cy="2377440"/>
          </a:xfrm>
          <a:prstGeom prst="rect">
            <a:avLst/>
          </a:prstGeom>
          <a:solidFill>
            <a:srgbClr val="251010"/>
          </a:solidFill>
          <a:ln w="12700">
            <a:solidFill>
              <a:srgbClr val="F851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423160" y="3035808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85149"/>
                </a:solidFill>
              </a:rPr>
              <a:t>⚠ 단점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423160" y="3383280"/>
            <a:ext cx="18288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9D1D9"/>
                </a:solidFill>
              </a:rPr>
              <a:t>α값 선택이 성능에 큰 영향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434840" y="2944368"/>
            <a:ext cx="2011680" cy="2377440"/>
          </a:xfrm>
          <a:prstGeom prst="rect">
            <a:avLst/>
          </a:prstGeom>
          <a:solidFill>
            <a:srgbClr val="0D1428"/>
          </a:solidFill>
          <a:ln w="12700">
            <a:solidFill>
              <a:srgbClr val="58A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26280" y="3035808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58A6FF"/>
                </a:solidFill>
              </a:rPr>
              <a:t>🏭 활용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26280" y="3383280"/>
            <a:ext cx="18288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9D1D9"/>
                </a:solidFill>
              </a:rPr>
              <a:t>반도체 공정 제어 · 미세 드리프트 감지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812280" y="1161288"/>
            <a:ext cx="5166360" cy="5623560"/>
          </a:xfrm>
          <a:prstGeom prst="rect">
            <a:avLst/>
          </a:prstGeom>
          <a:solidFill>
            <a:srgbClr val="161B22"/>
          </a:solidFill>
          <a:ln w="12700">
            <a:solidFill>
              <a:srgbClr val="58A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858000" y="1197864"/>
            <a:ext cx="50749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58A6FF"/>
                </a:solidFill>
              </a:rPr>
              <a:t>📈 예시 그래프</a:t>
            </a:r>
          </a:p>
        </p:txBody>
      </p:sp>
      <p:pic>
        <p:nvPicPr>
          <p:cNvPr id="27" name="Picture 2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0" y="1435608"/>
            <a:ext cx="5074920" cy="5047488"/>
          </a:xfrm>
          <a:prstGeom prst="rect">
            <a:avLst/>
          </a:prstGeom>
        </p:spPr>
      </p:pic>
      <p:sp>
        <p:nvSpPr>
          <p:cNvPr id="28" name="Rectangle 27"/>
          <p:cNvSpPr/>
          <p:nvPr/>
        </p:nvSpPr>
        <p:spPr>
          <a:xfrm>
            <a:off x="0" y="6803136"/>
            <a:ext cx="12188952" cy="54864"/>
          </a:xfrm>
          <a:prstGeom prst="rect">
            <a:avLst/>
          </a:prstGeom>
          <a:solidFill>
            <a:srgbClr val="58A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817352" y="6492240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8B949E"/>
                </a:solidFill>
              </a:rPr>
              <a:t>7 / 23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188720"/>
          </a:xfrm>
          <a:prstGeom prst="rect">
            <a:avLst/>
          </a:prstGeom>
          <a:solidFill>
            <a:srgbClr val="212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88952" cy="45720"/>
          </a:xfrm>
          <a:prstGeom prst="rect">
            <a:avLst/>
          </a:prstGeom>
          <a:solidFill>
            <a:srgbClr val="F85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28600" y="246888"/>
            <a:ext cx="658368" cy="658368"/>
          </a:xfrm>
          <a:prstGeom prst="rect">
            <a:avLst/>
          </a:prstGeom>
          <a:solidFill>
            <a:srgbClr val="CF22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28600" y="246888"/>
            <a:ext cx="658368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</a:rPr>
              <a:t>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164592"/>
            <a:ext cx="7315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CUSUM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658368"/>
            <a:ext cx="7315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8B949E"/>
                </a:solidFill>
              </a:rPr>
              <a:t>누적합 관리도   |   시계열 기반</a:t>
            </a:r>
          </a:p>
        </p:txBody>
      </p:sp>
      <p:sp>
        <p:nvSpPr>
          <p:cNvPr id="9" name="Rectangle 8"/>
          <p:cNvSpPr/>
          <p:nvPr/>
        </p:nvSpPr>
        <p:spPr>
          <a:xfrm>
            <a:off x="9692640" y="320040"/>
            <a:ext cx="2240280" cy="347472"/>
          </a:xfrm>
          <a:prstGeom prst="rect">
            <a:avLst/>
          </a:prstGeom>
          <a:solidFill>
            <a:srgbClr val="290D0C"/>
          </a:solidFill>
          <a:ln w="19050">
            <a:solidFill>
              <a:srgbClr val="F851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92640" y="320040"/>
            <a:ext cx="2240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85149"/>
                </a:solidFill>
              </a:rPr>
              <a:t>시계열 기반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28600" y="1298448"/>
            <a:ext cx="658368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C9D1D9"/>
                </a:solidFill>
              </a:rPr>
              <a:t>목표값으로부터 편차의 누적합으로 지속적 공정 변화를 조기에 감지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28600" y="1892808"/>
            <a:ext cx="6583680" cy="502920"/>
          </a:xfrm>
          <a:prstGeom prst="rect">
            <a:avLst/>
          </a:prstGeom>
          <a:solidFill>
            <a:srgbClr val="0D1933"/>
          </a:solidFill>
          <a:ln w="12700">
            <a:solidFill>
              <a:srgbClr val="58A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4048" y="1938528"/>
            <a:ext cx="630936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58A6FF"/>
                </a:solidFill>
              </a:rPr>
              <a:t>수식:  C⁺=max(0,C⁺_{t−1}+x_t−μ−K)   C⁻=min(0,…)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28600" y="2468880"/>
            <a:ext cx="6583680" cy="402336"/>
          </a:xfrm>
          <a:prstGeom prst="rect">
            <a:avLst/>
          </a:prstGeom>
          <a:solidFill>
            <a:srgbClr val="1A1200"/>
          </a:solidFill>
          <a:ln w="12700">
            <a:solidFill>
              <a:srgbClr val="E3B34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84048" y="2514600"/>
            <a:ext cx="6309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E3B341"/>
                </a:solidFill>
              </a:rPr>
              <a:t>⚙  임계값:  H=5σ · K=0.5σ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28600" y="2944368"/>
            <a:ext cx="2011680" cy="2377440"/>
          </a:xfrm>
          <a:prstGeom prst="rect">
            <a:avLst/>
          </a:prstGeom>
          <a:solidFill>
            <a:srgbClr val="0A2010"/>
          </a:solidFill>
          <a:ln w="12700">
            <a:solidFill>
              <a:srgbClr val="3FB9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20040" y="3035808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3FB950"/>
                </a:solidFill>
              </a:rPr>
              <a:t>✅ 장점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20040" y="3383280"/>
            <a:ext cx="18288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9D1D9"/>
                </a:solidFill>
              </a:rPr>
              <a:t>작은 지속적 변화 감지에 탁월 · SPC 표준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331720" y="2944368"/>
            <a:ext cx="2011680" cy="2377440"/>
          </a:xfrm>
          <a:prstGeom prst="rect">
            <a:avLst/>
          </a:prstGeom>
          <a:solidFill>
            <a:srgbClr val="251010"/>
          </a:solidFill>
          <a:ln w="12700">
            <a:solidFill>
              <a:srgbClr val="F851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423160" y="3035808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85149"/>
                </a:solidFill>
              </a:rPr>
              <a:t>⚠ 단점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423160" y="3383280"/>
            <a:ext cx="18288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9D1D9"/>
                </a:solidFill>
              </a:rPr>
              <a:t>파라미터 설정이 복잡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434840" y="2944368"/>
            <a:ext cx="2011680" cy="2377440"/>
          </a:xfrm>
          <a:prstGeom prst="rect">
            <a:avLst/>
          </a:prstGeom>
          <a:solidFill>
            <a:srgbClr val="0D1428"/>
          </a:solidFill>
          <a:ln w="12700">
            <a:solidFill>
              <a:srgbClr val="58A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26280" y="3035808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58A6FF"/>
                </a:solidFill>
              </a:rPr>
              <a:t>🏭 활용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26280" y="3383280"/>
            <a:ext cx="18288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9D1D9"/>
                </a:solidFill>
              </a:rPr>
              <a:t>공정 평균 이동 감지 · 장기 드리프트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812280" y="1161288"/>
            <a:ext cx="5166360" cy="5623560"/>
          </a:xfrm>
          <a:prstGeom prst="rect">
            <a:avLst/>
          </a:prstGeom>
          <a:solidFill>
            <a:srgbClr val="161B22"/>
          </a:solidFill>
          <a:ln w="12700">
            <a:solidFill>
              <a:srgbClr val="F851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858000" y="1197864"/>
            <a:ext cx="50749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85149"/>
                </a:solidFill>
              </a:rPr>
              <a:t>📈 예시 그래프</a:t>
            </a:r>
          </a:p>
        </p:txBody>
      </p:sp>
      <p:pic>
        <p:nvPicPr>
          <p:cNvPr id="27" name="Picture 2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0" y="1435608"/>
            <a:ext cx="5074920" cy="5047488"/>
          </a:xfrm>
          <a:prstGeom prst="rect">
            <a:avLst/>
          </a:prstGeom>
        </p:spPr>
      </p:pic>
      <p:sp>
        <p:nvSpPr>
          <p:cNvPr id="28" name="Rectangle 27"/>
          <p:cNvSpPr/>
          <p:nvPr/>
        </p:nvSpPr>
        <p:spPr>
          <a:xfrm>
            <a:off x="0" y="6803136"/>
            <a:ext cx="12188952" cy="54864"/>
          </a:xfrm>
          <a:prstGeom prst="rect">
            <a:avLst/>
          </a:prstGeom>
          <a:solidFill>
            <a:srgbClr val="F85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817352" y="6492240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8B949E"/>
                </a:solidFill>
              </a:rPr>
              <a:t>8 / 23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188720"/>
          </a:xfrm>
          <a:prstGeom prst="rect">
            <a:avLst/>
          </a:prstGeom>
          <a:solidFill>
            <a:srgbClr val="212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88952" cy="45720"/>
          </a:xfrm>
          <a:prstGeom prst="rect">
            <a:avLst/>
          </a:prstGeom>
          <a:solidFill>
            <a:srgbClr val="3FB9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28600" y="246888"/>
            <a:ext cx="658368" cy="658368"/>
          </a:xfrm>
          <a:prstGeom prst="rect">
            <a:avLst/>
          </a:prstGeom>
          <a:solidFill>
            <a:srgbClr val="1A7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28600" y="246888"/>
            <a:ext cx="658368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</a:rPr>
              <a:t>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164592"/>
            <a:ext cx="7315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3-Sigma Rule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658368"/>
            <a:ext cx="7315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8B949E"/>
                </a:solidFill>
              </a:rPr>
              <a:t>3시그마 규칙   |   통계 기반</a:t>
            </a:r>
          </a:p>
        </p:txBody>
      </p:sp>
      <p:sp>
        <p:nvSpPr>
          <p:cNvPr id="9" name="Rectangle 8"/>
          <p:cNvSpPr/>
          <p:nvPr/>
        </p:nvSpPr>
        <p:spPr>
          <a:xfrm>
            <a:off x="9692640" y="320040"/>
            <a:ext cx="2240280" cy="347472"/>
          </a:xfrm>
          <a:prstGeom prst="rect">
            <a:avLst/>
          </a:prstGeom>
          <a:solidFill>
            <a:srgbClr val="0A1E0D"/>
          </a:solidFill>
          <a:ln w="19050">
            <a:solidFill>
              <a:srgbClr val="3FB9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92640" y="320040"/>
            <a:ext cx="2240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3FB950"/>
                </a:solidFill>
              </a:rPr>
              <a:t>통계 기반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28600" y="1298448"/>
            <a:ext cx="658368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C9D1D9"/>
                </a:solidFill>
              </a:rPr>
              <a:t>±3 표준편차 범위를 벗어나는 데이터 포인트를 이상으로 판단 — SPC의 기본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28600" y="1892808"/>
            <a:ext cx="6583680" cy="502920"/>
          </a:xfrm>
          <a:prstGeom prst="rect">
            <a:avLst/>
          </a:prstGeom>
          <a:solidFill>
            <a:srgbClr val="0D1933"/>
          </a:solidFill>
          <a:ln w="12700">
            <a:solidFill>
              <a:srgbClr val="58A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4048" y="1938528"/>
            <a:ext cx="630936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58A6FF"/>
                </a:solidFill>
              </a:rPr>
              <a:t>수식:  x &lt; μ−3σ  또는  x &gt; μ+3σ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28600" y="2468880"/>
            <a:ext cx="6583680" cy="402336"/>
          </a:xfrm>
          <a:prstGeom prst="rect">
            <a:avLst/>
          </a:prstGeom>
          <a:solidFill>
            <a:srgbClr val="1A1200"/>
          </a:solidFill>
          <a:ln w="12700">
            <a:solidFill>
              <a:srgbClr val="E3B34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84048" y="2514600"/>
            <a:ext cx="6309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E3B341"/>
                </a:solidFill>
              </a:rPr>
              <a:t>⚙  임계값:  3σ = 99.73% 신뢰구간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28600" y="2944368"/>
            <a:ext cx="2011680" cy="2377440"/>
          </a:xfrm>
          <a:prstGeom prst="rect">
            <a:avLst/>
          </a:prstGeom>
          <a:solidFill>
            <a:srgbClr val="0A2010"/>
          </a:solidFill>
          <a:ln w="12700">
            <a:solidFill>
              <a:srgbClr val="3FB9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20040" y="3035808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3FB950"/>
                </a:solidFill>
              </a:rPr>
              <a:t>✅ 장점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20040" y="3383280"/>
            <a:ext cx="18288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9D1D9"/>
                </a:solidFill>
              </a:rPr>
              <a:t>통계적으로 직관적 · 설명 용이 · SPC 표준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331720" y="2944368"/>
            <a:ext cx="2011680" cy="2377440"/>
          </a:xfrm>
          <a:prstGeom prst="rect">
            <a:avLst/>
          </a:prstGeom>
          <a:solidFill>
            <a:srgbClr val="251010"/>
          </a:solidFill>
          <a:ln w="12700">
            <a:solidFill>
              <a:srgbClr val="F851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423160" y="3035808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85149"/>
                </a:solidFill>
              </a:rPr>
              <a:t>⚠ 단점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423160" y="3383280"/>
            <a:ext cx="18288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9D1D9"/>
                </a:solidFill>
              </a:rPr>
              <a:t>정규분포 가정 필요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434840" y="2944368"/>
            <a:ext cx="2011680" cy="2377440"/>
          </a:xfrm>
          <a:prstGeom prst="rect">
            <a:avLst/>
          </a:prstGeom>
          <a:solidFill>
            <a:srgbClr val="0D1428"/>
          </a:solidFill>
          <a:ln w="12700">
            <a:solidFill>
              <a:srgbClr val="58A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26280" y="3035808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58A6FF"/>
                </a:solidFill>
              </a:rPr>
              <a:t>🏭 활용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26280" y="3383280"/>
            <a:ext cx="18288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9D1D9"/>
                </a:solidFill>
              </a:rPr>
              <a:t>SPC(통계적 공정관리) · 품질 관리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812280" y="1161288"/>
            <a:ext cx="5166360" cy="5623560"/>
          </a:xfrm>
          <a:prstGeom prst="rect">
            <a:avLst/>
          </a:prstGeom>
          <a:solidFill>
            <a:srgbClr val="161B22"/>
          </a:solidFill>
          <a:ln w="12700">
            <a:solidFill>
              <a:srgbClr val="3FB9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858000" y="1197864"/>
            <a:ext cx="50749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3FB950"/>
                </a:solidFill>
              </a:rPr>
              <a:t>📈 예시 그래프</a:t>
            </a:r>
          </a:p>
        </p:txBody>
      </p:sp>
      <p:pic>
        <p:nvPicPr>
          <p:cNvPr id="27" name="Picture 2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0" y="1435608"/>
            <a:ext cx="5074920" cy="5047488"/>
          </a:xfrm>
          <a:prstGeom prst="rect">
            <a:avLst/>
          </a:prstGeom>
        </p:spPr>
      </p:pic>
      <p:sp>
        <p:nvSpPr>
          <p:cNvPr id="28" name="Rectangle 27"/>
          <p:cNvSpPr/>
          <p:nvPr/>
        </p:nvSpPr>
        <p:spPr>
          <a:xfrm>
            <a:off x="0" y="6803136"/>
            <a:ext cx="12188952" cy="54864"/>
          </a:xfrm>
          <a:prstGeom prst="rect">
            <a:avLst/>
          </a:prstGeom>
          <a:solidFill>
            <a:srgbClr val="3FB9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817352" y="6492240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8B949E"/>
                </a:solidFill>
              </a:rPr>
              <a:t>9 / 23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188720"/>
          </a:xfrm>
          <a:prstGeom prst="rect">
            <a:avLst/>
          </a:prstGeom>
          <a:solidFill>
            <a:srgbClr val="212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88952" cy="45720"/>
          </a:xfrm>
          <a:prstGeom prst="rect">
            <a:avLst/>
          </a:prstGeom>
          <a:solidFill>
            <a:srgbClr val="58A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28600" y="246888"/>
            <a:ext cx="658368" cy="658368"/>
          </a:xfrm>
          <a:prstGeom prst="rect">
            <a:avLst/>
          </a:prstGeom>
          <a:solidFill>
            <a:srgbClr val="0969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28600" y="246888"/>
            <a:ext cx="658368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</a:rPr>
              <a:t>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164592"/>
            <a:ext cx="7315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Grubbs Test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658368"/>
            <a:ext cx="7315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8B949E"/>
                </a:solidFill>
              </a:rPr>
              <a:t>그럽스 검정   |   통계 기반</a:t>
            </a:r>
          </a:p>
        </p:txBody>
      </p:sp>
      <p:sp>
        <p:nvSpPr>
          <p:cNvPr id="9" name="Rectangle 8"/>
          <p:cNvSpPr/>
          <p:nvPr/>
        </p:nvSpPr>
        <p:spPr>
          <a:xfrm>
            <a:off x="9692640" y="320040"/>
            <a:ext cx="2240280" cy="347472"/>
          </a:xfrm>
          <a:prstGeom prst="rect">
            <a:avLst/>
          </a:prstGeom>
          <a:solidFill>
            <a:srgbClr val="0E1B2A"/>
          </a:solidFill>
          <a:ln w="19050">
            <a:solidFill>
              <a:srgbClr val="58A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92640" y="320040"/>
            <a:ext cx="2240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58A6FF"/>
                </a:solidFill>
              </a:rPr>
              <a:t>통계 기반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28600" y="1298448"/>
            <a:ext cx="658368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C9D1D9"/>
                </a:solidFill>
              </a:rPr>
              <a:t>단일 이상값의 통계적 유의성을 검정 — 극단값이 진짜 이상인지 판단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28600" y="1892808"/>
            <a:ext cx="6583680" cy="502920"/>
          </a:xfrm>
          <a:prstGeom prst="rect">
            <a:avLst/>
          </a:prstGeom>
          <a:solidFill>
            <a:srgbClr val="0D1933"/>
          </a:solidFill>
          <a:ln w="12700">
            <a:solidFill>
              <a:srgbClr val="58A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4048" y="1938528"/>
            <a:ext cx="630936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58A6FF"/>
                </a:solidFill>
              </a:rPr>
              <a:t>수식:  G = max|x − x̄| / 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28600" y="2468880"/>
            <a:ext cx="6583680" cy="402336"/>
          </a:xfrm>
          <a:prstGeom prst="rect">
            <a:avLst/>
          </a:prstGeom>
          <a:solidFill>
            <a:srgbClr val="1A1200"/>
          </a:solidFill>
          <a:ln w="12700">
            <a:solidFill>
              <a:srgbClr val="E3B34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84048" y="2514600"/>
            <a:ext cx="6309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E3B341"/>
                </a:solidFill>
              </a:rPr>
              <a:t>⚙  임계값:  자유도 기반 t-분포 임계값  (α=0.05)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28600" y="2944368"/>
            <a:ext cx="2011680" cy="2377440"/>
          </a:xfrm>
          <a:prstGeom prst="rect">
            <a:avLst/>
          </a:prstGeom>
          <a:solidFill>
            <a:srgbClr val="0A2010"/>
          </a:solidFill>
          <a:ln w="12700">
            <a:solidFill>
              <a:srgbClr val="3FB9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20040" y="3035808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3FB950"/>
                </a:solidFill>
              </a:rPr>
              <a:t>✅ 장점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20040" y="3383280"/>
            <a:ext cx="18288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9D1D9"/>
                </a:solidFill>
              </a:rPr>
              <a:t>통계적 유의성 보장 · 소규모 데이터 적합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331720" y="2944368"/>
            <a:ext cx="2011680" cy="2377440"/>
          </a:xfrm>
          <a:prstGeom prst="rect">
            <a:avLst/>
          </a:prstGeom>
          <a:solidFill>
            <a:srgbClr val="251010"/>
          </a:solidFill>
          <a:ln w="12700">
            <a:solidFill>
              <a:srgbClr val="F851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423160" y="3035808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85149"/>
                </a:solidFill>
              </a:rPr>
              <a:t>⚠ 단점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423160" y="3383280"/>
            <a:ext cx="18288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9D1D9"/>
                </a:solidFill>
              </a:rPr>
              <a:t>한 번에 하나씩 검정 · 정규분포 필요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434840" y="2944368"/>
            <a:ext cx="2011680" cy="2377440"/>
          </a:xfrm>
          <a:prstGeom prst="rect">
            <a:avLst/>
          </a:prstGeom>
          <a:solidFill>
            <a:srgbClr val="0D1428"/>
          </a:solidFill>
          <a:ln w="12700">
            <a:solidFill>
              <a:srgbClr val="58A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26280" y="3035808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58A6FF"/>
                </a:solidFill>
              </a:rPr>
              <a:t>🏭 활용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26280" y="3383280"/>
            <a:ext cx="18288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9D1D9"/>
                </a:solidFill>
              </a:rPr>
              <a:t>실험 데이터 이상값 검정 · 소규모 데이터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812280" y="1161288"/>
            <a:ext cx="5166360" cy="5623560"/>
          </a:xfrm>
          <a:prstGeom prst="rect">
            <a:avLst/>
          </a:prstGeom>
          <a:solidFill>
            <a:srgbClr val="161B22"/>
          </a:solidFill>
          <a:ln w="12700">
            <a:solidFill>
              <a:srgbClr val="58A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858000" y="1197864"/>
            <a:ext cx="50749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58A6FF"/>
                </a:solidFill>
              </a:rPr>
              <a:t>📈 예시 그래프</a:t>
            </a:r>
          </a:p>
        </p:txBody>
      </p:sp>
      <p:pic>
        <p:nvPicPr>
          <p:cNvPr id="27" name="Picture 2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0" y="1435608"/>
            <a:ext cx="5074920" cy="5047488"/>
          </a:xfrm>
          <a:prstGeom prst="rect">
            <a:avLst/>
          </a:prstGeom>
        </p:spPr>
      </p:pic>
      <p:sp>
        <p:nvSpPr>
          <p:cNvPr id="28" name="Rectangle 27"/>
          <p:cNvSpPr/>
          <p:nvPr/>
        </p:nvSpPr>
        <p:spPr>
          <a:xfrm>
            <a:off x="0" y="6803136"/>
            <a:ext cx="12188952" cy="54864"/>
          </a:xfrm>
          <a:prstGeom prst="rect">
            <a:avLst/>
          </a:prstGeom>
          <a:solidFill>
            <a:srgbClr val="58A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817352" y="6492240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8B949E"/>
                </a:solidFill>
              </a:rPr>
              <a:t>10 / 23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188720"/>
          </a:xfrm>
          <a:prstGeom prst="rect">
            <a:avLst/>
          </a:prstGeom>
          <a:solidFill>
            <a:srgbClr val="212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88952" cy="45720"/>
          </a:xfrm>
          <a:prstGeom prst="rect">
            <a:avLst/>
          </a:prstGeom>
          <a:solidFill>
            <a:srgbClr val="E3B3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28600" y="246888"/>
            <a:ext cx="658368" cy="658368"/>
          </a:xfrm>
          <a:prstGeom prst="rect">
            <a:avLst/>
          </a:prstGeom>
          <a:solidFill>
            <a:srgbClr val="9A6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28600" y="246888"/>
            <a:ext cx="658368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</a:rPr>
              <a:t>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164592"/>
            <a:ext cx="7315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LOF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658368"/>
            <a:ext cx="7315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8B949E"/>
                </a:solidFill>
              </a:rPr>
              <a:t>지역 이상값 인수   |   ML 기반</a:t>
            </a:r>
          </a:p>
        </p:txBody>
      </p:sp>
      <p:sp>
        <p:nvSpPr>
          <p:cNvPr id="9" name="Rectangle 8"/>
          <p:cNvSpPr/>
          <p:nvPr/>
        </p:nvSpPr>
        <p:spPr>
          <a:xfrm>
            <a:off x="9692640" y="320040"/>
            <a:ext cx="2240280" cy="347472"/>
          </a:xfrm>
          <a:prstGeom prst="rect">
            <a:avLst/>
          </a:prstGeom>
          <a:solidFill>
            <a:srgbClr val="251D0A"/>
          </a:solidFill>
          <a:ln w="19050">
            <a:solidFill>
              <a:srgbClr val="E3B34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92640" y="320040"/>
            <a:ext cx="2240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E3B341"/>
                </a:solidFill>
              </a:rPr>
              <a:t>ML 기반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28600" y="1298448"/>
            <a:ext cx="658368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C9D1D9"/>
                </a:solidFill>
              </a:rPr>
              <a:t>주변 이웃 데이터의 밀도와 비교하여 이상 정도를 점수화하는 밀도 기반 방법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28600" y="1892808"/>
            <a:ext cx="6583680" cy="502920"/>
          </a:xfrm>
          <a:prstGeom prst="rect">
            <a:avLst/>
          </a:prstGeom>
          <a:solidFill>
            <a:srgbClr val="0D1933"/>
          </a:solidFill>
          <a:ln w="12700">
            <a:solidFill>
              <a:srgbClr val="58A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4048" y="1938528"/>
            <a:ext cx="630936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58A6FF"/>
                </a:solidFill>
              </a:rPr>
              <a:t>수식:  LOF_k(p) = mean(lrd_k(o)) / lrd_k(p)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28600" y="2468880"/>
            <a:ext cx="6583680" cy="402336"/>
          </a:xfrm>
          <a:prstGeom prst="rect">
            <a:avLst/>
          </a:prstGeom>
          <a:solidFill>
            <a:srgbClr val="1A1200"/>
          </a:solidFill>
          <a:ln w="12700">
            <a:solidFill>
              <a:srgbClr val="E3B34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84048" y="2514600"/>
            <a:ext cx="6309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E3B341"/>
                </a:solidFill>
              </a:rPr>
              <a:t>⚙  임계값:  LOF &gt; 1.5  (기본값)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28600" y="2944368"/>
            <a:ext cx="2011680" cy="2377440"/>
          </a:xfrm>
          <a:prstGeom prst="rect">
            <a:avLst/>
          </a:prstGeom>
          <a:solidFill>
            <a:srgbClr val="0A2010"/>
          </a:solidFill>
          <a:ln w="12700">
            <a:solidFill>
              <a:srgbClr val="3FB9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20040" y="3035808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3FB950"/>
                </a:solidFill>
              </a:rPr>
              <a:t>✅ 장점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20040" y="3383280"/>
            <a:ext cx="18288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9D1D9"/>
                </a:solidFill>
              </a:rPr>
              <a:t>밀도 기반 · 클러스터 형태에 강건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331720" y="2944368"/>
            <a:ext cx="2011680" cy="2377440"/>
          </a:xfrm>
          <a:prstGeom prst="rect">
            <a:avLst/>
          </a:prstGeom>
          <a:solidFill>
            <a:srgbClr val="251010"/>
          </a:solidFill>
          <a:ln w="12700">
            <a:solidFill>
              <a:srgbClr val="F851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423160" y="3035808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85149"/>
                </a:solidFill>
              </a:rPr>
              <a:t>⚠ 단점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423160" y="3383280"/>
            <a:ext cx="18288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9D1D9"/>
                </a:solidFill>
              </a:rPr>
              <a:t>계산 비용 높음 · k값 선택 중요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434840" y="2944368"/>
            <a:ext cx="2011680" cy="2377440"/>
          </a:xfrm>
          <a:prstGeom prst="rect">
            <a:avLst/>
          </a:prstGeom>
          <a:solidFill>
            <a:srgbClr val="0D1428"/>
          </a:solidFill>
          <a:ln w="12700">
            <a:solidFill>
              <a:srgbClr val="58A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26280" y="3035808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58A6FF"/>
                </a:solidFill>
              </a:rPr>
              <a:t>🏭 활용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26280" y="3383280"/>
            <a:ext cx="18288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9D1D9"/>
                </a:solidFill>
              </a:rPr>
              <a:t>다변량 공정 이상 감지 · 고차원 데이터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812280" y="1161288"/>
            <a:ext cx="5166360" cy="5623560"/>
          </a:xfrm>
          <a:prstGeom prst="rect">
            <a:avLst/>
          </a:prstGeom>
          <a:solidFill>
            <a:srgbClr val="161B22"/>
          </a:solidFill>
          <a:ln w="12700">
            <a:solidFill>
              <a:srgbClr val="E3B34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858000" y="1197864"/>
            <a:ext cx="50749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E3B341"/>
                </a:solidFill>
              </a:rPr>
              <a:t>📈 예시 그래프</a:t>
            </a:r>
          </a:p>
        </p:txBody>
      </p:sp>
      <p:pic>
        <p:nvPicPr>
          <p:cNvPr id="27" name="Picture 2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0" y="1435608"/>
            <a:ext cx="5074920" cy="5047488"/>
          </a:xfrm>
          <a:prstGeom prst="rect">
            <a:avLst/>
          </a:prstGeom>
        </p:spPr>
      </p:pic>
      <p:sp>
        <p:nvSpPr>
          <p:cNvPr id="28" name="Rectangle 27"/>
          <p:cNvSpPr/>
          <p:nvPr/>
        </p:nvSpPr>
        <p:spPr>
          <a:xfrm>
            <a:off x="0" y="6803136"/>
            <a:ext cx="12188952" cy="54864"/>
          </a:xfrm>
          <a:prstGeom prst="rect">
            <a:avLst/>
          </a:prstGeom>
          <a:solidFill>
            <a:srgbClr val="E3B3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817352" y="6492240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8B949E"/>
                </a:solidFill>
              </a:rPr>
              <a:t>11 / 23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188720"/>
          </a:xfrm>
          <a:prstGeom prst="rect">
            <a:avLst/>
          </a:prstGeom>
          <a:solidFill>
            <a:srgbClr val="212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88952" cy="45720"/>
          </a:xfrm>
          <a:prstGeom prst="rect">
            <a:avLst/>
          </a:prstGeom>
          <a:solidFill>
            <a:srgbClr val="BC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28600" y="246888"/>
            <a:ext cx="658368" cy="658368"/>
          </a:xfrm>
          <a:prstGeom prst="rect">
            <a:avLst/>
          </a:prstGeom>
          <a:solidFill>
            <a:srgbClr val="6639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28600" y="246888"/>
            <a:ext cx="658368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</a:rPr>
              <a:t>12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164592"/>
            <a:ext cx="7315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Isolation Forest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658368"/>
            <a:ext cx="7315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8B949E"/>
                </a:solidFill>
              </a:rPr>
              <a:t>아이솔레이션 포레스트   |   ML 기반</a:t>
            </a:r>
          </a:p>
        </p:txBody>
      </p:sp>
      <p:sp>
        <p:nvSpPr>
          <p:cNvPr id="9" name="Rectangle 8"/>
          <p:cNvSpPr/>
          <p:nvPr/>
        </p:nvSpPr>
        <p:spPr>
          <a:xfrm>
            <a:off x="9692640" y="320040"/>
            <a:ext cx="2240280" cy="347472"/>
          </a:xfrm>
          <a:prstGeom prst="rect">
            <a:avLst/>
          </a:prstGeom>
          <a:solidFill>
            <a:srgbClr val="1F172A"/>
          </a:solidFill>
          <a:ln w="19050">
            <a:solidFill>
              <a:srgbClr val="BC8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92640" y="320040"/>
            <a:ext cx="2240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BC8CFF"/>
                </a:solidFill>
              </a:rPr>
              <a:t>ML 기반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28600" y="1298448"/>
            <a:ext cx="658368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C9D1D9"/>
                </a:solidFill>
              </a:rPr>
              <a:t>이상값이 정상값보다 더 적은 분할로 고립된다는 원리로 이상 탐지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28600" y="1892808"/>
            <a:ext cx="6583680" cy="502920"/>
          </a:xfrm>
          <a:prstGeom prst="rect">
            <a:avLst/>
          </a:prstGeom>
          <a:solidFill>
            <a:srgbClr val="0D1933"/>
          </a:solidFill>
          <a:ln w="12700">
            <a:solidFill>
              <a:srgbClr val="58A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4048" y="1938528"/>
            <a:ext cx="630936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58A6FF"/>
                </a:solidFill>
              </a:rPr>
              <a:t>수식:  이상 점수 = 2^(−평균 경로 길이 / c(n))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28600" y="2468880"/>
            <a:ext cx="6583680" cy="402336"/>
          </a:xfrm>
          <a:prstGeom prst="rect">
            <a:avLst/>
          </a:prstGeom>
          <a:solidFill>
            <a:srgbClr val="1A1200"/>
          </a:solidFill>
          <a:ln w="12700">
            <a:solidFill>
              <a:srgbClr val="E3B34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84048" y="2514600"/>
            <a:ext cx="6309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E3B341"/>
                </a:solidFill>
              </a:rPr>
              <a:t>⚙  임계값:  contamination=0.1  (기본값)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28600" y="2944368"/>
            <a:ext cx="2011680" cy="2377440"/>
          </a:xfrm>
          <a:prstGeom prst="rect">
            <a:avLst/>
          </a:prstGeom>
          <a:solidFill>
            <a:srgbClr val="0A2010"/>
          </a:solidFill>
          <a:ln w="12700">
            <a:solidFill>
              <a:srgbClr val="3FB9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20040" y="3035808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3FB950"/>
                </a:solidFill>
              </a:rPr>
              <a:t>✅ 장점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20040" y="3383280"/>
            <a:ext cx="18288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9D1D9"/>
                </a:solidFill>
              </a:rPr>
              <a:t>고차원 데이터에 효율적 · 속도 빠름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331720" y="2944368"/>
            <a:ext cx="2011680" cy="2377440"/>
          </a:xfrm>
          <a:prstGeom prst="rect">
            <a:avLst/>
          </a:prstGeom>
          <a:solidFill>
            <a:srgbClr val="251010"/>
          </a:solidFill>
          <a:ln w="12700">
            <a:solidFill>
              <a:srgbClr val="F851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423160" y="3035808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85149"/>
                </a:solidFill>
              </a:rPr>
              <a:t>⚠ 단점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423160" y="3383280"/>
            <a:ext cx="18288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9D1D9"/>
                </a:solidFill>
              </a:rPr>
              <a:t>결과 해석 어려움 · 밀집 이상군 취약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434840" y="2944368"/>
            <a:ext cx="2011680" cy="2377440"/>
          </a:xfrm>
          <a:prstGeom prst="rect">
            <a:avLst/>
          </a:prstGeom>
          <a:solidFill>
            <a:srgbClr val="0D1428"/>
          </a:solidFill>
          <a:ln w="12700">
            <a:solidFill>
              <a:srgbClr val="58A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26280" y="3035808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58A6FF"/>
                </a:solidFill>
              </a:rPr>
              <a:t>🏭 활용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26280" y="3383280"/>
            <a:ext cx="18288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9D1D9"/>
                </a:solidFill>
              </a:rPr>
              <a:t>대용량 다변량 센서 데이터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812280" y="1161288"/>
            <a:ext cx="5166360" cy="5623560"/>
          </a:xfrm>
          <a:prstGeom prst="rect">
            <a:avLst/>
          </a:prstGeom>
          <a:solidFill>
            <a:srgbClr val="161B22"/>
          </a:solidFill>
          <a:ln w="12700">
            <a:solidFill>
              <a:srgbClr val="BC8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858000" y="1197864"/>
            <a:ext cx="50749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BC8CFF"/>
                </a:solidFill>
              </a:rPr>
              <a:t>📈 예시 그래프</a:t>
            </a:r>
          </a:p>
        </p:txBody>
      </p:sp>
      <p:pic>
        <p:nvPicPr>
          <p:cNvPr id="27" name="Picture 2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0" y="1435608"/>
            <a:ext cx="5074920" cy="5047488"/>
          </a:xfrm>
          <a:prstGeom prst="rect">
            <a:avLst/>
          </a:prstGeom>
        </p:spPr>
      </p:pic>
      <p:sp>
        <p:nvSpPr>
          <p:cNvPr id="28" name="Rectangle 27"/>
          <p:cNvSpPr/>
          <p:nvPr/>
        </p:nvSpPr>
        <p:spPr>
          <a:xfrm>
            <a:off x="0" y="6803136"/>
            <a:ext cx="12188952" cy="54864"/>
          </a:xfrm>
          <a:prstGeom prst="rect">
            <a:avLst/>
          </a:prstGeom>
          <a:solidFill>
            <a:srgbClr val="BC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817352" y="6492240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8B949E"/>
                </a:solidFill>
              </a:rPr>
              <a:t>12 / 23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188720"/>
          </a:xfrm>
          <a:prstGeom prst="rect">
            <a:avLst/>
          </a:prstGeom>
          <a:solidFill>
            <a:srgbClr val="212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88952" cy="45720"/>
          </a:xfrm>
          <a:prstGeom prst="rect">
            <a:avLst/>
          </a:prstGeom>
          <a:solidFill>
            <a:srgbClr val="F85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28600" y="246888"/>
            <a:ext cx="658368" cy="658368"/>
          </a:xfrm>
          <a:prstGeom prst="rect">
            <a:avLst/>
          </a:prstGeom>
          <a:solidFill>
            <a:srgbClr val="CF22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28600" y="246888"/>
            <a:ext cx="658368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</a:rPr>
              <a:t>13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164592"/>
            <a:ext cx="7315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One-Class SVM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658368"/>
            <a:ext cx="7315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8B949E"/>
                </a:solidFill>
              </a:rPr>
              <a:t>단일 클래스 SVM   |   ML 기반</a:t>
            </a:r>
          </a:p>
        </p:txBody>
      </p:sp>
      <p:sp>
        <p:nvSpPr>
          <p:cNvPr id="9" name="Rectangle 8"/>
          <p:cNvSpPr/>
          <p:nvPr/>
        </p:nvSpPr>
        <p:spPr>
          <a:xfrm>
            <a:off x="9692640" y="320040"/>
            <a:ext cx="2240280" cy="347472"/>
          </a:xfrm>
          <a:prstGeom prst="rect">
            <a:avLst/>
          </a:prstGeom>
          <a:solidFill>
            <a:srgbClr val="290D0C"/>
          </a:solidFill>
          <a:ln w="19050">
            <a:solidFill>
              <a:srgbClr val="F851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92640" y="320040"/>
            <a:ext cx="2240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85149"/>
                </a:solidFill>
              </a:rPr>
              <a:t>ML 기반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28600" y="1298448"/>
            <a:ext cx="658368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C9D1D9"/>
                </a:solidFill>
              </a:rPr>
              <a:t>정상 데이터만으로 초평면 경계를 학습하여 이탈 데이터를 이상으로 분류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28600" y="1892808"/>
            <a:ext cx="6583680" cy="502920"/>
          </a:xfrm>
          <a:prstGeom prst="rect">
            <a:avLst/>
          </a:prstGeom>
          <a:solidFill>
            <a:srgbClr val="0D1933"/>
          </a:solidFill>
          <a:ln w="12700">
            <a:solidFill>
              <a:srgbClr val="58A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4048" y="1938528"/>
            <a:ext cx="630936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58A6FF"/>
                </a:solidFill>
              </a:rPr>
              <a:t>수식:  max{ρ−(1/νn)Σξᵢ}  s.t. ‖Φ(xᵢ)‖≥ρ−ξᵢ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28600" y="2468880"/>
            <a:ext cx="6583680" cy="402336"/>
          </a:xfrm>
          <a:prstGeom prst="rect">
            <a:avLst/>
          </a:prstGeom>
          <a:solidFill>
            <a:srgbClr val="1A1200"/>
          </a:solidFill>
          <a:ln w="12700">
            <a:solidFill>
              <a:srgbClr val="E3B34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84048" y="2514600"/>
            <a:ext cx="6309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E3B341"/>
                </a:solidFill>
              </a:rPr>
              <a:t>⚙  임계값:  nu=0.05~0.1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28600" y="2944368"/>
            <a:ext cx="2011680" cy="2377440"/>
          </a:xfrm>
          <a:prstGeom prst="rect">
            <a:avLst/>
          </a:prstGeom>
          <a:solidFill>
            <a:srgbClr val="0A2010"/>
          </a:solidFill>
          <a:ln w="12700">
            <a:solidFill>
              <a:srgbClr val="3FB9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20040" y="3035808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3FB950"/>
                </a:solidFill>
              </a:rPr>
              <a:t>✅ 장점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20040" y="3383280"/>
            <a:ext cx="18288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9D1D9"/>
                </a:solidFill>
              </a:rPr>
              <a:t>이상 샘플 불필요 · 비선형 경계 학습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331720" y="2944368"/>
            <a:ext cx="2011680" cy="2377440"/>
          </a:xfrm>
          <a:prstGeom prst="rect">
            <a:avLst/>
          </a:prstGeom>
          <a:solidFill>
            <a:srgbClr val="251010"/>
          </a:solidFill>
          <a:ln w="12700">
            <a:solidFill>
              <a:srgbClr val="F851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423160" y="3035808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85149"/>
                </a:solidFill>
              </a:rPr>
              <a:t>⚠ 단점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423160" y="3383280"/>
            <a:ext cx="18288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9D1D9"/>
                </a:solidFill>
              </a:rPr>
              <a:t>파라미터 민감 · 대규모 데이터에 느림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434840" y="2944368"/>
            <a:ext cx="2011680" cy="2377440"/>
          </a:xfrm>
          <a:prstGeom prst="rect">
            <a:avLst/>
          </a:prstGeom>
          <a:solidFill>
            <a:srgbClr val="0D1428"/>
          </a:solidFill>
          <a:ln w="12700">
            <a:solidFill>
              <a:srgbClr val="58A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26280" y="3035808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58A6FF"/>
                </a:solidFill>
              </a:rPr>
              <a:t>🏭 활용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26280" y="3383280"/>
            <a:ext cx="18288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9D1D9"/>
                </a:solidFill>
              </a:rPr>
              <a:t>신규 공정 조기 적용 · 레이블 없는 데이터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812280" y="1161288"/>
            <a:ext cx="5166360" cy="5623560"/>
          </a:xfrm>
          <a:prstGeom prst="rect">
            <a:avLst/>
          </a:prstGeom>
          <a:solidFill>
            <a:srgbClr val="161B22"/>
          </a:solidFill>
          <a:ln w="12700">
            <a:solidFill>
              <a:srgbClr val="F851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858000" y="1197864"/>
            <a:ext cx="50749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85149"/>
                </a:solidFill>
              </a:rPr>
              <a:t>📈 예시 그래프</a:t>
            </a:r>
          </a:p>
        </p:txBody>
      </p:sp>
      <p:pic>
        <p:nvPicPr>
          <p:cNvPr id="27" name="Picture 2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0" y="1435608"/>
            <a:ext cx="5074920" cy="5047488"/>
          </a:xfrm>
          <a:prstGeom prst="rect">
            <a:avLst/>
          </a:prstGeom>
        </p:spPr>
      </p:pic>
      <p:sp>
        <p:nvSpPr>
          <p:cNvPr id="28" name="Rectangle 27"/>
          <p:cNvSpPr/>
          <p:nvPr/>
        </p:nvSpPr>
        <p:spPr>
          <a:xfrm>
            <a:off x="0" y="6803136"/>
            <a:ext cx="12188952" cy="54864"/>
          </a:xfrm>
          <a:prstGeom prst="rect">
            <a:avLst/>
          </a:prstGeom>
          <a:solidFill>
            <a:srgbClr val="F85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817352" y="6492240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8B949E"/>
                </a:solidFill>
              </a:rPr>
              <a:t>13 / 23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188720"/>
          </a:xfrm>
          <a:prstGeom prst="rect">
            <a:avLst/>
          </a:prstGeom>
          <a:solidFill>
            <a:srgbClr val="212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88952" cy="45720"/>
          </a:xfrm>
          <a:prstGeom prst="rect">
            <a:avLst/>
          </a:prstGeom>
          <a:solidFill>
            <a:srgbClr val="58A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28600" y="246888"/>
            <a:ext cx="658368" cy="658368"/>
          </a:xfrm>
          <a:prstGeom prst="rect">
            <a:avLst/>
          </a:prstGeom>
          <a:solidFill>
            <a:srgbClr val="0969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28600" y="246888"/>
            <a:ext cx="658368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</a:rPr>
              <a:t>14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164592"/>
            <a:ext cx="7315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DBSCAN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658368"/>
            <a:ext cx="7315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8B949E"/>
                </a:solidFill>
              </a:rPr>
              <a:t>밀도 기반 클러스터링   |   ML 기반</a:t>
            </a:r>
          </a:p>
        </p:txBody>
      </p:sp>
      <p:sp>
        <p:nvSpPr>
          <p:cNvPr id="9" name="Rectangle 8"/>
          <p:cNvSpPr/>
          <p:nvPr/>
        </p:nvSpPr>
        <p:spPr>
          <a:xfrm>
            <a:off x="9692640" y="320040"/>
            <a:ext cx="2240280" cy="347472"/>
          </a:xfrm>
          <a:prstGeom prst="rect">
            <a:avLst/>
          </a:prstGeom>
          <a:solidFill>
            <a:srgbClr val="0E1B2A"/>
          </a:solidFill>
          <a:ln w="19050">
            <a:solidFill>
              <a:srgbClr val="58A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92640" y="320040"/>
            <a:ext cx="2240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58A6FF"/>
                </a:solidFill>
              </a:rPr>
              <a:t>ML 기반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28600" y="1298448"/>
            <a:ext cx="658368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C9D1D9"/>
                </a:solidFill>
              </a:rPr>
              <a:t>밀도가 낮은 영역에 속하는 포인트를 노이즈(Noise)로 분류하여 이상 탐지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28600" y="1892808"/>
            <a:ext cx="6583680" cy="502920"/>
          </a:xfrm>
          <a:prstGeom prst="rect">
            <a:avLst/>
          </a:prstGeom>
          <a:solidFill>
            <a:srgbClr val="0D1933"/>
          </a:solidFill>
          <a:ln w="12700">
            <a:solidFill>
              <a:srgbClr val="58A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4048" y="1938528"/>
            <a:ext cx="630936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58A6FF"/>
                </a:solidFill>
              </a:rPr>
              <a:t>수식:  eps 반경 내 minPts 미만 이웃 → Noise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28600" y="2468880"/>
            <a:ext cx="6583680" cy="402336"/>
          </a:xfrm>
          <a:prstGeom prst="rect">
            <a:avLst/>
          </a:prstGeom>
          <a:solidFill>
            <a:srgbClr val="1A1200"/>
          </a:solidFill>
          <a:ln w="12700">
            <a:solidFill>
              <a:srgbClr val="E3B34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84048" y="2514600"/>
            <a:ext cx="6309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E3B341"/>
                </a:solidFill>
              </a:rPr>
              <a:t>⚙  임계값:  eps=0.5 · minPts=5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28600" y="2944368"/>
            <a:ext cx="2011680" cy="2377440"/>
          </a:xfrm>
          <a:prstGeom prst="rect">
            <a:avLst/>
          </a:prstGeom>
          <a:solidFill>
            <a:srgbClr val="0A2010"/>
          </a:solidFill>
          <a:ln w="12700">
            <a:solidFill>
              <a:srgbClr val="3FB9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20040" y="3035808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3FB950"/>
                </a:solidFill>
              </a:rPr>
              <a:t>✅ 장점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20040" y="3383280"/>
            <a:ext cx="18288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9D1D9"/>
                </a:solidFill>
              </a:rPr>
              <a:t>임의 형태 클러스터 · 이상 자동 분리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331720" y="2944368"/>
            <a:ext cx="2011680" cy="2377440"/>
          </a:xfrm>
          <a:prstGeom prst="rect">
            <a:avLst/>
          </a:prstGeom>
          <a:solidFill>
            <a:srgbClr val="251010"/>
          </a:solidFill>
          <a:ln w="12700">
            <a:solidFill>
              <a:srgbClr val="F851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423160" y="3035808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85149"/>
                </a:solidFill>
              </a:rPr>
              <a:t>⚠ 단점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423160" y="3383280"/>
            <a:ext cx="18288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9D1D9"/>
                </a:solidFill>
              </a:rPr>
              <a:t>eps/minPts 선택 어려움 · 고차원 취약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434840" y="2944368"/>
            <a:ext cx="2011680" cy="2377440"/>
          </a:xfrm>
          <a:prstGeom prst="rect">
            <a:avLst/>
          </a:prstGeom>
          <a:solidFill>
            <a:srgbClr val="0D1428"/>
          </a:solidFill>
          <a:ln w="12700">
            <a:solidFill>
              <a:srgbClr val="58A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26280" y="3035808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58A6FF"/>
                </a:solidFill>
              </a:rPr>
              <a:t>🏭 활용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26280" y="3383280"/>
            <a:ext cx="18288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9D1D9"/>
                </a:solidFill>
              </a:rPr>
              <a:t>공간적 이상 · 다변량 센서 군집 분석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812280" y="1161288"/>
            <a:ext cx="5166360" cy="5623560"/>
          </a:xfrm>
          <a:prstGeom prst="rect">
            <a:avLst/>
          </a:prstGeom>
          <a:solidFill>
            <a:srgbClr val="161B22"/>
          </a:solidFill>
          <a:ln w="12700">
            <a:solidFill>
              <a:srgbClr val="58A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858000" y="1197864"/>
            <a:ext cx="50749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58A6FF"/>
                </a:solidFill>
              </a:rPr>
              <a:t>📈 예시 그래프</a:t>
            </a:r>
          </a:p>
        </p:txBody>
      </p:sp>
      <p:pic>
        <p:nvPicPr>
          <p:cNvPr id="27" name="Picture 2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0" y="1435608"/>
            <a:ext cx="5074920" cy="5047488"/>
          </a:xfrm>
          <a:prstGeom prst="rect">
            <a:avLst/>
          </a:prstGeom>
        </p:spPr>
      </p:pic>
      <p:sp>
        <p:nvSpPr>
          <p:cNvPr id="28" name="Rectangle 27"/>
          <p:cNvSpPr/>
          <p:nvPr/>
        </p:nvSpPr>
        <p:spPr>
          <a:xfrm>
            <a:off x="0" y="6803136"/>
            <a:ext cx="12188952" cy="54864"/>
          </a:xfrm>
          <a:prstGeom prst="rect">
            <a:avLst/>
          </a:prstGeom>
          <a:solidFill>
            <a:srgbClr val="58A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817352" y="6492240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8B949E"/>
                </a:solidFill>
              </a:rPr>
              <a:t>14 / 23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188720"/>
          </a:xfrm>
          <a:prstGeom prst="rect">
            <a:avLst/>
          </a:prstGeom>
          <a:solidFill>
            <a:srgbClr val="212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88952" cy="45720"/>
          </a:xfrm>
          <a:prstGeom prst="rect">
            <a:avLst/>
          </a:prstGeom>
          <a:solidFill>
            <a:srgbClr val="3FB9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28600" y="246888"/>
            <a:ext cx="658368" cy="658368"/>
          </a:xfrm>
          <a:prstGeom prst="rect">
            <a:avLst/>
          </a:prstGeom>
          <a:solidFill>
            <a:srgbClr val="1A7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28600" y="246888"/>
            <a:ext cx="658368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</a:rPr>
              <a:t>15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164592"/>
            <a:ext cx="7315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Mahalanobis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658368"/>
            <a:ext cx="7315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8B949E"/>
                </a:solidFill>
              </a:rPr>
              <a:t>마할라노비스 거리   |   ML 기반</a:t>
            </a:r>
          </a:p>
        </p:txBody>
      </p:sp>
      <p:sp>
        <p:nvSpPr>
          <p:cNvPr id="9" name="Rectangle 8"/>
          <p:cNvSpPr/>
          <p:nvPr/>
        </p:nvSpPr>
        <p:spPr>
          <a:xfrm>
            <a:off x="9692640" y="320040"/>
            <a:ext cx="2240280" cy="347472"/>
          </a:xfrm>
          <a:prstGeom prst="rect">
            <a:avLst/>
          </a:prstGeom>
          <a:solidFill>
            <a:srgbClr val="0A1E0D"/>
          </a:solidFill>
          <a:ln w="19050">
            <a:solidFill>
              <a:srgbClr val="3FB9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92640" y="320040"/>
            <a:ext cx="2240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3FB950"/>
                </a:solidFill>
              </a:rPr>
              <a:t>ML 기반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28600" y="1298448"/>
            <a:ext cx="658368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C9D1D9"/>
                </a:solidFill>
              </a:rPr>
              <a:t>공분산 행렬을 고려한 다변량 거리 척도로 다차원 이상 감지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28600" y="1892808"/>
            <a:ext cx="6583680" cy="502920"/>
          </a:xfrm>
          <a:prstGeom prst="rect">
            <a:avLst/>
          </a:prstGeom>
          <a:solidFill>
            <a:srgbClr val="0D1933"/>
          </a:solidFill>
          <a:ln w="12700">
            <a:solidFill>
              <a:srgbClr val="58A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4048" y="1938528"/>
            <a:ext cx="630936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58A6FF"/>
                </a:solidFill>
              </a:rPr>
              <a:t>수식:  D² = (x−μ)ᵀ Σ⁻¹ (x−μ)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28600" y="2468880"/>
            <a:ext cx="6583680" cy="402336"/>
          </a:xfrm>
          <a:prstGeom prst="rect">
            <a:avLst/>
          </a:prstGeom>
          <a:solidFill>
            <a:srgbClr val="1A1200"/>
          </a:solidFill>
          <a:ln w="12700">
            <a:solidFill>
              <a:srgbClr val="E3B34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84048" y="2514600"/>
            <a:ext cx="6309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E3B341"/>
                </a:solidFill>
              </a:rPr>
              <a:t>⚙  임계값:  χ² 분포 기반  (자유도=변수 수)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28600" y="2944368"/>
            <a:ext cx="2011680" cy="2377440"/>
          </a:xfrm>
          <a:prstGeom prst="rect">
            <a:avLst/>
          </a:prstGeom>
          <a:solidFill>
            <a:srgbClr val="0A2010"/>
          </a:solidFill>
          <a:ln w="12700">
            <a:solidFill>
              <a:srgbClr val="3FB9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20040" y="3035808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3FB950"/>
                </a:solidFill>
              </a:rPr>
              <a:t>✅ 장점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20040" y="3383280"/>
            <a:ext cx="18288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9D1D9"/>
                </a:solidFill>
              </a:rPr>
              <a:t>변수 간 상관관계 반영 · 다변량 최적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331720" y="2944368"/>
            <a:ext cx="2011680" cy="2377440"/>
          </a:xfrm>
          <a:prstGeom prst="rect">
            <a:avLst/>
          </a:prstGeom>
          <a:solidFill>
            <a:srgbClr val="251010"/>
          </a:solidFill>
          <a:ln w="12700">
            <a:solidFill>
              <a:srgbClr val="F851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423160" y="3035808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85149"/>
                </a:solidFill>
              </a:rPr>
              <a:t>⚠ 단점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423160" y="3383280"/>
            <a:ext cx="18288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9D1D9"/>
                </a:solidFill>
              </a:rPr>
              <a:t>역행렬 계산 필요 · 특이 공분산 불가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434840" y="2944368"/>
            <a:ext cx="2011680" cy="2377440"/>
          </a:xfrm>
          <a:prstGeom prst="rect">
            <a:avLst/>
          </a:prstGeom>
          <a:solidFill>
            <a:srgbClr val="0D1428"/>
          </a:solidFill>
          <a:ln w="12700">
            <a:solidFill>
              <a:srgbClr val="58A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26280" y="3035808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58A6FF"/>
                </a:solidFill>
              </a:rPr>
              <a:t>🏭 활용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26280" y="3383280"/>
            <a:ext cx="18288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9D1D9"/>
                </a:solidFill>
              </a:rPr>
              <a:t>다변량 공정 파라미터 종합 감시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812280" y="1161288"/>
            <a:ext cx="5166360" cy="5623560"/>
          </a:xfrm>
          <a:prstGeom prst="rect">
            <a:avLst/>
          </a:prstGeom>
          <a:solidFill>
            <a:srgbClr val="161B22"/>
          </a:solidFill>
          <a:ln w="12700">
            <a:solidFill>
              <a:srgbClr val="3FB9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858000" y="1197864"/>
            <a:ext cx="50749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3FB950"/>
                </a:solidFill>
              </a:rPr>
              <a:t>📈 예시 그래프</a:t>
            </a:r>
          </a:p>
        </p:txBody>
      </p:sp>
      <p:pic>
        <p:nvPicPr>
          <p:cNvPr id="27" name="Picture 2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0" y="1435608"/>
            <a:ext cx="5074920" cy="5047488"/>
          </a:xfrm>
          <a:prstGeom prst="rect">
            <a:avLst/>
          </a:prstGeom>
        </p:spPr>
      </p:pic>
      <p:sp>
        <p:nvSpPr>
          <p:cNvPr id="28" name="Rectangle 27"/>
          <p:cNvSpPr/>
          <p:nvPr/>
        </p:nvSpPr>
        <p:spPr>
          <a:xfrm>
            <a:off x="0" y="6803136"/>
            <a:ext cx="12188952" cy="54864"/>
          </a:xfrm>
          <a:prstGeom prst="rect">
            <a:avLst/>
          </a:prstGeom>
          <a:solidFill>
            <a:srgbClr val="3FB9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817352" y="6492240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8B949E"/>
                </a:solidFill>
              </a:rPr>
              <a:t>15 / 23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188720"/>
          </a:xfrm>
          <a:prstGeom prst="rect">
            <a:avLst/>
          </a:prstGeom>
          <a:solidFill>
            <a:srgbClr val="212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88952" cy="45720"/>
          </a:xfrm>
          <a:prstGeom prst="rect">
            <a:avLst/>
          </a:prstGeom>
          <a:solidFill>
            <a:srgbClr val="E3B3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28600" y="246888"/>
            <a:ext cx="658368" cy="658368"/>
          </a:xfrm>
          <a:prstGeom prst="rect">
            <a:avLst/>
          </a:prstGeom>
          <a:solidFill>
            <a:srgbClr val="9A6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28600" y="246888"/>
            <a:ext cx="658368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</a:rPr>
              <a:t>16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164592"/>
            <a:ext cx="7315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Seasonal Decomp.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658368"/>
            <a:ext cx="7315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8B949E"/>
                </a:solidFill>
              </a:rPr>
              <a:t>계절성 분해   |   시계열 기반</a:t>
            </a:r>
          </a:p>
        </p:txBody>
      </p:sp>
      <p:sp>
        <p:nvSpPr>
          <p:cNvPr id="9" name="Rectangle 8"/>
          <p:cNvSpPr/>
          <p:nvPr/>
        </p:nvSpPr>
        <p:spPr>
          <a:xfrm>
            <a:off x="9692640" y="320040"/>
            <a:ext cx="2240280" cy="347472"/>
          </a:xfrm>
          <a:prstGeom prst="rect">
            <a:avLst/>
          </a:prstGeom>
          <a:solidFill>
            <a:srgbClr val="251D0A"/>
          </a:solidFill>
          <a:ln w="19050">
            <a:solidFill>
              <a:srgbClr val="E3B34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92640" y="320040"/>
            <a:ext cx="2240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E3B341"/>
                </a:solidFill>
              </a:rPr>
              <a:t>시계열 기반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28600" y="1298448"/>
            <a:ext cx="658368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C9D1D9"/>
                </a:solidFill>
              </a:rPr>
              <a:t>시계열을 트렌드·계절성·잔차로 분해하여 잔차의 이상을 탐지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28600" y="1892808"/>
            <a:ext cx="6583680" cy="502920"/>
          </a:xfrm>
          <a:prstGeom prst="rect">
            <a:avLst/>
          </a:prstGeom>
          <a:solidFill>
            <a:srgbClr val="0D1933"/>
          </a:solidFill>
          <a:ln w="12700">
            <a:solidFill>
              <a:srgbClr val="58A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4048" y="1938528"/>
            <a:ext cx="630936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58A6FF"/>
                </a:solidFill>
              </a:rPr>
              <a:t>수식:  x_t = Trend_t + Seasonal_t + Residual_t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28600" y="2468880"/>
            <a:ext cx="6583680" cy="402336"/>
          </a:xfrm>
          <a:prstGeom prst="rect">
            <a:avLst/>
          </a:prstGeom>
          <a:solidFill>
            <a:srgbClr val="1A1200"/>
          </a:solidFill>
          <a:ln w="12700">
            <a:solidFill>
              <a:srgbClr val="E3B34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84048" y="2514600"/>
            <a:ext cx="6309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E3B341"/>
                </a:solidFill>
              </a:rPr>
              <a:t>⚙  임계값:  잔차 기준 |Z|&gt;3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28600" y="2944368"/>
            <a:ext cx="2011680" cy="2377440"/>
          </a:xfrm>
          <a:prstGeom prst="rect">
            <a:avLst/>
          </a:prstGeom>
          <a:solidFill>
            <a:srgbClr val="0A2010"/>
          </a:solidFill>
          <a:ln w="12700">
            <a:solidFill>
              <a:srgbClr val="3FB9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20040" y="3035808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3FB950"/>
                </a:solidFill>
              </a:rPr>
              <a:t>✅ 장점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20040" y="3383280"/>
            <a:ext cx="18288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9D1D9"/>
                </a:solidFill>
              </a:rPr>
              <a:t>주기성 패턴 자동 제거 · 복합 신호 처리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331720" y="2944368"/>
            <a:ext cx="2011680" cy="2377440"/>
          </a:xfrm>
          <a:prstGeom prst="rect">
            <a:avLst/>
          </a:prstGeom>
          <a:solidFill>
            <a:srgbClr val="251010"/>
          </a:solidFill>
          <a:ln w="12700">
            <a:solidFill>
              <a:srgbClr val="F851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423160" y="3035808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85149"/>
                </a:solidFill>
              </a:rPr>
              <a:t>⚠ 단점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423160" y="3383280"/>
            <a:ext cx="18288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9D1D9"/>
                </a:solidFill>
              </a:rPr>
              <a:t>최소 2주기 이상 데이터 필요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434840" y="2944368"/>
            <a:ext cx="2011680" cy="2377440"/>
          </a:xfrm>
          <a:prstGeom prst="rect">
            <a:avLst/>
          </a:prstGeom>
          <a:solidFill>
            <a:srgbClr val="0D1428"/>
          </a:solidFill>
          <a:ln w="12700">
            <a:solidFill>
              <a:srgbClr val="58A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26280" y="3035808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58A6FF"/>
                </a:solidFill>
              </a:rPr>
              <a:t>🏭 활용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26280" y="3383280"/>
            <a:ext cx="18288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9D1D9"/>
                </a:solidFill>
              </a:rPr>
              <a:t>일간/주간 패턴이 있는 공정 데이터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812280" y="1161288"/>
            <a:ext cx="5166360" cy="5623560"/>
          </a:xfrm>
          <a:prstGeom prst="rect">
            <a:avLst/>
          </a:prstGeom>
          <a:solidFill>
            <a:srgbClr val="161B22"/>
          </a:solidFill>
          <a:ln w="12700">
            <a:solidFill>
              <a:srgbClr val="E3B34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858000" y="1197864"/>
            <a:ext cx="50749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E3B341"/>
                </a:solidFill>
              </a:rPr>
              <a:t>📈 예시 그래프</a:t>
            </a:r>
          </a:p>
        </p:txBody>
      </p:sp>
      <p:pic>
        <p:nvPicPr>
          <p:cNvPr id="27" name="Picture 2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0" y="1435608"/>
            <a:ext cx="5074920" cy="5047488"/>
          </a:xfrm>
          <a:prstGeom prst="rect">
            <a:avLst/>
          </a:prstGeom>
        </p:spPr>
      </p:pic>
      <p:sp>
        <p:nvSpPr>
          <p:cNvPr id="28" name="Rectangle 27"/>
          <p:cNvSpPr/>
          <p:nvPr/>
        </p:nvSpPr>
        <p:spPr>
          <a:xfrm>
            <a:off x="0" y="6803136"/>
            <a:ext cx="12188952" cy="54864"/>
          </a:xfrm>
          <a:prstGeom prst="rect">
            <a:avLst/>
          </a:prstGeom>
          <a:solidFill>
            <a:srgbClr val="E3B3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817352" y="6492240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8B949E"/>
                </a:solidFill>
              </a:rPr>
              <a:t>16 / 23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188720"/>
          </a:xfrm>
          <a:prstGeom prst="rect">
            <a:avLst/>
          </a:prstGeom>
          <a:solidFill>
            <a:srgbClr val="212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88952" cy="45720"/>
          </a:xfrm>
          <a:prstGeom prst="rect">
            <a:avLst/>
          </a:prstGeom>
          <a:solidFill>
            <a:srgbClr val="BC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28600" y="246888"/>
            <a:ext cx="658368" cy="658368"/>
          </a:xfrm>
          <a:prstGeom prst="rect">
            <a:avLst/>
          </a:prstGeom>
          <a:solidFill>
            <a:srgbClr val="6639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28600" y="246888"/>
            <a:ext cx="658368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</a:rPr>
              <a:t>17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164592"/>
            <a:ext cx="7315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Wavelet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658368"/>
            <a:ext cx="7315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8B949E"/>
                </a:solidFill>
              </a:rPr>
              <a:t>웨이블릿 변환   |   신호 처리</a:t>
            </a:r>
          </a:p>
        </p:txBody>
      </p:sp>
      <p:sp>
        <p:nvSpPr>
          <p:cNvPr id="9" name="Rectangle 8"/>
          <p:cNvSpPr/>
          <p:nvPr/>
        </p:nvSpPr>
        <p:spPr>
          <a:xfrm>
            <a:off x="9692640" y="320040"/>
            <a:ext cx="2240280" cy="347472"/>
          </a:xfrm>
          <a:prstGeom prst="rect">
            <a:avLst/>
          </a:prstGeom>
          <a:solidFill>
            <a:srgbClr val="1F172A"/>
          </a:solidFill>
          <a:ln w="19050">
            <a:solidFill>
              <a:srgbClr val="BC8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92640" y="320040"/>
            <a:ext cx="2240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BC8CFF"/>
                </a:solidFill>
              </a:rPr>
              <a:t>신호 처리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28600" y="1298448"/>
            <a:ext cx="658368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C9D1D9"/>
                </a:solidFill>
              </a:rPr>
              <a:t>신호를 다해상도로 분해하여 특정 주파수 대역의 이상을 탐지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28600" y="1892808"/>
            <a:ext cx="6583680" cy="502920"/>
          </a:xfrm>
          <a:prstGeom prst="rect">
            <a:avLst/>
          </a:prstGeom>
          <a:solidFill>
            <a:srgbClr val="0D1933"/>
          </a:solidFill>
          <a:ln w="12700">
            <a:solidFill>
              <a:srgbClr val="58A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4048" y="1938528"/>
            <a:ext cx="630936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58A6FF"/>
                </a:solidFill>
              </a:rPr>
              <a:t>수식:  W(a,b) = ∫ x(t)·ψ((t−b)/a) dt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28600" y="2468880"/>
            <a:ext cx="6583680" cy="402336"/>
          </a:xfrm>
          <a:prstGeom prst="rect">
            <a:avLst/>
          </a:prstGeom>
          <a:solidFill>
            <a:srgbClr val="1A1200"/>
          </a:solidFill>
          <a:ln w="12700">
            <a:solidFill>
              <a:srgbClr val="E3B34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84048" y="2514600"/>
            <a:ext cx="6309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E3B341"/>
                </a:solidFill>
              </a:rPr>
              <a:t>⚙  임계값:  임계 수준 k=1~5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28600" y="2944368"/>
            <a:ext cx="2011680" cy="2377440"/>
          </a:xfrm>
          <a:prstGeom prst="rect">
            <a:avLst/>
          </a:prstGeom>
          <a:solidFill>
            <a:srgbClr val="0A2010"/>
          </a:solidFill>
          <a:ln w="12700">
            <a:solidFill>
              <a:srgbClr val="3FB9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20040" y="3035808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3FB950"/>
                </a:solidFill>
              </a:rPr>
              <a:t>✅ 장점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20040" y="3383280"/>
            <a:ext cx="18288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9D1D9"/>
                </a:solidFill>
              </a:rPr>
              <a:t>시간-주파수 동시 분석 · 비정상 신호에 강함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331720" y="2944368"/>
            <a:ext cx="2011680" cy="2377440"/>
          </a:xfrm>
          <a:prstGeom prst="rect">
            <a:avLst/>
          </a:prstGeom>
          <a:solidFill>
            <a:srgbClr val="251010"/>
          </a:solidFill>
          <a:ln w="12700">
            <a:solidFill>
              <a:srgbClr val="F851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423160" y="3035808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85149"/>
                </a:solidFill>
              </a:rPr>
              <a:t>⚠ 단점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423160" y="3383280"/>
            <a:ext cx="18288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9D1D9"/>
                </a:solidFill>
              </a:rPr>
              <a:t>파라미터 선택에 전문지식 필요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434840" y="2944368"/>
            <a:ext cx="2011680" cy="2377440"/>
          </a:xfrm>
          <a:prstGeom prst="rect">
            <a:avLst/>
          </a:prstGeom>
          <a:solidFill>
            <a:srgbClr val="0D1428"/>
          </a:solidFill>
          <a:ln w="12700">
            <a:solidFill>
              <a:srgbClr val="58A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26280" y="3035808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58A6FF"/>
                </a:solidFill>
              </a:rPr>
              <a:t>🏭 활용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26280" y="3383280"/>
            <a:ext cx="18288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9D1D9"/>
                </a:solidFill>
              </a:rPr>
              <a:t>진동 신호 · 전력 품질 이상 감지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812280" y="1161288"/>
            <a:ext cx="5166360" cy="5623560"/>
          </a:xfrm>
          <a:prstGeom prst="rect">
            <a:avLst/>
          </a:prstGeom>
          <a:solidFill>
            <a:srgbClr val="161B22"/>
          </a:solidFill>
          <a:ln w="12700">
            <a:solidFill>
              <a:srgbClr val="BC8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858000" y="1197864"/>
            <a:ext cx="50749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BC8CFF"/>
                </a:solidFill>
              </a:rPr>
              <a:t>📈 예시 그래프</a:t>
            </a:r>
          </a:p>
        </p:txBody>
      </p:sp>
      <p:pic>
        <p:nvPicPr>
          <p:cNvPr id="27" name="Picture 2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0" y="1435608"/>
            <a:ext cx="5074920" cy="5047488"/>
          </a:xfrm>
          <a:prstGeom prst="rect">
            <a:avLst/>
          </a:prstGeom>
        </p:spPr>
      </p:pic>
      <p:sp>
        <p:nvSpPr>
          <p:cNvPr id="28" name="Rectangle 27"/>
          <p:cNvSpPr/>
          <p:nvPr/>
        </p:nvSpPr>
        <p:spPr>
          <a:xfrm>
            <a:off x="0" y="6803136"/>
            <a:ext cx="12188952" cy="54864"/>
          </a:xfrm>
          <a:prstGeom prst="rect">
            <a:avLst/>
          </a:prstGeom>
          <a:solidFill>
            <a:srgbClr val="BC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817352" y="6492240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8B949E"/>
                </a:solidFill>
              </a:rPr>
              <a:t>17 / 23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188720"/>
          </a:xfrm>
          <a:prstGeom prst="rect">
            <a:avLst/>
          </a:prstGeom>
          <a:solidFill>
            <a:srgbClr val="212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88952" cy="45720"/>
          </a:xfrm>
          <a:prstGeom prst="rect">
            <a:avLst/>
          </a:prstGeom>
          <a:solidFill>
            <a:srgbClr val="58A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28600" y="246888"/>
            <a:ext cx="658368" cy="658368"/>
          </a:xfrm>
          <a:prstGeom prst="rect">
            <a:avLst/>
          </a:prstGeom>
          <a:solidFill>
            <a:srgbClr val="0969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28600" y="246888"/>
            <a:ext cx="658368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</a:rPr>
              <a:t>18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164592"/>
            <a:ext cx="7315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Hampel Identifier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658368"/>
            <a:ext cx="7315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8B949E"/>
                </a:solidFill>
              </a:rPr>
              <a:t>햄펠 식별자   |   시계열 기반</a:t>
            </a:r>
          </a:p>
        </p:txBody>
      </p:sp>
      <p:sp>
        <p:nvSpPr>
          <p:cNvPr id="9" name="Rectangle 8"/>
          <p:cNvSpPr/>
          <p:nvPr/>
        </p:nvSpPr>
        <p:spPr>
          <a:xfrm>
            <a:off x="9692640" y="320040"/>
            <a:ext cx="2240280" cy="347472"/>
          </a:xfrm>
          <a:prstGeom prst="rect">
            <a:avLst/>
          </a:prstGeom>
          <a:solidFill>
            <a:srgbClr val="0E1B2A"/>
          </a:solidFill>
          <a:ln w="19050">
            <a:solidFill>
              <a:srgbClr val="58A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92640" y="320040"/>
            <a:ext cx="2240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58A6FF"/>
                </a:solidFill>
              </a:rPr>
              <a:t>시계열 기반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28600" y="1298448"/>
            <a:ext cx="658368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C9D1D9"/>
                </a:solidFill>
              </a:rPr>
              <a:t>이동 윈도우의 중위수와 MAD를 이용한 강건한 시계열 이상 탐지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28600" y="1892808"/>
            <a:ext cx="6583680" cy="502920"/>
          </a:xfrm>
          <a:prstGeom prst="rect">
            <a:avLst/>
          </a:prstGeom>
          <a:solidFill>
            <a:srgbClr val="0D1933"/>
          </a:solidFill>
          <a:ln w="12700">
            <a:solidFill>
              <a:srgbClr val="58A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4048" y="1938528"/>
            <a:ext cx="630936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58A6FF"/>
                </a:solidFill>
              </a:rPr>
              <a:t>수식:  |x − median| &gt; k × MAD × 1.4826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28600" y="2468880"/>
            <a:ext cx="6583680" cy="402336"/>
          </a:xfrm>
          <a:prstGeom prst="rect">
            <a:avLst/>
          </a:prstGeom>
          <a:solidFill>
            <a:srgbClr val="1A1200"/>
          </a:solidFill>
          <a:ln w="12700">
            <a:solidFill>
              <a:srgbClr val="E3B34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84048" y="2514600"/>
            <a:ext cx="6309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E3B341"/>
                </a:solidFill>
              </a:rPr>
              <a:t>⚙  임계값:  k=3  (기본값)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28600" y="2944368"/>
            <a:ext cx="2011680" cy="2377440"/>
          </a:xfrm>
          <a:prstGeom prst="rect">
            <a:avLst/>
          </a:prstGeom>
          <a:solidFill>
            <a:srgbClr val="0A2010"/>
          </a:solidFill>
          <a:ln w="12700">
            <a:solidFill>
              <a:srgbClr val="3FB9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20040" y="3035808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3FB950"/>
                </a:solidFill>
              </a:rPr>
              <a:t>✅ 장점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20040" y="3383280"/>
            <a:ext cx="18288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9D1D9"/>
                </a:solidFill>
              </a:rPr>
              <a:t>이상값에 강건 · 시계열 적합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331720" y="2944368"/>
            <a:ext cx="2011680" cy="2377440"/>
          </a:xfrm>
          <a:prstGeom prst="rect">
            <a:avLst/>
          </a:prstGeom>
          <a:solidFill>
            <a:srgbClr val="251010"/>
          </a:solidFill>
          <a:ln w="12700">
            <a:solidFill>
              <a:srgbClr val="F851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423160" y="3035808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85149"/>
                </a:solidFill>
              </a:rPr>
              <a:t>⚠ 단점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423160" y="3383280"/>
            <a:ext cx="18288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9D1D9"/>
                </a:solidFill>
              </a:rPr>
              <a:t>윈도우 크기 선택 필요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434840" y="2944368"/>
            <a:ext cx="2011680" cy="2377440"/>
          </a:xfrm>
          <a:prstGeom prst="rect">
            <a:avLst/>
          </a:prstGeom>
          <a:solidFill>
            <a:srgbClr val="0D1428"/>
          </a:solidFill>
          <a:ln w="12700">
            <a:solidFill>
              <a:srgbClr val="58A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26280" y="3035808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58A6FF"/>
                </a:solidFill>
              </a:rPr>
              <a:t>🏭 활용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26280" y="3383280"/>
            <a:ext cx="18288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9D1D9"/>
                </a:solidFill>
              </a:rPr>
              <a:t>센서 스파이크 · 측정 오류 필터링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812280" y="1161288"/>
            <a:ext cx="5166360" cy="5623560"/>
          </a:xfrm>
          <a:prstGeom prst="rect">
            <a:avLst/>
          </a:prstGeom>
          <a:solidFill>
            <a:srgbClr val="161B22"/>
          </a:solidFill>
          <a:ln w="12700">
            <a:solidFill>
              <a:srgbClr val="58A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858000" y="1197864"/>
            <a:ext cx="50749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58A6FF"/>
                </a:solidFill>
              </a:rPr>
              <a:t>📈 예시 그래프</a:t>
            </a:r>
          </a:p>
        </p:txBody>
      </p:sp>
      <p:pic>
        <p:nvPicPr>
          <p:cNvPr id="27" name="Picture 2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0" y="1435608"/>
            <a:ext cx="5074920" cy="5047488"/>
          </a:xfrm>
          <a:prstGeom prst="rect">
            <a:avLst/>
          </a:prstGeom>
        </p:spPr>
      </p:pic>
      <p:sp>
        <p:nvSpPr>
          <p:cNvPr id="28" name="Rectangle 27"/>
          <p:cNvSpPr/>
          <p:nvPr/>
        </p:nvSpPr>
        <p:spPr>
          <a:xfrm>
            <a:off x="0" y="6803136"/>
            <a:ext cx="12188952" cy="54864"/>
          </a:xfrm>
          <a:prstGeom prst="rect">
            <a:avLst/>
          </a:prstGeom>
          <a:solidFill>
            <a:srgbClr val="58A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817352" y="6492240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8B949E"/>
                </a:solidFill>
              </a:rPr>
              <a:t>18 / 23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188720"/>
          </a:xfrm>
          <a:prstGeom prst="rect">
            <a:avLst/>
          </a:prstGeom>
          <a:solidFill>
            <a:srgbClr val="212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88952" cy="45720"/>
          </a:xfrm>
          <a:prstGeom prst="rect">
            <a:avLst/>
          </a:prstGeom>
          <a:solidFill>
            <a:srgbClr val="F85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28600" y="246888"/>
            <a:ext cx="658368" cy="658368"/>
          </a:xfrm>
          <a:prstGeom prst="rect">
            <a:avLst/>
          </a:prstGeom>
          <a:solidFill>
            <a:srgbClr val="CF22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28600" y="246888"/>
            <a:ext cx="658368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</a:rPr>
              <a:t>19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164592"/>
            <a:ext cx="7315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Change Point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658368"/>
            <a:ext cx="7315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8B949E"/>
                </a:solidFill>
              </a:rPr>
              <a:t>변화점 탐지   |   시계열 기반</a:t>
            </a:r>
          </a:p>
        </p:txBody>
      </p:sp>
      <p:sp>
        <p:nvSpPr>
          <p:cNvPr id="9" name="Rectangle 8"/>
          <p:cNvSpPr/>
          <p:nvPr/>
        </p:nvSpPr>
        <p:spPr>
          <a:xfrm>
            <a:off x="9692640" y="320040"/>
            <a:ext cx="2240280" cy="347472"/>
          </a:xfrm>
          <a:prstGeom prst="rect">
            <a:avLst/>
          </a:prstGeom>
          <a:solidFill>
            <a:srgbClr val="290D0C"/>
          </a:solidFill>
          <a:ln w="19050">
            <a:solidFill>
              <a:srgbClr val="F851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92640" y="320040"/>
            <a:ext cx="2240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85149"/>
                </a:solidFill>
              </a:rPr>
              <a:t>시계열 기반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28600" y="1298448"/>
            <a:ext cx="658368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C9D1D9"/>
                </a:solidFill>
              </a:rPr>
              <a:t>시계열에서 통계적 특성(평균·분산)이 급변하는 지점을 탐지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28600" y="1892808"/>
            <a:ext cx="6583680" cy="502920"/>
          </a:xfrm>
          <a:prstGeom prst="rect">
            <a:avLst/>
          </a:prstGeom>
          <a:solidFill>
            <a:srgbClr val="0D1933"/>
          </a:solidFill>
          <a:ln w="12700">
            <a:solidFill>
              <a:srgbClr val="58A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4048" y="1938528"/>
            <a:ext cx="630936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58A6FF"/>
                </a:solidFill>
              </a:rPr>
              <a:t>수식:  PELT / Binary Segmentation 알고리즘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28600" y="2468880"/>
            <a:ext cx="6583680" cy="402336"/>
          </a:xfrm>
          <a:prstGeom prst="rect">
            <a:avLst/>
          </a:prstGeom>
          <a:solidFill>
            <a:srgbClr val="1A1200"/>
          </a:solidFill>
          <a:ln w="12700">
            <a:solidFill>
              <a:srgbClr val="E3B34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84048" y="2514600"/>
            <a:ext cx="6309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E3B341"/>
                </a:solidFill>
              </a:rPr>
              <a:t>⚙  임계값:  penalty=5~50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28600" y="2944368"/>
            <a:ext cx="2011680" cy="2377440"/>
          </a:xfrm>
          <a:prstGeom prst="rect">
            <a:avLst/>
          </a:prstGeom>
          <a:solidFill>
            <a:srgbClr val="0A2010"/>
          </a:solidFill>
          <a:ln w="12700">
            <a:solidFill>
              <a:srgbClr val="3FB9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20040" y="3035808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3FB950"/>
                </a:solidFill>
              </a:rPr>
              <a:t>✅ 장점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20040" y="3383280"/>
            <a:ext cx="18288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9D1D9"/>
                </a:solidFill>
              </a:rPr>
              <a:t>공정 단계 전환 자동 감지 · 다양한 알고리즘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331720" y="2944368"/>
            <a:ext cx="2011680" cy="2377440"/>
          </a:xfrm>
          <a:prstGeom prst="rect">
            <a:avLst/>
          </a:prstGeom>
          <a:solidFill>
            <a:srgbClr val="251010"/>
          </a:solidFill>
          <a:ln w="12700">
            <a:solidFill>
              <a:srgbClr val="F851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423160" y="3035808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85149"/>
                </a:solidFill>
              </a:rPr>
              <a:t>⚠ 단점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423160" y="3383280"/>
            <a:ext cx="18288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9D1D9"/>
                </a:solidFill>
              </a:rPr>
              <a:t>계산 비용 높음 · 민감도 조정 필요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434840" y="2944368"/>
            <a:ext cx="2011680" cy="2377440"/>
          </a:xfrm>
          <a:prstGeom prst="rect">
            <a:avLst/>
          </a:prstGeom>
          <a:solidFill>
            <a:srgbClr val="0D1428"/>
          </a:solidFill>
          <a:ln w="12700">
            <a:solidFill>
              <a:srgbClr val="58A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26280" y="3035808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58A6FF"/>
                </a:solidFill>
              </a:rPr>
              <a:t>🏭 활용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26280" y="3383280"/>
            <a:ext cx="18288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9D1D9"/>
                </a:solidFill>
              </a:rPr>
              <a:t>공정 레시피 변경 · 장비 상태 전환 감지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812280" y="1161288"/>
            <a:ext cx="5166360" cy="5623560"/>
          </a:xfrm>
          <a:prstGeom prst="rect">
            <a:avLst/>
          </a:prstGeom>
          <a:solidFill>
            <a:srgbClr val="161B22"/>
          </a:solidFill>
          <a:ln w="12700">
            <a:solidFill>
              <a:srgbClr val="F851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858000" y="1197864"/>
            <a:ext cx="50749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85149"/>
                </a:solidFill>
              </a:rPr>
              <a:t>📈 예시 그래프</a:t>
            </a:r>
          </a:p>
        </p:txBody>
      </p:sp>
      <p:pic>
        <p:nvPicPr>
          <p:cNvPr id="27" name="Picture 2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0" y="1435608"/>
            <a:ext cx="5074920" cy="5047488"/>
          </a:xfrm>
          <a:prstGeom prst="rect">
            <a:avLst/>
          </a:prstGeom>
        </p:spPr>
      </p:pic>
      <p:sp>
        <p:nvSpPr>
          <p:cNvPr id="28" name="Rectangle 27"/>
          <p:cNvSpPr/>
          <p:nvPr/>
        </p:nvSpPr>
        <p:spPr>
          <a:xfrm>
            <a:off x="0" y="6803136"/>
            <a:ext cx="12188952" cy="54864"/>
          </a:xfrm>
          <a:prstGeom prst="rect">
            <a:avLst/>
          </a:prstGeom>
          <a:solidFill>
            <a:srgbClr val="F85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817352" y="6492240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8B949E"/>
                </a:solidFill>
              </a:rPr>
              <a:t>19 / 23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188720"/>
          </a:xfrm>
          <a:prstGeom prst="rect">
            <a:avLst/>
          </a:prstGeom>
          <a:solidFill>
            <a:srgbClr val="212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88952" cy="45720"/>
          </a:xfrm>
          <a:prstGeom prst="rect">
            <a:avLst/>
          </a:prstGeom>
          <a:solidFill>
            <a:srgbClr val="58A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28600" y="246888"/>
            <a:ext cx="658368" cy="658368"/>
          </a:xfrm>
          <a:prstGeom prst="rect">
            <a:avLst/>
          </a:prstGeom>
          <a:solidFill>
            <a:srgbClr val="0969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28600" y="246888"/>
            <a:ext cx="658368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</a:rPr>
              <a:t>20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164592"/>
            <a:ext cx="7315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Autoencoder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658368"/>
            <a:ext cx="7315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8B949E"/>
                </a:solidFill>
              </a:rPr>
              <a:t>오토인코더   |   딥러닝</a:t>
            </a:r>
          </a:p>
        </p:txBody>
      </p:sp>
      <p:sp>
        <p:nvSpPr>
          <p:cNvPr id="9" name="Rectangle 8"/>
          <p:cNvSpPr/>
          <p:nvPr/>
        </p:nvSpPr>
        <p:spPr>
          <a:xfrm>
            <a:off x="9692640" y="320040"/>
            <a:ext cx="2240280" cy="347472"/>
          </a:xfrm>
          <a:prstGeom prst="rect">
            <a:avLst/>
          </a:prstGeom>
          <a:solidFill>
            <a:srgbClr val="0E1B2A"/>
          </a:solidFill>
          <a:ln w="19050">
            <a:solidFill>
              <a:srgbClr val="58A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92640" y="320040"/>
            <a:ext cx="2240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58A6FF"/>
                </a:solidFill>
              </a:rPr>
              <a:t>딥러닝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28600" y="1298448"/>
            <a:ext cx="658368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C9D1D9"/>
                </a:solidFill>
              </a:rPr>
              <a:t>정상 데이터 패턴을 신경망으로 학습 후 재구성 오류로 이상 탐지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28600" y="1892808"/>
            <a:ext cx="6583680" cy="502920"/>
          </a:xfrm>
          <a:prstGeom prst="rect">
            <a:avLst/>
          </a:prstGeom>
          <a:solidFill>
            <a:srgbClr val="0D1933"/>
          </a:solidFill>
          <a:ln w="12700">
            <a:solidFill>
              <a:srgbClr val="58A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4048" y="1938528"/>
            <a:ext cx="630936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58A6FF"/>
                </a:solidFill>
              </a:rPr>
              <a:t>수식:  이상 점수 = ‖x − decoder(encoder(x))‖²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28600" y="2468880"/>
            <a:ext cx="6583680" cy="402336"/>
          </a:xfrm>
          <a:prstGeom prst="rect">
            <a:avLst/>
          </a:prstGeom>
          <a:solidFill>
            <a:srgbClr val="1A1200"/>
          </a:solidFill>
          <a:ln w="12700">
            <a:solidFill>
              <a:srgbClr val="E3B34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84048" y="2514600"/>
            <a:ext cx="6309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E3B341"/>
                </a:solidFill>
              </a:rPr>
              <a:t>⚙  임계값:  재구성 오류 95/99 백분위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28600" y="2944368"/>
            <a:ext cx="2011680" cy="2377440"/>
          </a:xfrm>
          <a:prstGeom prst="rect">
            <a:avLst/>
          </a:prstGeom>
          <a:solidFill>
            <a:srgbClr val="0A2010"/>
          </a:solidFill>
          <a:ln w="12700">
            <a:solidFill>
              <a:srgbClr val="3FB9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20040" y="3035808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3FB950"/>
                </a:solidFill>
              </a:rPr>
              <a:t>✅ 장점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20040" y="3383280"/>
            <a:ext cx="18288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9D1D9"/>
                </a:solidFill>
              </a:rPr>
              <a:t>비선형 패턴 학습 · 다변량 지원 · 강력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331720" y="2944368"/>
            <a:ext cx="2011680" cy="2377440"/>
          </a:xfrm>
          <a:prstGeom prst="rect">
            <a:avLst/>
          </a:prstGeom>
          <a:solidFill>
            <a:srgbClr val="251010"/>
          </a:solidFill>
          <a:ln w="12700">
            <a:solidFill>
              <a:srgbClr val="F851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423160" y="3035808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85149"/>
                </a:solidFill>
              </a:rPr>
              <a:t>⚠ 단점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423160" y="3383280"/>
            <a:ext cx="18288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9D1D9"/>
                </a:solidFill>
              </a:rPr>
              <a:t>학습 데이터 필요 · 설명력 부족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434840" y="2944368"/>
            <a:ext cx="2011680" cy="2377440"/>
          </a:xfrm>
          <a:prstGeom prst="rect">
            <a:avLst/>
          </a:prstGeom>
          <a:solidFill>
            <a:srgbClr val="0D1428"/>
          </a:solidFill>
          <a:ln w="12700">
            <a:solidFill>
              <a:srgbClr val="58A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26280" y="3035808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58A6FF"/>
                </a:solidFill>
              </a:rPr>
              <a:t>🏭 활용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26280" y="3383280"/>
            <a:ext cx="18288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9D1D9"/>
                </a:solidFill>
              </a:rPr>
              <a:t>복잡한 다변량 공정 이상 학습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812280" y="1161288"/>
            <a:ext cx="5166360" cy="5623560"/>
          </a:xfrm>
          <a:prstGeom prst="rect">
            <a:avLst/>
          </a:prstGeom>
          <a:solidFill>
            <a:srgbClr val="161B22"/>
          </a:solidFill>
          <a:ln w="12700">
            <a:solidFill>
              <a:srgbClr val="58A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858000" y="1197864"/>
            <a:ext cx="50749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58A6FF"/>
                </a:solidFill>
              </a:rPr>
              <a:t>📈 예시 그래프</a:t>
            </a:r>
          </a:p>
        </p:txBody>
      </p:sp>
      <p:pic>
        <p:nvPicPr>
          <p:cNvPr id="27" name="Picture 2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0" y="1435608"/>
            <a:ext cx="5074920" cy="5047488"/>
          </a:xfrm>
          <a:prstGeom prst="rect">
            <a:avLst/>
          </a:prstGeom>
        </p:spPr>
      </p:pic>
      <p:sp>
        <p:nvSpPr>
          <p:cNvPr id="28" name="Rectangle 27"/>
          <p:cNvSpPr/>
          <p:nvPr/>
        </p:nvSpPr>
        <p:spPr>
          <a:xfrm>
            <a:off x="0" y="6803136"/>
            <a:ext cx="12188952" cy="54864"/>
          </a:xfrm>
          <a:prstGeom prst="rect">
            <a:avLst/>
          </a:prstGeom>
          <a:solidFill>
            <a:srgbClr val="58A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817352" y="6492240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8B949E"/>
                </a:solidFill>
              </a:rPr>
              <a:t>20 / 23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188720"/>
          </a:xfrm>
          <a:prstGeom prst="rect">
            <a:avLst/>
          </a:prstGeom>
          <a:solidFill>
            <a:srgbClr val="212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88952" cy="45720"/>
          </a:xfrm>
          <a:prstGeom prst="rect">
            <a:avLst/>
          </a:prstGeom>
          <a:solidFill>
            <a:srgbClr val="E3B3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28600" y="246888"/>
            <a:ext cx="658368" cy="658368"/>
          </a:xfrm>
          <a:prstGeom prst="rect">
            <a:avLst/>
          </a:prstGeom>
          <a:solidFill>
            <a:srgbClr val="9A6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28600" y="246888"/>
            <a:ext cx="658368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</a:rPr>
              <a:t>21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164592"/>
            <a:ext cx="7315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Ensemble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658368"/>
            <a:ext cx="7315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8B949E"/>
                </a:solidFill>
              </a:rPr>
              <a:t>앙상블 방법   |   메타 방법</a:t>
            </a:r>
          </a:p>
        </p:txBody>
      </p:sp>
      <p:sp>
        <p:nvSpPr>
          <p:cNvPr id="9" name="Rectangle 8"/>
          <p:cNvSpPr/>
          <p:nvPr/>
        </p:nvSpPr>
        <p:spPr>
          <a:xfrm>
            <a:off x="9692640" y="320040"/>
            <a:ext cx="2240280" cy="347472"/>
          </a:xfrm>
          <a:prstGeom prst="rect">
            <a:avLst/>
          </a:prstGeom>
          <a:solidFill>
            <a:srgbClr val="251D0A"/>
          </a:solidFill>
          <a:ln w="19050">
            <a:solidFill>
              <a:srgbClr val="E3B34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92640" y="320040"/>
            <a:ext cx="2240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E3B341"/>
                </a:solidFill>
              </a:rPr>
              <a:t>메타 방법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28600" y="1298448"/>
            <a:ext cx="658368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C9D1D9"/>
                </a:solidFill>
              </a:rPr>
              <a:t>여러 이상 탐지 방법의 결과를 통합하여 신뢰도를 높이는 메타 방법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28600" y="1892808"/>
            <a:ext cx="6583680" cy="502920"/>
          </a:xfrm>
          <a:prstGeom prst="rect">
            <a:avLst/>
          </a:prstGeom>
          <a:solidFill>
            <a:srgbClr val="0D1933"/>
          </a:solidFill>
          <a:ln w="12700">
            <a:solidFill>
              <a:srgbClr val="58A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4048" y="1938528"/>
            <a:ext cx="630936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58A6FF"/>
                </a:solidFill>
              </a:rPr>
              <a:t>수식:  최종 점수 = Σ(wᵢ×scoreᵢ) / Σwᵢ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28600" y="2468880"/>
            <a:ext cx="6583680" cy="402336"/>
          </a:xfrm>
          <a:prstGeom prst="rect">
            <a:avLst/>
          </a:prstGeom>
          <a:solidFill>
            <a:srgbClr val="1A1200"/>
          </a:solidFill>
          <a:ln w="12700">
            <a:solidFill>
              <a:srgbClr val="E3B34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84048" y="2514600"/>
            <a:ext cx="6309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E3B341"/>
                </a:solidFill>
              </a:rPr>
              <a:t>⚙  임계값:  투표 방식 또는 가중 평균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28600" y="2944368"/>
            <a:ext cx="2011680" cy="2377440"/>
          </a:xfrm>
          <a:prstGeom prst="rect">
            <a:avLst/>
          </a:prstGeom>
          <a:solidFill>
            <a:srgbClr val="0A2010"/>
          </a:solidFill>
          <a:ln w="12700">
            <a:solidFill>
              <a:srgbClr val="3FB9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20040" y="3035808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3FB950"/>
                </a:solidFill>
              </a:rPr>
              <a:t>✅ 장점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20040" y="3383280"/>
            <a:ext cx="18288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9D1D9"/>
                </a:solidFill>
              </a:rPr>
              <a:t>단일 방법 대비 높은 정확도 · 오경보 감소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331720" y="2944368"/>
            <a:ext cx="2011680" cy="2377440"/>
          </a:xfrm>
          <a:prstGeom prst="rect">
            <a:avLst/>
          </a:prstGeom>
          <a:solidFill>
            <a:srgbClr val="251010"/>
          </a:solidFill>
          <a:ln w="12700">
            <a:solidFill>
              <a:srgbClr val="F851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423160" y="3035808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85149"/>
                </a:solidFill>
              </a:rPr>
              <a:t>⚠ 단점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423160" y="3383280"/>
            <a:ext cx="18288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9D1D9"/>
                </a:solidFill>
              </a:rPr>
              <a:t>계산 비용 높음 · 해석 복잡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434840" y="2944368"/>
            <a:ext cx="2011680" cy="2377440"/>
          </a:xfrm>
          <a:prstGeom prst="rect">
            <a:avLst/>
          </a:prstGeom>
          <a:solidFill>
            <a:srgbClr val="0D1428"/>
          </a:solidFill>
          <a:ln w="12700">
            <a:solidFill>
              <a:srgbClr val="58A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26280" y="3035808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58A6FF"/>
                </a:solidFill>
              </a:rPr>
              <a:t>🏭 활용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26280" y="3383280"/>
            <a:ext cx="18288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9D1D9"/>
                </a:solidFill>
              </a:rPr>
              <a:t>중요 공정 최종 판정 · 리스크 최소화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812280" y="1161288"/>
            <a:ext cx="5166360" cy="5623560"/>
          </a:xfrm>
          <a:prstGeom prst="rect">
            <a:avLst/>
          </a:prstGeom>
          <a:solidFill>
            <a:srgbClr val="161B22"/>
          </a:solidFill>
          <a:ln w="12700">
            <a:solidFill>
              <a:srgbClr val="E3B34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858000" y="1197864"/>
            <a:ext cx="50749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E3B341"/>
                </a:solidFill>
              </a:rPr>
              <a:t>📈 예시 그래프</a:t>
            </a:r>
          </a:p>
        </p:txBody>
      </p:sp>
      <p:pic>
        <p:nvPicPr>
          <p:cNvPr id="27" name="Picture 2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0" y="1435608"/>
            <a:ext cx="5074920" cy="5047488"/>
          </a:xfrm>
          <a:prstGeom prst="rect">
            <a:avLst/>
          </a:prstGeom>
        </p:spPr>
      </p:pic>
      <p:sp>
        <p:nvSpPr>
          <p:cNvPr id="28" name="Rectangle 27"/>
          <p:cNvSpPr/>
          <p:nvPr/>
        </p:nvSpPr>
        <p:spPr>
          <a:xfrm>
            <a:off x="0" y="6803136"/>
            <a:ext cx="12188952" cy="54864"/>
          </a:xfrm>
          <a:prstGeom prst="rect">
            <a:avLst/>
          </a:prstGeom>
          <a:solidFill>
            <a:srgbClr val="E3B3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817352" y="6492240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8B949E"/>
                </a:solidFill>
              </a:rPr>
              <a:t>21 / 23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188720"/>
          </a:xfrm>
          <a:prstGeom prst="rect">
            <a:avLst/>
          </a:prstGeom>
          <a:solidFill>
            <a:srgbClr val="212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88952" cy="45720"/>
          </a:xfrm>
          <a:prstGeom prst="rect">
            <a:avLst/>
          </a:prstGeom>
          <a:solidFill>
            <a:srgbClr val="BC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28600" y="246888"/>
            <a:ext cx="658368" cy="658368"/>
          </a:xfrm>
          <a:prstGeom prst="rect">
            <a:avLst/>
          </a:prstGeom>
          <a:solidFill>
            <a:srgbClr val="6639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28600" y="246888"/>
            <a:ext cx="658368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</a:rPr>
              <a:t>22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164592"/>
            <a:ext cx="7315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Hotelling T²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658368"/>
            <a:ext cx="7315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8B949E"/>
                </a:solidFill>
              </a:rPr>
              <a:t>T² 관리도   |   ML 기반</a:t>
            </a:r>
          </a:p>
        </p:txBody>
      </p:sp>
      <p:sp>
        <p:nvSpPr>
          <p:cNvPr id="9" name="Rectangle 8"/>
          <p:cNvSpPr/>
          <p:nvPr/>
        </p:nvSpPr>
        <p:spPr>
          <a:xfrm>
            <a:off x="9692640" y="320040"/>
            <a:ext cx="2240280" cy="347472"/>
          </a:xfrm>
          <a:prstGeom prst="rect">
            <a:avLst/>
          </a:prstGeom>
          <a:solidFill>
            <a:srgbClr val="1F172A"/>
          </a:solidFill>
          <a:ln w="19050">
            <a:solidFill>
              <a:srgbClr val="BC8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92640" y="320040"/>
            <a:ext cx="2240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BC8CFF"/>
                </a:solidFill>
              </a:rPr>
              <a:t>ML 기반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28600" y="1298448"/>
            <a:ext cx="658368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C9D1D9"/>
                </a:solidFill>
              </a:rPr>
              <a:t>다변량 데이터의 통계적 공정관리를 위한 다변량 SPC 관리도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28600" y="1892808"/>
            <a:ext cx="6583680" cy="502920"/>
          </a:xfrm>
          <a:prstGeom prst="rect">
            <a:avLst/>
          </a:prstGeom>
          <a:solidFill>
            <a:srgbClr val="0D1933"/>
          </a:solidFill>
          <a:ln w="12700">
            <a:solidFill>
              <a:srgbClr val="58A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4048" y="1938528"/>
            <a:ext cx="630936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58A6FF"/>
                </a:solidFill>
              </a:rPr>
              <a:t>수식:  T² = n(x̄−μ₀)ᵀ S⁻¹ (x̄−μ₀)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28600" y="2468880"/>
            <a:ext cx="6583680" cy="402336"/>
          </a:xfrm>
          <a:prstGeom prst="rect">
            <a:avLst/>
          </a:prstGeom>
          <a:solidFill>
            <a:srgbClr val="1A1200"/>
          </a:solidFill>
          <a:ln w="12700">
            <a:solidFill>
              <a:srgbClr val="E3B34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84048" y="2514600"/>
            <a:ext cx="6309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E3B341"/>
                </a:solidFill>
              </a:rPr>
              <a:t>⚙  임계값:  F분포 기반 UCL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28600" y="2944368"/>
            <a:ext cx="2011680" cy="2377440"/>
          </a:xfrm>
          <a:prstGeom prst="rect">
            <a:avLst/>
          </a:prstGeom>
          <a:solidFill>
            <a:srgbClr val="0A2010"/>
          </a:solidFill>
          <a:ln w="12700">
            <a:solidFill>
              <a:srgbClr val="3FB9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20040" y="3035808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3FB950"/>
                </a:solidFill>
              </a:rPr>
              <a:t>✅ 장점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20040" y="3383280"/>
            <a:ext cx="18288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9D1D9"/>
                </a:solidFill>
              </a:rPr>
              <a:t>다변량 SPC 표준 · 이론적 근거 확실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331720" y="2944368"/>
            <a:ext cx="2011680" cy="2377440"/>
          </a:xfrm>
          <a:prstGeom prst="rect">
            <a:avLst/>
          </a:prstGeom>
          <a:solidFill>
            <a:srgbClr val="251010"/>
          </a:solidFill>
          <a:ln w="12700">
            <a:solidFill>
              <a:srgbClr val="F851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423160" y="3035808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85149"/>
                </a:solidFill>
              </a:rPr>
              <a:t>⚠ 단점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423160" y="3383280"/>
            <a:ext cx="18288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9D1D9"/>
                </a:solidFill>
              </a:rPr>
              <a:t>정규분포 가정 · 공분산 추정 필요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434840" y="2944368"/>
            <a:ext cx="2011680" cy="2377440"/>
          </a:xfrm>
          <a:prstGeom prst="rect">
            <a:avLst/>
          </a:prstGeom>
          <a:solidFill>
            <a:srgbClr val="0D1428"/>
          </a:solidFill>
          <a:ln w="12700">
            <a:solidFill>
              <a:srgbClr val="58A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26280" y="3035808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58A6FF"/>
                </a:solidFill>
              </a:rPr>
              <a:t>🏭 활용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26280" y="3383280"/>
            <a:ext cx="18288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9D1D9"/>
                </a:solidFill>
              </a:rPr>
              <a:t>반도체 공정 다변량 SPC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812280" y="1161288"/>
            <a:ext cx="5166360" cy="5623560"/>
          </a:xfrm>
          <a:prstGeom prst="rect">
            <a:avLst/>
          </a:prstGeom>
          <a:solidFill>
            <a:srgbClr val="161B22"/>
          </a:solidFill>
          <a:ln w="12700">
            <a:solidFill>
              <a:srgbClr val="BC8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858000" y="1197864"/>
            <a:ext cx="50749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BC8CFF"/>
                </a:solidFill>
              </a:rPr>
              <a:t>📈 예시 그래프</a:t>
            </a:r>
          </a:p>
        </p:txBody>
      </p:sp>
      <p:pic>
        <p:nvPicPr>
          <p:cNvPr id="27" name="Picture 2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0" y="1435608"/>
            <a:ext cx="5074920" cy="5047488"/>
          </a:xfrm>
          <a:prstGeom prst="rect">
            <a:avLst/>
          </a:prstGeom>
        </p:spPr>
      </p:pic>
      <p:sp>
        <p:nvSpPr>
          <p:cNvPr id="28" name="Rectangle 27"/>
          <p:cNvSpPr/>
          <p:nvPr/>
        </p:nvSpPr>
        <p:spPr>
          <a:xfrm>
            <a:off x="0" y="6803136"/>
            <a:ext cx="12188952" cy="54864"/>
          </a:xfrm>
          <a:prstGeom prst="rect">
            <a:avLst/>
          </a:prstGeom>
          <a:solidFill>
            <a:srgbClr val="BC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817352" y="6492240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8B949E"/>
                </a:solidFill>
              </a:rPr>
              <a:t>22 / 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188720"/>
          </a:xfrm>
          <a:prstGeom prst="rect">
            <a:avLst/>
          </a:prstGeom>
          <a:solidFill>
            <a:srgbClr val="212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88952" cy="45720"/>
          </a:xfrm>
          <a:prstGeom prst="rect">
            <a:avLst/>
          </a:prstGeom>
          <a:solidFill>
            <a:srgbClr val="3FB9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28600" y="246888"/>
            <a:ext cx="658368" cy="658368"/>
          </a:xfrm>
          <a:prstGeom prst="rect">
            <a:avLst/>
          </a:prstGeom>
          <a:solidFill>
            <a:srgbClr val="1A7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28600" y="246888"/>
            <a:ext cx="658368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</a:rPr>
              <a:t>23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164592"/>
            <a:ext cx="7315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Rule-Based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658368"/>
            <a:ext cx="7315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8B949E"/>
                </a:solidFill>
              </a:rPr>
              <a:t>규칙 기반   |   규칙 기반</a:t>
            </a:r>
          </a:p>
        </p:txBody>
      </p:sp>
      <p:sp>
        <p:nvSpPr>
          <p:cNvPr id="9" name="Rectangle 8"/>
          <p:cNvSpPr/>
          <p:nvPr/>
        </p:nvSpPr>
        <p:spPr>
          <a:xfrm>
            <a:off x="9692640" y="320040"/>
            <a:ext cx="2240280" cy="347472"/>
          </a:xfrm>
          <a:prstGeom prst="rect">
            <a:avLst/>
          </a:prstGeom>
          <a:solidFill>
            <a:srgbClr val="0A1E0D"/>
          </a:solidFill>
          <a:ln w="19050">
            <a:solidFill>
              <a:srgbClr val="3FB9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92640" y="320040"/>
            <a:ext cx="2240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3FB950"/>
                </a:solidFill>
              </a:rPr>
              <a:t>규칙 기반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28600" y="1298448"/>
            <a:ext cx="658368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C9D1D9"/>
                </a:solidFill>
              </a:rPr>
              <a:t>도메인 전문가 지식을 명시적 IF-THEN 규칙으로 표현하여 이상 탐지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28600" y="1892808"/>
            <a:ext cx="6583680" cy="502920"/>
          </a:xfrm>
          <a:prstGeom prst="rect">
            <a:avLst/>
          </a:prstGeom>
          <a:solidFill>
            <a:srgbClr val="0D1933"/>
          </a:solidFill>
          <a:ln w="12700">
            <a:solidFill>
              <a:srgbClr val="58A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4048" y="1938528"/>
            <a:ext cx="630936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58A6FF"/>
                </a:solidFill>
              </a:rPr>
              <a:t>수식:  IF 조건1 AND 조건2 … THEN 이상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28600" y="2468880"/>
            <a:ext cx="6583680" cy="402336"/>
          </a:xfrm>
          <a:prstGeom prst="rect">
            <a:avLst/>
          </a:prstGeom>
          <a:solidFill>
            <a:srgbClr val="1A1200"/>
          </a:solidFill>
          <a:ln w="12700">
            <a:solidFill>
              <a:srgbClr val="E3B34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84048" y="2514600"/>
            <a:ext cx="6309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E3B341"/>
                </a:solidFill>
              </a:rPr>
              <a:t>⚙  임계값:  도메인 전문가 정의 값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28600" y="2944368"/>
            <a:ext cx="2011680" cy="2377440"/>
          </a:xfrm>
          <a:prstGeom prst="rect">
            <a:avLst/>
          </a:prstGeom>
          <a:solidFill>
            <a:srgbClr val="0A2010"/>
          </a:solidFill>
          <a:ln w="12700">
            <a:solidFill>
              <a:srgbClr val="3FB9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20040" y="3035808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3FB950"/>
                </a:solidFill>
              </a:rPr>
              <a:t>✅ 장점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20040" y="3383280"/>
            <a:ext cx="18288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9D1D9"/>
                </a:solidFill>
              </a:rPr>
              <a:t>설명 가능 · 도메인 지식 직접 반영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331720" y="2944368"/>
            <a:ext cx="2011680" cy="2377440"/>
          </a:xfrm>
          <a:prstGeom prst="rect">
            <a:avLst/>
          </a:prstGeom>
          <a:solidFill>
            <a:srgbClr val="251010"/>
          </a:solidFill>
          <a:ln w="12700">
            <a:solidFill>
              <a:srgbClr val="F851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423160" y="3035808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85149"/>
                </a:solidFill>
              </a:rPr>
              <a:t>⚠ 단점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423160" y="3383280"/>
            <a:ext cx="18288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9D1D9"/>
                </a:solidFill>
              </a:rPr>
              <a:t>규칙 정의 공수 높음 · 유연성 부족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434840" y="2944368"/>
            <a:ext cx="2011680" cy="2377440"/>
          </a:xfrm>
          <a:prstGeom prst="rect">
            <a:avLst/>
          </a:prstGeom>
          <a:solidFill>
            <a:srgbClr val="0D1428"/>
          </a:solidFill>
          <a:ln w="12700">
            <a:solidFill>
              <a:srgbClr val="58A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26280" y="3035808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58A6FF"/>
                </a:solidFill>
              </a:rPr>
              <a:t>🏭 활용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26280" y="3383280"/>
            <a:ext cx="18288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9D1D9"/>
                </a:solidFill>
              </a:rPr>
              <a:t>안전 한계 감시 · 공정 스펙 기반 감시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812280" y="1161288"/>
            <a:ext cx="5166360" cy="5623560"/>
          </a:xfrm>
          <a:prstGeom prst="rect">
            <a:avLst/>
          </a:prstGeom>
          <a:solidFill>
            <a:srgbClr val="161B22"/>
          </a:solidFill>
          <a:ln w="12700">
            <a:solidFill>
              <a:srgbClr val="3FB9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858000" y="1197864"/>
            <a:ext cx="50749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3FB950"/>
                </a:solidFill>
              </a:rPr>
              <a:t>📈 예시 그래프</a:t>
            </a:r>
          </a:p>
        </p:txBody>
      </p:sp>
      <p:pic>
        <p:nvPicPr>
          <p:cNvPr id="27" name="Picture 2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0" y="1435608"/>
            <a:ext cx="5074920" cy="5047488"/>
          </a:xfrm>
          <a:prstGeom prst="rect">
            <a:avLst/>
          </a:prstGeom>
        </p:spPr>
      </p:pic>
      <p:sp>
        <p:nvSpPr>
          <p:cNvPr id="28" name="Rectangle 27"/>
          <p:cNvSpPr/>
          <p:nvPr/>
        </p:nvSpPr>
        <p:spPr>
          <a:xfrm>
            <a:off x="0" y="6803136"/>
            <a:ext cx="12188952" cy="54864"/>
          </a:xfrm>
          <a:prstGeom prst="rect">
            <a:avLst/>
          </a:prstGeom>
          <a:solidFill>
            <a:srgbClr val="3FB9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817352" y="6492240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8B949E"/>
                </a:solidFill>
              </a:rPr>
              <a:t>23 / 23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3FB9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10972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</a:rPr>
              <a:t>23가지 방식 요약 비교</a:t>
            </a:r>
          </a:p>
        </p:txBody>
      </p:sp>
      <p:sp>
        <p:nvSpPr>
          <p:cNvPr id="5" name="Rectangle 4"/>
          <p:cNvSpPr/>
          <p:nvPr/>
        </p:nvSpPr>
        <p:spPr>
          <a:xfrm>
            <a:off x="228600" y="960120"/>
            <a:ext cx="11731752" cy="658368"/>
          </a:xfrm>
          <a:prstGeom prst="rect">
            <a:avLst/>
          </a:prstGeom>
          <a:solidFill>
            <a:srgbClr val="0B141F"/>
          </a:solidFill>
          <a:ln w="12700">
            <a:solidFill>
              <a:srgbClr val="58A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84048" y="1014984"/>
            <a:ext cx="2560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58A6FF"/>
                </a:solidFill>
              </a:rPr>
              <a:t>📊 통계 기반  (6가지)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063240" y="1014984"/>
            <a:ext cx="8961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C9D1D9"/>
                </a:solidFill>
              </a:rPr>
              <a:t>Z-Score · Modified Z-Score · IQR · Percentile · 3-Sigma Rule · Grubbs Test</a:t>
            </a:r>
          </a:p>
        </p:txBody>
      </p:sp>
      <p:sp>
        <p:nvSpPr>
          <p:cNvPr id="8" name="Rectangle 7"/>
          <p:cNvSpPr/>
          <p:nvPr/>
        </p:nvSpPr>
        <p:spPr>
          <a:xfrm>
            <a:off x="228600" y="1691640"/>
            <a:ext cx="11731752" cy="658368"/>
          </a:xfrm>
          <a:prstGeom prst="rect">
            <a:avLst/>
          </a:prstGeom>
          <a:solidFill>
            <a:srgbClr val="17111F"/>
          </a:solidFill>
          <a:ln w="12700">
            <a:solidFill>
              <a:srgbClr val="BC8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84048" y="1746504"/>
            <a:ext cx="2560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BC8CFF"/>
                </a:solidFill>
              </a:rPr>
              <a:t>⏱ 시계열 기반  (7가지)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063240" y="1746504"/>
            <a:ext cx="8961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C9D1D9"/>
                </a:solidFill>
              </a:rPr>
              <a:t>Rolling Mean · Rolling STD · EWMA · CUSUM · Seasonal Decomp. · Hampel · Change Point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28600" y="2423160"/>
            <a:ext cx="11731752" cy="658368"/>
          </a:xfrm>
          <a:prstGeom prst="rect">
            <a:avLst/>
          </a:prstGeom>
          <a:solidFill>
            <a:srgbClr val="07170A"/>
          </a:solidFill>
          <a:ln w="12700">
            <a:solidFill>
              <a:srgbClr val="3FB9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84048" y="2478024"/>
            <a:ext cx="2560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3FB950"/>
                </a:solidFill>
              </a:rPr>
              <a:t>🤖 ML 기반  (6가지)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063240" y="2478024"/>
            <a:ext cx="8961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C9D1D9"/>
                </a:solidFill>
              </a:rPr>
              <a:t>LOF · Isolation Forest · One-Class SVM · DBSCAN · Mahalanobis · Hotelling T²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28600" y="3154680"/>
            <a:ext cx="11731752" cy="658368"/>
          </a:xfrm>
          <a:prstGeom prst="rect">
            <a:avLst/>
          </a:prstGeom>
          <a:solidFill>
            <a:srgbClr val="1C1608"/>
          </a:solidFill>
          <a:ln w="12700">
            <a:solidFill>
              <a:srgbClr val="E3B34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84048" y="3209544"/>
            <a:ext cx="2560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E3B341"/>
                </a:solidFill>
              </a:rPr>
              <a:t>🧠 딥러닝  (1가지)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063240" y="3209544"/>
            <a:ext cx="8961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C9D1D9"/>
                </a:solidFill>
              </a:rPr>
              <a:t>Autoencoder — 비선형 패턴 학습, 재구성 오류 기반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28600" y="3886200"/>
            <a:ext cx="11731752" cy="658368"/>
          </a:xfrm>
          <a:prstGeom prst="rect">
            <a:avLst/>
          </a:prstGeom>
          <a:solidFill>
            <a:srgbClr val="1F0A09"/>
          </a:solidFill>
          <a:ln w="12700">
            <a:solidFill>
              <a:srgbClr val="F851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84048" y="3941064"/>
            <a:ext cx="2560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85149"/>
                </a:solidFill>
              </a:rPr>
              <a:t>🔊 신호 처리  (1가지)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063240" y="3941064"/>
            <a:ext cx="8961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C9D1D9"/>
                </a:solidFill>
              </a:rPr>
              <a:t>Wavelet Transform — 시간-주파수 동시 분석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28600" y="4617720"/>
            <a:ext cx="11731752" cy="658368"/>
          </a:xfrm>
          <a:prstGeom prst="rect">
            <a:avLst/>
          </a:prstGeom>
          <a:solidFill>
            <a:srgbClr val="111213"/>
          </a:solidFill>
          <a:ln w="12700">
            <a:solidFill>
              <a:srgbClr val="8B94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84048" y="4672584"/>
            <a:ext cx="2560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8B949E"/>
                </a:solidFill>
              </a:rPr>
              <a:t>🔀 메타·규칙  (2가지)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063240" y="4672584"/>
            <a:ext cx="8961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C9D1D9"/>
                </a:solidFill>
              </a:rPr>
              <a:t>Ensemble (여러 방법 통합) · Rule-Based (도메인 규칙)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28600" y="5394960"/>
            <a:ext cx="11731752" cy="621792"/>
          </a:xfrm>
          <a:prstGeom prst="rect">
            <a:avLst/>
          </a:prstGeom>
          <a:solidFill>
            <a:srgbClr val="0D1933"/>
          </a:solidFill>
          <a:ln w="12700">
            <a:solidFill>
              <a:srgbClr val="58A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84048" y="5440680"/>
            <a:ext cx="1136599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58A6FF"/>
                </a:solidFill>
              </a:rPr>
              <a:t>💡 선택 팁:  분포 미지 → IQR / Modified Z  |  시계열 트렌드 → EWMA · CUSUM  |  다변량 → Mahalanobis · T²  |  최고 정확도 → Ensemble</a:t>
            </a:r>
          </a:p>
        </p:txBody>
      </p:sp>
      <p:sp>
        <p:nvSpPr>
          <p:cNvPr id="25" name="Rectangle 24"/>
          <p:cNvSpPr/>
          <p:nvPr/>
        </p:nvSpPr>
        <p:spPr>
          <a:xfrm>
            <a:off x="0" y="6803136"/>
            <a:ext cx="12188952" cy="54864"/>
          </a:xfrm>
          <a:prstGeom prst="rect">
            <a:avLst/>
          </a:prstGeom>
          <a:solidFill>
            <a:srgbClr val="3FB9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