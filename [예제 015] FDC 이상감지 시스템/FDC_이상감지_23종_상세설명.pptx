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FDC RAW DATA 이상감지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58A6FF"/>
                </a:solidFill>
              </a:rPr>
              <a:t>23가지 이상감지 방식 상세 설명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3840480"/>
            <a:ext cx="1371600" cy="320040"/>
          </a:xfrm>
          <a:prstGeom prst="rect">
            <a:avLst/>
          </a:prstGeom>
          <a:solidFill>
            <a:srgbClr val="1121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8A6FF"/>
                </a:solidFill>
              </a:rPr>
              <a:t>통계 기반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3840480"/>
            <a:ext cx="1371600" cy="320040"/>
          </a:xfrm>
          <a:prstGeom prst="rect">
            <a:avLst/>
          </a:prstGeom>
          <a:solidFill>
            <a:srgbClr val="251C33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3840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C8CFF"/>
                </a:solidFill>
              </a:rPr>
              <a:t>시계열 기반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840480"/>
            <a:ext cx="1371600" cy="320040"/>
          </a:xfrm>
          <a:prstGeom prst="rect">
            <a:avLst/>
          </a:prstGeom>
          <a:solidFill>
            <a:srgbClr val="0C25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3840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B950"/>
                </a:solidFill>
              </a:rPr>
              <a:t>ML 기반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3840480"/>
            <a:ext cx="1371600" cy="320040"/>
          </a:xfrm>
          <a:prstGeom prst="rect">
            <a:avLst/>
          </a:prstGeom>
          <a:solidFill>
            <a:srgbClr val="2D230D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840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3B341"/>
                </a:solidFill>
              </a:rPr>
              <a:t>딥러닝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3840480"/>
            <a:ext cx="1371600" cy="320040"/>
          </a:xfrm>
          <a:prstGeom prst="rect">
            <a:avLst/>
          </a:prstGeom>
          <a:solidFill>
            <a:srgbClr val="31100E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3840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85149"/>
                </a:solidFill>
              </a:rPr>
              <a:t>신호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95360" y="3840480"/>
            <a:ext cx="1371600" cy="320040"/>
          </a:xfrm>
          <a:prstGeom prst="rect">
            <a:avLst/>
          </a:prstGeom>
          <a:solidFill>
            <a:srgbClr val="2D230D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3840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3B341"/>
                </a:solidFill>
              </a:rPr>
              <a:t>메타 방법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0" y="3840480"/>
            <a:ext cx="1371600" cy="320040"/>
          </a:xfrm>
          <a:prstGeom prst="rect">
            <a:avLst/>
          </a:prstGeom>
          <a:solidFill>
            <a:srgbClr val="0C25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0" y="3840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B950"/>
                </a:solidFill>
              </a:rPr>
              <a:t>규칙 기반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21792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</a:rPr>
              <a:t>v2.0   |  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00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Z-Score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표준점수   |   통계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통계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데이터 포인트가 평균으로부터 표준편차 몇 배 떨어졌는지 측정하는 고전적 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Z = (x - μ) / 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|Z| &gt; 3  (기본값)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구현 간단 · 정규분포 데이터에 최적 · 해석 직관적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정규분포 가정 필요 · 이상값 자체에 민감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온도·압력·유량 등 정규분포 공정 파라미터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1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Modified Z-Score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수정 Z-점수   |   통계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통계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중위수와 MAD(중위절대편차)를 사용, 이상값에 더 강건한 Z-점수 변형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M = 0.6745 × (x − median) / MAD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|M| &gt; 3.5  (기본값)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이상값에 강건 · 비대칭 분포 적합 · 중위수 기반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MAD = 0 일 때 계산 불가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센서 드리프트 · 돌발 스파이크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2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사분위수 범위   |   통계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통계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Q1~Q3 사이 범위(IQR)를 기반으로 상·하한 울타리를 설정하여 이상값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IQR = Q3 − Q1   상한: Q3 + 1.5×IQR   하한: Q1 − 1.5×IQR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배수 1.5(온화) / 3.0(극단)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비모수적 · 분포 가정 불필요 · 박스플롯과 연계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정상 분포에서 과탐지 가능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분포 형태 미지 데이터 · 탐색적 분석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3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Percentile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백분위수   |   통계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3B341"/>
                </a:solidFill>
              </a:rPr>
              <a:t>통계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상위/하위 N% 기준으로 이상값 탐지 — 도메인 지식을 직접 임계값으로 표현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x &lt; P(low)  또는  x &gt; P(high)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하위 1% / 상위 99%  (기본값)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직관적 · 도메인 지식 반영 용이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정상 데이터도 극단값은 항상 탐지됨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비즈니스 룰 기반 탐지 · 리포팅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4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663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Rolling Mean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이동평균 이탈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C8CFF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슬라이딩 윈도우의 이동평균·표준편차와의 차이가 기준을 초과하면 이상으로 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|x − rolling_mean| &gt; k × rolling_std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배수 k = 2~3 · 윈도우 10~50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트렌드 반영 · 시계열 데이터에 적합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윈도우 크기 선택이 성능에 큰 영향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시계열 공정 데이터 · 트렌드 모니터링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5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825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Rolling STD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이동표준편차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C8CFF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이동 윈도우 내 표준편차가 임계값을 초과하면 변동성 급증으로 이상 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rolling_std(window)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기본 2.0 (스케일 의존)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변동성 급증 감지에 탁월 · 구현 간단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절대값 기준이라 스케일 주의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공정 안정성 감시 · 진동 모니터링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6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EWMA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지수가중이동평균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최근 데이터에 더 높은 가중치를 부여하는 이동평균 제어도 — 소폭 변화 조기 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EWMA_t = α×x_t + (1−α)×EWMA_{t−1}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±3σ  (UCL / LCL)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소폭 트렌드 변화 조기 감지 · 반도체 표준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α값 선택이 성능에 큰 영향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반도체 공정 제어 · 미세 드리프트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7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CF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CUSUM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누적합 관리도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290D0C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85149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목표값으로부터 편차의 누적합으로 지속적 공정 변화를 조기에 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C⁺ = max(0, C⁺_{t−1} + x_t − μ − K)   C⁻ = min(0, …)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H = 5σ  (결정 임계값) · K = 0.5σ  (기준값)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작은 지속적 변화 감지에 탁월 · SPC 표준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파라미터 설정이 복잡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공정 평균 이동 감지 · 장기 드리프트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8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3-Sigma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3시그마 규칙   |   통계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통계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±3 표준편차 범위를 벗어나는 데이터 포인트를 이상으로 판단 — SPC의 기본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x &lt; μ − 3σ  또는  x &gt; μ + 3σ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3σ = 99.73% 신뢰구간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통계적으로 직관적 · 설명 용이 · SPC 표준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정규분포 가정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SPC(통계적 공정관리) · 품질 관리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9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Grubbs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그럽스 검정   |   통계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통계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단일 이상값의 통계적 유의성을 검정 — 극단값이 진짜 이상인지 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G = max|x − x̄| / 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자유도 기반 t-분포 임계값  (α=0.05)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통계적 유의성 보장 · 소규모 데이터 적합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한 번에 하나씩 검정 · 정규분포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실험 데이터 이상값 검정 · 소규모 데이터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10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지역 이상값 인수   |   ML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3B341"/>
                </a:solidFill>
              </a:rPr>
              <a:t>ML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주변 이웃 데이터의 밀도와 비교하여 이상 정도를 점수화하는 밀도 기반 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LOF_k(p) = mean(lrd_k(o)) / lrd_k(p)  for o ∈ N_k(p)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LOF &gt; 1.5  (기본값)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밀도 기반 · 클러스터 형태에 강건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계산 비용 높음 · k값 선택 중요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다변량 공정 이상 감지 · 고차원 데이터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11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663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Isolation Forest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아이솔레이션 포레스트   |   ML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C8CFF"/>
                </a:solidFill>
              </a:rPr>
              <a:t>ML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이상값이 정상값보다 더 적은 분할로 고립된다는 원리로 이상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이상 점수 = 2^(−평균 경로 길이 / c(n))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contamination = 0.1  (기본값)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고차원 데이터에 효율적 · 속도 빠름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결과 해석 어려움 · 밀집 이상군 취약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대용량 다변량 센서 데이터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12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CF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One-Class SVM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단일 클래스 SVM   |   ML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290D0C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85149"/>
                </a:solidFill>
              </a:rPr>
              <a:t>ML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정상 데이터만으로 초평면 경계를 학습하여 이탈 데이터를 이상으로 분류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max{ρ − (1/νn)Σξᵢ}  s.t. ‖Φ(xᵢ)‖ ≥ ρ − ξᵢ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nu = 0.05~0.1  (이상 비율 추정)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이상 샘플 불필요 · 비선형 경계 학습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파라미터 민감 · 대규모 데이터에 느림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신규 공정 조기 적용 · 레이블 없는 데이터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13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DBSCAN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밀도 기반 클러스터링   |   ML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ML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밀도가 낮은 영역에 속하는 포인트를 노이즈(Noise)로 분류하여 이상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eps 반경 내 minPts 미만 이웃 → Noise (이상)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eps = 0.5 · minPts =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임의 형태 클러스터 · 이상 자동 분리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eps/minPts 선택 어려움 · 고차원 취약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공간적 이상 · 다변량 센서 군집 분석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14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Mahalanobis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마할라노비스 거리   |   ML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ML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공분산 행렬을 고려한 다변량 거리 척도로 다차원 이상 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D² = (x−μ)ᵀ Σ⁻¹ (x−μ)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χ² 분포 기반  (자유도 = 변수 수)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변수 간 상관관계 반영 · 다변량 최적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역행렬 계산 필요 · 특이 공분산 불가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다변량 공정 파라미터 종합 감시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15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Seasonal Decomp.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계절성 분해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3B341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시계열을 트렌드·계절성·잔차로 분해하여 잔차의 이상을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x_t = Trend_t + Seasonal_t + Residual_t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잔차 기준 |Z| &gt;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주기성 패턴 자동 제거 · 복합 신호 처리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최소 2주기 이상 데이터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일간/주간 패턴이 있는 공정 데이터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16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663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Wavelet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웨이블릿 변환   |   신호 처리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C8CFF"/>
                </a:solidFill>
              </a:rPr>
              <a:t>신호 처리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신호를 다해상도로 분해하여 특정 주파수 대역의 이상을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W(a,b) = ∫ x(t)·ψ((t−b)/a) dt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임계 수준 k = 1~5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시간-주파수 동시 분석 · 비정상 신호에 강함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파라미터 선택에 전문지식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진동 신호 · 전력 품질 이상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17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Hampel Identifier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햄펠 식별자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이동 윈도우의 중위수와 MAD를 이용한 강건한 시계열 이상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|x − median| &gt; k × MAD × 1.4826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k = 3  (기본값)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이상값에 강건 · 시계열 적합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윈도우 크기 선택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센서 스파이크 · 측정 오류 필터링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18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CF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Change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변화점 탐지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290D0C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85149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시계열에서 통계적 특성(평균·분산)이 급변하는 지점을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PELT / Binary Segmentation 알고리즘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penalty = 5~50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공정 단계 전환 자동 감지 · 다양한 알고리즘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계산 비용 높음 · 민감도 조정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공정 레시피 변경 · 장비 상태 전환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19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Autoencoder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오토인코더   |   딥러닝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딥러닝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정상 데이터 패턴을 신경망으로 학습 후 재구성 오류로 이상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이상 점수 = ‖x − decoder(encoder(x))‖²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재구성 오류 95 / 99 백분위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비선형 패턴 학습 · 다변량 지원 · 강력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학습 데이터 필요 · 설명력 부족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복잡한 다변량 공정 이상 학습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20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앙상블 방법   |   메타 방법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3B341"/>
                </a:solidFill>
              </a:rPr>
              <a:t>메타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여러 이상 탐지 방법의 결과를 통합하여 신뢰도를 높이는 메타 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최종 점수 = Σ(wᵢ × scoreᵢ) / Σwᵢ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투표 방식 또는 가중 평균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단일 방법 대비 높은 정확도 · 오경보 감소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계산 비용 높음 · 해석 복잡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중요 공정 최종 판정 · 리스크 최소화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21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663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Hotelling T²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T² 관리도   |   ML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C8CFF"/>
                </a:solidFill>
              </a:rPr>
              <a:t>ML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다변량 데이터의 통계적 공정관리를 위한 다변량 SPC 관리도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T² = n(x̄−μ₀)ᵀ S⁻¹ (x̄−μ₀)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F분포 기반 UCL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다변량 SPC 표준 · 이론적 근거 확실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정규분포 가정 · 공분산 추정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반도체 공정 다변량 SPC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22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7432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Rule-Based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85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규칙 기반   |   규칙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규칙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630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9D1D9"/>
                </a:solidFill>
              </a:rPr>
              <a:t>도메인 전문가 지식을 명시적 IF-THEN 규칙으로 표현하여 이상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11612880" cy="64008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수식:  IF 조건1 AND 조건2 … THEN 이상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26080"/>
            <a:ext cx="11612880" cy="457200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5351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3B341"/>
                </a:solidFill>
              </a:rPr>
              <a:t>⚙  임계값:  도메인 전문가 정의 값 (하드코딩)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40"/>
            <a:ext cx="3657600" cy="219456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✅ 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설명 가능 · 도메인 지식 직접 반영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3520440"/>
            <a:ext cx="3657600" cy="219456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⚠ 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규칙 정의 공수 높음 · 유연성 부족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20440"/>
            <a:ext cx="3657600" cy="2194560"/>
          </a:xfrm>
          <a:prstGeom prst="rect">
            <a:avLst/>
          </a:prstGeom>
          <a:solidFill>
            <a:srgbClr val="101425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🏭  활용 분야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995928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안전 한계 감시 · 공정 스펙 기반 감시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17352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</a:rPr>
              <a:t>23 /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23가지 방식 요약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11640312" cy="713232"/>
          </a:xfrm>
          <a:prstGeom prst="rect">
            <a:avLst/>
          </a:prstGeom>
          <a:solidFill>
            <a:srgbClr val="0B141F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064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📊 통계 기반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10642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Z-Score · Modified Z · IQR · Percentile · 3-Sigma · Grubbs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56232"/>
            <a:ext cx="11640312" cy="713232"/>
          </a:xfrm>
          <a:prstGeom prst="rect">
            <a:avLst/>
          </a:prstGeom>
          <a:solidFill>
            <a:srgbClr val="17111F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1109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C8CFF"/>
                </a:solidFill>
              </a:rPr>
              <a:t>⏱ 시계열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91109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Rolling Mean · Rolling STD · EWMA · CUSUM · Seasonal · Hampel · Change Point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660904"/>
            <a:ext cx="11640312" cy="713232"/>
          </a:xfrm>
          <a:prstGeom prst="rect">
            <a:avLst/>
          </a:prstGeom>
          <a:solidFill>
            <a:srgbClr val="07170A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157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🤖 ML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7157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LOF · Isolation Forest · One-Class SVM · DBSCAN · Mahalanobis · T²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465576"/>
            <a:ext cx="11640312" cy="713232"/>
          </a:xfrm>
          <a:prstGeom prst="rect">
            <a:avLst/>
          </a:prstGeom>
          <a:solidFill>
            <a:srgbClr val="1C1608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3B341"/>
                </a:solidFill>
              </a:rPr>
              <a:t>🧠 딥러닝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3520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Autoencoder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270248"/>
            <a:ext cx="11640312" cy="713232"/>
          </a:xfrm>
          <a:prstGeom prst="rect">
            <a:avLst/>
          </a:prstGeom>
          <a:solidFill>
            <a:srgbClr val="1F0A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3251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🔊 신호 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32511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Wavelet Transform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074920"/>
            <a:ext cx="11640312" cy="713232"/>
          </a:xfrm>
          <a:prstGeom prst="rect">
            <a:avLst/>
          </a:prstGeom>
          <a:solidFill>
            <a:srgbClr val="111213"/>
          </a:solidFill>
          <a:ln w="12700">
            <a:solidFill>
              <a:srgbClr val="8B94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12978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949E"/>
                </a:solidFill>
              </a:rPr>
              <a:t>🔀 메타/규칙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512978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Ensemble · Rule-Based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971032"/>
            <a:ext cx="11640312" cy="59436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971032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8A6FF"/>
                </a:solidFill>
              </a:rPr>
              <a:t>💡 선택 팁:  데이터 분포를 모를 때 → IQR / Modified Z   |   시계열 트렌드 → EWMA · CUSUM   |   다변량 → Mahalanobis · T²   |   최고 정확도 → Ensemble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