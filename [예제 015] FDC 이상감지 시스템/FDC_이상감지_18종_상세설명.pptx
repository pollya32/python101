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FDC RAW DATA 이상감지 시스템</a:t>
            </a:r>
          </a:p>
          <a:p>
            <a:pPr algn="l"/>
            <a:r>
              <a:rPr sz="1600">
                <a:solidFill>
                  <a:srgbClr val="AED6F1"/>
                </a:solidFill>
              </a:rPr>
              <a:t>18종 이상 감지 알고리즘 — 원리 · 공식 · 감지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920240"/>
            <a:ext cx="155448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①②③④⑤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시계열 차분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1920240"/>
            <a:ext cx="155448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4248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⑦⑧⑪②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분포 기반(모수)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2736" y="1920240"/>
            <a:ext cx="155448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⑫⑬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분포 기반(비모수)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920240"/>
            <a:ext cx="155448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⑨⑩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패턴/런 규칙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1152" y="1920240"/>
            <a:ext cx="155448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⑥⑯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시간 집계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920240"/>
            <a:ext cx="155448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⑭⑮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설비 균일성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9568" y="1920240"/>
            <a:ext cx="1554480" cy="100584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05288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⑰⑱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통계 검정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각 슬라이드: 감지 원리 설명 테이블 + 예시 트렌드 그래프 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이상 감지 18종 전체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594360"/>
          <a:ext cx="11704320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05840"/>
                <a:gridCol w="1371600"/>
                <a:gridCol w="3200400"/>
                <a:gridCol w="2286000"/>
                <a:gridCol w="3383280"/>
              </a:tblGrid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23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코드명</a:t>
                      </a:r>
                    </a:p>
                  </a:txBody>
                  <a:tcPr>
                    <a:solidFill>
                      <a:srgbClr val="1A23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한국어 명칭</a:t>
                      </a:r>
                    </a:p>
                  </a:txBody>
                  <a:tcPr>
                    <a:solidFill>
                      <a:srgbClr val="1A23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감지 원리 / 공식</a:t>
                      </a:r>
                    </a:p>
                  </a:txBody>
                  <a:tcPr>
                    <a:solidFill>
                      <a:srgbClr val="1A23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이상 판정 조건</a:t>
                      </a:r>
                    </a:p>
                  </a:txBody>
                  <a:tcPr>
                    <a:solidFill>
                      <a:srgbClr val="1A23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적합 사용 상황</a:t>
                      </a:r>
                    </a:p>
                  </a:txBody>
                  <a:tcPr>
                    <a:solidFill>
                      <a:srgbClr val="1A233E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①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abs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절대 변화량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직전 포인트 대비 절대 차이
diff = |x[i] − x[i−1]|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스파이크·급격한 수직 이탈 감지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②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sigma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σ 배수 이탈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그룹 평균 기준 표준편차 단위 편차
diff = |x − μ|,  판정: diff &gt; N×σ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|x − μ| &gt; N×σ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정규분포 공정의 전통적 SPC 관리도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③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pct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변화율 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직전 대비 상대적 변화율(백분율)
diff = |x[i]−x[i−1]| / |x[i−1]| × 100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threshold (%)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절대 수치보다 상대 변화가 중요한 공정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④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slope_diff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기울기 변화량 (2차 차분)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연속 3점의 2차 차분 — 기울기 급변(굴곡점) 감지
diff = |(x[i]−x[i−1]) − (x[i−1]−x[i−2])|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급격한 꺾임·방향 전환 감지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⑤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slope_win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이동창 기울기 (회귀)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슬라이딩 윈도우 선형회귀 기울기를 이전 창과 비교
diff = |slope(W_i) − slope(W_{i−1})|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노이즈 속 점진적 트렌드 전환 감지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⑥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daily_avg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일별 평균 차이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당일 평균 vs 전일 평균 비교
diff = |avg(day_i) − avg(day_{i−1})|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일교대·레시피 변경 등 날짜 단위 drift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⑦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ewma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EWMA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지수 가중 이동 평균 추적값이 관리 한계 초과
Z_i = λ·x_i + (1−λ)·Z_{i−1},  UCL = L·σ·√(λ/(2−λ))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|Z_i − μ| &gt; L·σ·√(λ/(2−λ))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소폭 평균 이동 누적 감지 (미세 drift)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⑧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cusum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CUSUM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표준화 누적합(C⁺, C⁻)이 결정구간 h 초과
C⁺_i = max(0, C⁺_{i−1} + z_i − k)
C⁻_i = max(0, C⁻_{i−1} − z_i − k)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C⁺ &gt; h 또는 C⁻ &gt; h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지속적 평균 이탈 조기 감지, 미세 bias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⑨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run_bias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런 규칙 — 연속 편향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연속 N개 이상의 포인트가 평균의 같은 방향(위/아래)에 위치
same_side_count ≥ N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연속 편향 수 ≥ N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공정 평균 이탈 후 복귀 않는 지속 편향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⑩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run_trend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런 규칙 — 단조 트렌드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연속 N개 이상 단조 증가 또는 단조 감소
monotone_count ≥ N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트렌드 길이 ≥ N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마모·열화 등 단방향 성능 저하</a:t>
                      </a:r>
                    </a:p>
                  </a:txBody>
                  <a:tcPr>
                    <a:solidFill>
                      <a:srgbClr val="FDEDD5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⑪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spc_rules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SPC 복합 규칙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서양전기 Rule 2 (3중 2개 &gt;Nσ 동측) + Rule 4 (5중 4개 &gt;1σ 동측)
Rule2: 최근 3점 중 2점이 Nσ 초과(동측)
Rule4: 최근 5점 중 4점이 1σ 초과(동측)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Rule2 OR Rule4 충족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체계적 편향 패턴 감지 (Western Electric)</a:t>
                      </a:r>
                    </a:p>
                  </a:txBody>
                  <a:tcPr>
                    <a:solidFill>
                      <a:srgbClr val="E8DAEF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⑫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iqr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IQR 박스플롯 이상치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Q1−k·IQR 미만 또는 Q3+k·IQR 초과 극단값
Low = Q1 − k·IQR,  High = Q3 + k·IQR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x &lt; Low 또는 x &gt; High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비대칭 분포·비모수 이상치 감지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⑬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mad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Modified Z-score (MAD)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중앙값 기준 MAD로 표준화한 수정 Z-점수
MZ = 0.6745 × |x − median| / MAD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MZ &gt; 임계값 (기본 3.5)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극단 이상치에 강건, 비정규 분포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⑭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wtw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Wafer-to-Wafer 편차 (WTW)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SLOT별 평균이 전체 평균과 얼마나 차이나는지 측정
diff = |avg(SLOT_s) − avg(EQP+CH+PARAM 전체)|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웨이퍼 내 SLOT 위치별 불균일 감지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⑮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ch_match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Chamber Matching 편차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CH별 평균이 전체 CH 평균과 얼마나 다른지 비교
diff = |avg(CH_c) − avg(EQP+LOT+PARAM 전체)|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챔버 간 불균형(Chamber Matching) 감지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⑯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lot2lot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Lot-to-Lot 평균 이탈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현재 LOT 평균이 직전 LOT 평균과 얼마나 다른지 비교
diff = |avg(LOT_i) − avg(LOT_{i−1})|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배치 간 품질 변동, 원자재·레시피 변경 추적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324852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⑰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t_step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t-검정 계단 변화 감지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Welch t-검정: 윈도우 전·후반부 평균 차이 유의성
t = |μ_전 − μ_후| / √(s²_전/n + s²_후/n)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t-통계량 &gt; 임계값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공정 이동(level shift), 단계적 평균 변화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324864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222222"/>
                          </a:solidFill>
                        </a:rPr>
                        <a:t>⑱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f_var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222222"/>
                          </a:solidFill>
                        </a:rPr>
                        <a:t>F-검정 분산 급변 감지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F-검정: 윈도우 전·후반부 분산 비율의 유의성
F = max(s²_전, s²_후) / min(s²_전, s²_후)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F-비율 &gt; 임계값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222222"/>
                          </a:solidFill>
                        </a:rPr>
                        <a:t>노이즈 급증·공정 불안정, 분산 구조 변화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1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174B2"/>
                </a:solidFill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절대 변화량  </a:t>
            </a:r>
            <a:r>
              <a:rPr sz="1300">
                <a:solidFill>
                  <a:srgbClr val="AED6F1"/>
                </a:solidFill>
              </a:rPr>
              <a:t>[abs]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174B2"/>
                </a:solidFill>
              </a:rPr>
              <a:t>시계열 차분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포인트 대비 절대 차이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|x[i] − x[i−1]|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측정값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스파이크·급격한 수직 이탈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연속 측정값이 임계값 이상 수직으로 변동하는 스파이크·드롭을 즉각 감지합니다.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76448A"/>
                </a:solidFill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σ 배수 이탈  </a:t>
            </a:r>
            <a:r>
              <a:rPr sz="1300">
                <a:solidFill>
                  <a:srgbClr val="AED6F1"/>
                </a:solidFill>
              </a:rPr>
              <a:t>[sigma]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6448A"/>
                </a:solidFill>
              </a:rPr>
              <a:t>분포 기반(모수)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그룹 평균 기준 표준편차 단위 편차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|x − μ|,  판정: diff &gt; N×σ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|x − μ| &gt; N×σ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N (σ 배수, 기본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그룹 평균 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정규분포 공정의 전통적 SPC 관리도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공정 평균에서 N표준편차 이상 벗어난 극단값을 포착합니다. 정규분포 공정에 강점.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1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174B2"/>
                </a:solidFill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변화율 %  </a:t>
            </a:r>
            <a:r>
              <a:rPr sz="1300">
                <a:solidFill>
                  <a:srgbClr val="AED6F1"/>
                </a:solidFill>
              </a:rPr>
              <a:t>[pct]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174B2"/>
                </a:solidFill>
              </a:rPr>
              <a:t>시계열 차분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대비 상대적 변화율(백분율)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|x[i]−x[i−1]| / |x[i−1]| ×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threshold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측정값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절대 수치보다 상대 변화가 중요한 공정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절대 크기와 무관하게 상대적 변동이 큰 경우를 감지합니다. 스케일 독립적.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1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174B2"/>
                </a:solidFill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기울기 변화량 (2차 차분)  </a:t>
            </a:r>
            <a:r>
              <a:rPr sz="1300">
                <a:solidFill>
                  <a:srgbClr val="AED6F1"/>
                </a:solidFill>
              </a:rPr>
              <a:t>[slope_diff]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174B2"/>
                </a:solidFill>
              </a:rPr>
              <a:t>시계열 차분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연속 3점의 2차 차분 — 기울기 급변(굴곡점)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|(x[i]−x[i−1]) − (x[i−1]−x[i−2])|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기울기 Δ[i−1]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급격한 꺾임·방향 전환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데이터의 방향이 갑자기 바뀌는 굴곡점(inflection point)을 2차 차분으로 감지합니다.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1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2174B2"/>
                </a:solidFill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이동창 기울기 (회귀)  </a:t>
            </a:r>
            <a:r>
              <a:rPr sz="1300">
                <a:solidFill>
                  <a:srgbClr val="AED6F1"/>
                </a:solidFill>
              </a:rPr>
              <a:t>[slope_win]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174B2"/>
                </a:solidFill>
              </a:rPr>
              <a:t>시계열 차분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슬라이딩 윈도우 선형회귀 기울기를 이전 창과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|slope(W_i) − slope(W_{i−1})|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임계값, 창 크기 (winSize)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창 회귀 기울기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노이즈 속 점진적 트렌드 전환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회귀 기울기 비교로 노이즈 속 트렌드 전환을 안정적으로 포착합니다.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8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A8550"/>
                </a:solidFill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일별 평균 차이  </a:t>
            </a:r>
            <a:r>
              <a:rPr sz="1300">
                <a:solidFill>
                  <a:srgbClr val="AED6F1"/>
                </a:solidFill>
              </a:rPr>
              <a:t>[daily_avg]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A8550"/>
                </a:solidFill>
              </a:rPr>
              <a:t>시간 집계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당일 평균 vs 전일 평균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|avg(day_i) − avg(day_{i−1})|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전일 일 평균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일교대·레시피 변경 등 날짜 단위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일 단위 평균 이동을 비교하여 레시피·재료 변경에 의한 단계적 변화를 감지합니다.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76448A"/>
                </a:solidFill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EWMA  </a:t>
            </a:r>
            <a:r>
              <a:rPr sz="1300">
                <a:solidFill>
                  <a:srgbClr val="AED6F1"/>
                </a:solidFill>
              </a:rPr>
              <a:t>[ewma]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6448A"/>
                </a:solidFill>
              </a:rPr>
              <a:t>분포 기반(모수)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지수 가중 이동 평균 추적값이 관리 한계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Z_i = λ·x_i + (1−λ)·Z_{i−1},  UCL = L·σ·√(λ/(2−λ))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|Z_i − μ| &gt; L·σ·√(λ/(2−λ))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L (관리한계폭, 기본 2.7), λ (감쇠율)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EWMA 추적값 Z_{i−1}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소폭 평균 이동 누적 감지 (미세 drift)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지수 가중 추적으로 미세한 평균 이동을 조기에 포착합니다. 작은 drift에 탁월.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76448A"/>
                </a:solidFill>
              </a:rPr>
              <a:t>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CUSUM  </a:t>
            </a:r>
            <a:r>
              <a:rPr sz="1300">
                <a:solidFill>
                  <a:srgbClr val="AED6F1"/>
                </a:solidFill>
              </a:rPr>
              <a:t>[cusum]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6448A"/>
                </a:solidFill>
              </a:rPr>
              <a:t>분포 기반(모수)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표준화 누적합(C⁺, C⁻)이 결정구간 h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C⁺_i = max(0, C⁺_{i−1} + z_i − k)
C⁻_i = max(0, C⁻_{i−1} − z_i −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C⁺ &gt; h 또는 C⁻ &gt;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h (결정구간·σ, 기본 4.0), k (참조값 σ단위)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max(C⁺, C⁻)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지속적 평균 이탈 조기 감지, 미세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누적합이 기준 구간을 초과하는 시점을 정확히 포착. 소폭 편향의 조기 경보에 최적.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CA6F1E"/>
                </a:solidFill>
              </a:rPr>
              <a:t>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런 규칙 — 연속 편향  </a:t>
            </a:r>
            <a:r>
              <a:rPr sz="1300">
                <a:solidFill>
                  <a:srgbClr val="AED6F1"/>
                </a:solidFill>
              </a:rPr>
              <a:t>[run_bias]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A6F1E"/>
                </a:solidFill>
              </a:rPr>
              <a:t>패턴/런 규칙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연속 N개 이상의 포인트가 평균의 같은 방향(위/아래)에 위치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same_side_count ≥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연속 편향 수 ≥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N (연속 건수, 기본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그룹 평균 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공정 평균 이탈 후 복귀 않는 지속 편향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평균의 한쪽에 연속으로 데이터가 집중될 때 편향을 확인합니다.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CA6F1E"/>
                </a:solidFill>
              </a:rPr>
              <a:t>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런 규칙 — 단조 트렌드  </a:t>
            </a:r>
            <a:r>
              <a:rPr sz="1300">
                <a:solidFill>
                  <a:srgbClr val="AED6F1"/>
                </a:solidFill>
              </a:rPr>
              <a:t>[run_trend]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A6F1E"/>
                </a:solidFill>
              </a:rPr>
              <a:t>패턴/런 규칙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연속 N개 이상 단조 증가 또는 단조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monotone_count ≥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트렌드 길이 ≥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N (연속 건수, 기본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측정값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마모·열화 등 단방향 성능 저하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단방향으로 지속 증가 또는 감소하는 마모·열화 패턴을 감지합니다.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76448A"/>
                </a:solidFill>
              </a:rPr>
              <a:t>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SPC 복합 규칙  </a:t>
            </a:r>
            <a:r>
              <a:rPr sz="1300">
                <a:solidFill>
                  <a:srgbClr val="AED6F1"/>
                </a:solidFill>
              </a:rPr>
              <a:t>[spc_rules]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6448A"/>
                </a:solidFill>
              </a:rPr>
              <a:t>분포 기반(모수)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서양전기 Rule 2 (3중 2개 &gt;Nσ 동측) + Rule 4 (5중 4개 &gt;1σ 동측)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Rule2: 최근 3점 중 2점이 Nσ 초과(동측)
Rule4: 최근 5점 중 4점이 1σ 초과(동측)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Rule2 OR Rule4 충족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N (σ배수, 기본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그룹 평균 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체계적 편향 패턴 감지 (Western Electric)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서양전기 규칙 적용으로 시스템적 편향 패턴을 σ 기준으로 복합 감지합니다.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8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A8550"/>
                </a:solidFill>
              </a:rPr>
              <a:t>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IQR 박스플롯 이상치  </a:t>
            </a:r>
            <a:r>
              <a:rPr sz="1300">
                <a:solidFill>
                  <a:srgbClr val="AED6F1"/>
                </a:solidFill>
              </a:rPr>
              <a:t>[iqr]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A8550"/>
                </a:solidFill>
              </a:rPr>
              <a:t>분포 기반(비모수)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Q1−k·IQR 미만 또는 Q3+k·IQR 초과 극단값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Low = Q1 − k·IQR,  High = Q3 + k·IQR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x &lt; Low 또는 x &gt;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k (IQR 배수, 기본 1.5)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IQR 중심 (Q1+Q3)/2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비대칭 분포·비모수 이상치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분포의 사분위수 기반으로 분포 형태에 무관하게 극단 이상치를 제거합니다.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8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A8550"/>
                </a:solidFill>
              </a:rPr>
              <a:t>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Modified Z-score (MAD)  </a:t>
            </a:r>
            <a:r>
              <a:rPr sz="1300">
                <a:solidFill>
                  <a:srgbClr val="AED6F1"/>
                </a:solidFill>
              </a:rPr>
              <a:t>[mad]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A8550"/>
                </a:solidFill>
              </a:rPr>
              <a:t>분포 기반(비모수)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중앙값 기준 MAD로 표준화한 수정 Z-점수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MZ = 0.6745 × |x − median| / MAD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MZ &gt; 임계값 (기본 3.5)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 (기본 3.5)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중앙값 (median)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극단 이상치에 강건, 비정규 분포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중앙값·MAD 기반 수정 Z점수로 극단 이상치에도 강건한 비모수 이상 감지를 수행합니다.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B7950B"/>
                </a:solidFill>
              </a:rPr>
              <a:t>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Wafer-to-Wafer 편차 (WTW)  </a:t>
            </a:r>
            <a:r>
              <a:rPr sz="1300">
                <a:solidFill>
                  <a:srgbClr val="AED6F1"/>
                </a:solidFill>
              </a:rPr>
              <a:t>[wtw]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7950B"/>
                </a:solidFill>
              </a:rPr>
              <a:t>설비 간 균일성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SLOT별 평균이 전체 평균과 얼마나 차이나는지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|avg(SLOT_s) − avg(EQP+CH+PARAM 전체)|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 (기본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전체 (EQP+CH+PARAM) 평균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웨이퍼 내 SLOT 위치별 불균일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LOT 전반에 걸쳐 특정 SLOT 위치가 지속 편향되는 웨이퍼 내 불균일을 감지합니다.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B7950B"/>
                </a:solidFill>
              </a:rPr>
              <a:t>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Chamber Matching 편차  </a:t>
            </a:r>
            <a:r>
              <a:rPr sz="1300">
                <a:solidFill>
                  <a:srgbClr val="AED6F1"/>
                </a:solidFill>
              </a:rPr>
              <a:t>[ch_match]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7950B"/>
                </a:solidFill>
              </a:rPr>
              <a:t>설비 간 균일성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CH별 평균이 전체 CH 평균과 얼마나 다른지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|avg(CH_c) − avg(EQP+LOT+PARAM 전체)|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 (기본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전체 CH 평균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챔버 간 불균형(Chamber Matching)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챔버 간 평균 차이를 측정하여 Chamber Matching 불균형을 조기에 발견합니다.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8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A8550"/>
                </a:solidFill>
              </a:rPr>
              <a:t>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Lot-to-Lot 평균 이탈  </a:t>
            </a:r>
            <a:r>
              <a:rPr sz="1300">
                <a:solidFill>
                  <a:srgbClr val="AED6F1"/>
                </a:solidFill>
              </a:rPr>
              <a:t>[lot2lot]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A8550"/>
                </a:solidFill>
              </a:rPr>
              <a:t>시간 집계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현재 LOT 평균이 직전 LOT 평균과 얼마나 다른지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= |avg(LOT_i) − avg(LOT_{i−1})|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diff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직전 LOT 평균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배치 간 품질 변동, 원자재·레시피 변경 추적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LOT 순서 기준 직전 LOT 대비 현 LOT 평균 이탈로 배치 품질 변동을 감지합니다.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A9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A93A2E"/>
                </a:solidFill>
              </a:rPr>
              <a:t>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t-검정 계단 변화 감지  </a:t>
            </a:r>
            <a:r>
              <a:rPr sz="1300">
                <a:solidFill>
                  <a:srgbClr val="AED6F1"/>
                </a:solidFill>
              </a:rPr>
              <a:t>[t_step]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A93A2E"/>
                </a:solidFill>
              </a:rPr>
              <a:t>통계 검정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Welch t-검정: 윈도우 전·후반부 평균 차이 유의성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t = |μ_전 − μ_후| / √(s²_전/n + s²_후/n)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t-통계량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 (기본 2.0), 창 크기 (winSize)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전반 창 평균 μ_before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공정 이동(level shift), 단계적 평균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Welch t-검정으로 윈도우 전·후 평균이 통계적으로 유의하게 다른 level shift를 감지합니다.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A9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548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A93A2E"/>
                </a:solidFill>
              </a:rPr>
              <a:t>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"/>
            <a:ext cx="7315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F-검정 분산 급변 감지  </a:t>
            </a:r>
            <a:r>
              <a:rPr sz="1300">
                <a:solidFill>
                  <a:srgbClr val="AED6F1"/>
                </a:solidFill>
              </a:rPr>
              <a:t>[f_var]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A93A2E"/>
                </a:solidFill>
              </a:rPr>
              <a:t>통계 검정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749808"/>
          <a:ext cx="49377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</a:tblGrid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감지 원리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F-검정: 윈도우 전·후반부 분산 비율의 유의성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판정 공식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F = max(s²_전, s²_후) / min(s²_전, s²_후)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이상 조건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F-비율 &gt;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주요 파라미터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임계값 (기본 3.0), 창 크기 (winSize)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기준값 (prevVal)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전반 창 분산 s²_before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/>
                    <a:lstStyle/>
                    <a:p>
                      <a:pPr algn="ctr"/>
                      <a:r>
                        <a:rPr b="1" sz="900">
                          <a:solidFill>
                            <a:srgbClr val="1A5E76"/>
                          </a:solidFill>
                        </a:rPr>
                        <a:t>적합 상황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222222"/>
                          </a:solidFill>
                        </a:rPr>
                        <a:t>노이즈 급증·공정 불안정, 분산 구조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49808"/>
            <a:ext cx="69037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66360" y="5321808"/>
            <a:ext cx="6903720" cy="1444752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5376672"/>
            <a:ext cx="6720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6C1"/>
                </a:solidFill>
              </a:rPr>
              <a:t>▶ 감지 해석: </a:t>
            </a:r>
            <a:r>
              <a:rPr sz="900">
                <a:solidFill>
                  <a:srgbClr val="555555"/>
                </a:solidFill>
              </a:rPr>
              <a:t>F-비율 검정으로 윈도우 전·후 분산이 급격히 달라지는 노이즈 급변을 감지합니다.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