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OPTIMIZATION · EXECUTION TOOL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사용방법 안내 및 EWC·ESI 가중치 산정 근거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작성일: 2026. 8. 18.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가이드의 구성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사용방법 (Step-by-Step)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Baseline → ② EWC 환산 → ③ ESI 가중치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Chamber 분석·열화 포인트 탐지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잔여 PM Life → ⑥ ROI·민감도 분석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자동 레포트 → ⑧ PPT 다운로드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8개를 순서대로 입력하면 전체가 자동 연동 계산됩니다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691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A5A00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05472" y="16733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산정 근거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65392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EWC: Recipe Stress Factor 산정 근거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ESI: 9개 Feature 가중치 산정 근거 (Leading/Lagging)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Decision Rule 임계값(65/80/90) 근거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데이터로 가중치를 보정하는 방법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실행 흐름 (8 Step)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4708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8882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687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43687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3454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환산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726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87705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가중치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6918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FFF3E9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17236" y="2907792"/>
            <a:ext cx="402336" cy="402336"/>
          </a:xfrm>
          <a:prstGeom prst="ellipse">
            <a:avLst/>
          </a:prstGeom>
          <a:solidFill>
            <a:srgbClr val="F2711C"/>
          </a:solidFill>
          <a:ln/>
        </p:spPr>
      </p:sp>
      <p:sp>
        <p:nvSpPr>
          <p:cNvPr id="21" name="Text 19"/>
          <p:cNvSpPr/>
          <p:nvPr/>
        </p:nvSpPr>
        <p:spPr>
          <a:xfrm>
            <a:off x="531723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490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분석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6762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5741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75741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Life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0780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4954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759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19759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9526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ROI·민감도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4798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8972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3777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63777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23544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레포트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488168" y="3154680"/>
            <a:ext cx="141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629900" y="2743200"/>
            <a:ext cx="1298448" cy="1371600"/>
          </a:xfrm>
          <a:prstGeom prst="roundRect">
            <a:avLst>
              <a:gd name="adj" fmla="val 7042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77956" y="2907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11077956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675620" y="3401568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다운로드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탭의 입력값은 이후 모든 계산(ESI·열화 판정·PM Life·ROI·레포트·PPT)에 실시간으로 반영됩니다.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Chamber 분석 단계에서 열화 포인트(Orange/Red)와 이상 판정(Wafer 기준 오판 위험)이 자동 탐지됩니다.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설정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대상 장비군과 현재 PM 기준을 입력합니다. 모든 계산의 출발점입니다.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장비 수, Chamber PM 기준(Wafer)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PM 시간, Tool당 월 처리량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PM 빈도(회/Tool·월), Pilot 기간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즉시 월 PM 횟수·Downtime이 자동 집계</a:t>
            </a:r>
            <a:endParaRPr lang="en-US" sz="1200" dirty="0"/>
          </a:p>
        </p:txBody>
      </p:sp>
      <p:pic>
        <p:nvPicPr>
          <p:cNvPr id="6" name="Image 0" descr="/tmp/claude-0/-home-user-python101/dab98214-0a66-511b-92ff-178ad28b2d3b/scratchpad/guide_shots/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34440"/>
            <a:ext cx="6309360" cy="3943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6309360" cy="39433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환산 (Recipe Stress Factor)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Recipe별 실제 Wafer 수와 Stress 가중치를 곱해 Equivalent Wafer(EWC)로 환산합니다.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Recipe명 / Actual Wafer / Stress Factor 입력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= Wafer × Stress Factor 자동 계산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추가·삭제로 실제 Recipe 구성 반영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EWC/Wafer 환산 비율이 하단에 표시</a:t>
            </a:r>
            <a:endParaRPr lang="en-US" sz="1200" dirty="0"/>
          </a:p>
        </p:txBody>
      </p:sp>
      <p:pic>
        <p:nvPicPr>
          <p:cNvPr id="6" name="Image 0" descr="/tmp/claude-0/-home-user-python101/dab98214-0a66-511b-92ff-178ad28b2d3b/scratchpad/guide_shots/ew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34440"/>
            <a:ext cx="6309360" cy="3943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6309360" cy="39433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가중치 설정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누적 + FDC 8개 Feature의 가중치를 조정합니다. (근거는 Part 2에서 상세 설명)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합계 100% 검증 (자동 정규화 버튼 제공)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누적은 ④ 탭의 Chamber EWC로 자동 계산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8개는 FDC 정규화 점수(0~100) 기반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Decision Rule 임계값(Green/Yellow/Orange/Red)도 이 탭에서 조정</a:t>
            </a:r>
            <a:endParaRPr lang="en-US" sz="1200" dirty="0"/>
          </a:p>
        </p:txBody>
      </p:sp>
      <p:pic>
        <p:nvPicPr>
          <p:cNvPr id="6" name="Image 0" descr="/tmp/claude-0/-home-user-python101/dab98214-0a66-511b-92ff-178ad28b2d3b/scratchpad/guide_shots/e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34440"/>
            <a:ext cx="6309360" cy="3943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6309360" cy="39433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분석 · 열화 포인트 탐지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Chamber별 Wafer/EWC/FDC 점수를 입력하면 ESI·판정·근거가 자동 계산됩니다.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= Σ(정규화 Feature × 가중치) 자동 계산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뱃지(Green~Red) + 근거 Top3 요인 표시(설명가능성)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Orange/Red Chamber를 열화 포인트로 자동 요약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Wafer는 비슷한데 ESI가 크게 다른 Chamber 쌍 자동 탐지</a:t>
            </a:r>
            <a:endParaRPr lang="en-US" sz="1200" dirty="0"/>
          </a:p>
        </p:txBody>
      </p:sp>
      <p:pic>
        <p:nvPicPr>
          <p:cNvPr id="6" name="Image 0" descr="/tmp/claude-0/-home-user-python101/dab98214-0a66-511b-92ff-178ad28b2d3b/scratchpad/guide_shots/chamb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34440"/>
            <a:ext cx="6309360" cy="3943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6309360" cy="39433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PM Life 산정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"몇 Wafer/며칠 남았는가"로 현장 친화적으로 잔여 수명을 계산합니다.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임계 EWC + Cycle 연장률(%) 입력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일평균 EWC 소모량은 자동 제안, 직접 수정 가능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EWC, 잔여일수, 판정을 Chamber별로 표시</a:t>
            </a:r>
            <a:endParaRPr lang="en-US" sz="1200" dirty="0"/>
          </a:p>
        </p:txBody>
      </p:sp>
      <p:pic>
        <p:nvPicPr>
          <p:cNvPr id="6" name="Image 0" descr="/tmp/claude-0/-home-user-python101/dab98214-0a66-511b-92ff-178ad28b2d3b/scratchpad/guide_shots/li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34440"/>
            <a:ext cx="6309360" cy="3943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6309360" cy="39433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· 민감도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Cycle 연장에 따른 직접비 절감과 Capacity Gain을 계산합니다.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PM당 직접비 / 시간당 처리량 / Wafer당 기여이익 입력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대비 개선 효과(PM 횟수·Downtime·비용) 자동 산출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연장률별(예: +5/10/15/20%) 민감도 표 자동 생성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연장률 목록은 콤마로 자유롭게 수정 가능</a:t>
            </a:r>
            <a:endParaRPr lang="en-US" sz="1200" dirty="0"/>
          </a:p>
        </p:txBody>
      </p:sp>
      <p:pic>
        <p:nvPicPr>
          <p:cNvPr id="6" name="Image 0" descr="/tmp/claude-0/-home-user-python101/dab98214-0a66-511b-92ff-178ad28b2d3b/scratchpad/guide_shots/ro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34440"/>
            <a:ext cx="6309360" cy="3943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234440"/>
            <a:ext cx="6309360" cy="39433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· STEP ⑦⑧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레포트 생성 &amp; PPT 다운로드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자동 레포트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입력·계산 결과를 텍스트 레포트로 자동 정리합니다. 직접 수정 후 클립보드로 복사할 수 있습니다.</a:t>
            </a:r>
            <a:endParaRPr lang="en-US" sz="1150" dirty="0"/>
          </a:p>
        </p:txBody>
      </p:sp>
      <p:pic>
        <p:nvPicPr>
          <p:cNvPr id="6" name="Image 0" descr="/tmp/claude-0/-home-user-python101/dab98214-0a66-511b-92ff-178ad28b2d3b/scratchpad/guide_shots/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94560"/>
            <a:ext cx="5394960" cy="33718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194560"/>
            <a:ext cx="5394960" cy="33718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PPT 다운로드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3640" y="15361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화면의 계산 결과를 9장짜리 실행 보고용 .pptx로 즉시 생성합니다. 서버 전송 없이 브라우저 내에서 파일이 만들어집니다.</a:t>
            </a:r>
            <a:endParaRPr lang="en-US" sz="1150" dirty="0"/>
          </a:p>
        </p:txBody>
      </p:sp>
      <p:pic>
        <p:nvPicPr>
          <p:cNvPr id="10" name="Image 1" descr="/tmp/claude-0/-home-user-python101/dab98214-0a66-511b-92ff-178ad28b2d3b/scratchpad/guide_shots/ex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194560"/>
            <a:ext cx="5394960" cy="3371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2194560"/>
            <a:ext cx="5394960" cy="3371850"/>
          </a:xfrm>
          <a:prstGeom prst="round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계산 근거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Stress Factor · ESI Feature 가중치 · PM Decision Rule 임계값 · 커스터마이징 가이드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RATIONALE · EWC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EWC 가중치(Recipe Stress Factor) 산정 근거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 = Wafer × Recipe Stress Factor. 동일 Wafer 수라도 공정 특성에 따라 Chamber에 주는 실제 부담(마모/증착물 축적)이 다르므로, Recipe별로 가중치를 달리 부여합니다.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7406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산정 근거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Low-k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저온·저압 공정으로 Chamber 열화학적 부담이 상대적으로 낮음 → 기준(1.0) 대비 완화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Standard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기준(Baseline) Recipe. 모든 Stress Factor는 이 값을 기준으로 상대 비교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High Temp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고온 공정은 열화학적 반응 속도를 높여 내벽·부품 마모를 가속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High Depo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증착량이 가장 많아 Chamber 내벽 증착물 축적 속도가 가장 빠름 → 최고 가중치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실제 적용 시 Chamber Part 교체 이력·PM 로그와 Back-test하여 Recipe별 Factor를 보정하는 것을 권장합니다.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RATIONALE · ESI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ESI Feature 가중치 산정 근거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= Σ(정규화 Feature × 가중치). 마모를 먼저 예고하는 선행지표(Leading)에 높은 가중치를, 이미 발생한 결과를 보여주는 후행지표(Lagging)에 낮은 가중치를 부여했습니다.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37160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산정 근거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EWC 누적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누적 처리량 자체가 마모와 가장 직접적으로 상관 → 최고 가중치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On-Time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인가 시간이 길수록 전극·내벽 마모 가속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Power 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변동은 Matching Network/전극 열화의 조기 신호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누적 Gas(Precursor) 노출량은 내부 증착막 두께와 상관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Stability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온도 불안정은 Heater/Susceptor 열화의 조기 신호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Pressure/APC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제어 이상은 진공계통·Valve 마모의 조기 신호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전류 상승은 기계적 마모가 상당히 진행된 뒤 나타나는 후행 지표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 Trend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 증가는 결과로 나타나는 지표라 확인·보정용으로 활용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Alarm은 이미 발생한 이벤트 기록 → 선행성이 가장 낮아 최저 가중치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 100% ✓  ·  가중치는 시뮬레이터 ③ ESI 가중치 탭에서 자유롭게 조정 가능 (합계 100% 자동 검증)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RATIONALE · THRESHOLD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PM Decision Rule 임계값 근거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0EA96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&lt; 65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연장 가능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마모 범위. 기존 PM보다 +10~20% 연장 여력 존재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16352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0A8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16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651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≤ ESI &lt; 80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Window 진입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651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마모 진행 중. 생산계획을 고려해 PM 일정을 사전 예약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05072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F2711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05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840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≤ ESI &lt; 90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84048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권장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3840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고위험 구간 진입. 7일 이내 PM 또는 정밀 검증 필요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0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93792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937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50292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≥ 90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50292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Mandatory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5029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품질/Failure Risk 임박. 우선순위 최상위로 즉시 PM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임계값(65/80/90)은 초기 Rule-based 가정치입니다. 복잡한 AI 모델보다 투명한 Rule + Shadow Test로 시작하여, 실제 PM/Failure 이력으로 단계적으로 보정하는 것을 권장합니다.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RATIONALE · CUSTOMIZATION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현장 데이터로 가중치를 보정하는 방법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Stress Factor 보정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6개월 PM 이력·Part 교체 기록과 EWC를 Back-test하여 Recipe별 Factor를 현장 값으로 조정합니다.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167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가중치 보정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16712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Leading/Lagging 구분을 출발점으로 삼되, 실제 Failure가 발생한 Chamber들의 ESI Top3 요인 분포를 확인하며 가중치를 미세 조정합니다.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0837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 100% 유지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00837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변경 후 ③ 탭의 "100%로 자동 정규화" 버튼으로 합계를 항상 100%로 맞춥니다.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기록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84962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가중치·Threshold 변경 이력을 별도로 기록해 언제, 왜 바뀌었는지 추적합니다 (Governance 원칙).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6908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 재확인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46908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후에는 반드시 ④ 열화 포인트와 ⑥ 민감도 탭에서 판정·ROI가 어떻게 달라지는지 재확인합니다.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PM 정합성 고도화 시뮬레이터 · 사용 가이드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~ ⑥ 탭을 순서대로 입력했는가 (Baseline → EWC → ESI → Chamber → PM Life → ROI)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가중치 합계가 100%인가 (③ 탭 자동 정규화 확인)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열화 포인트(Orange/Red)와 이상 판정 Chamber를 확인했는가 (④ 탭)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가중치·임계값을 현장 PM/Failure 이력으로 보정했는가 (Part 2 참고)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레포트로 결과를 정리하고 ⑧ PPT로 보고 자료를 생성했는가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가이드와 시뮬레이터는 가정 데이터 기반 도구입니다. 실제 현장 적용 전 데이터 검증이 필요합니다.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2026-08-18T05:00:03Z</dcterms:created>
  <dcterms:modified xsi:type="dcterms:W3CDTF">2026-08-18T05:00:03Z</dcterms:modified>
</cp:coreProperties>
</file>